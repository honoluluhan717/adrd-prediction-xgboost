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81" autoAdjust="0"/>
  </p:normalViewPr>
  <p:slideViewPr>
    <p:cSldViewPr snapToGrid="0" snapToObjects="1">
      <p:cViewPr varScale="1">
        <p:scale>
          <a:sx n="97" d="100"/>
          <a:sy n="97" d="100"/>
        </p:scale>
        <p:origin x="28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6441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Title slide. Two questions - </a:t>
            </a:r>
            <a:r>
              <a:rPr dirty="0" err="1"/>
              <a:t>Q1</a:t>
            </a:r>
            <a:r>
              <a:rPr dirty="0"/>
              <a:t> study design thinking, </a:t>
            </a:r>
            <a:r>
              <a:rPr dirty="0" err="1"/>
              <a:t>Q2</a:t>
            </a:r>
            <a:r>
              <a:rPr dirty="0"/>
              <a:t> hands-on ML. ~30 seconds.</a:t>
            </a:r>
          </a:p>
          <a:p>
            <a:r>
              <a:rPr dirty="0"/>
              <a:t>Mention code on GitHub for </a:t>
            </a:r>
            <a:r>
              <a:rPr dirty="0" err="1"/>
              <a:t>Q2</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b="1" dirty="0"/>
              <a:t>What is a GED?</a:t>
            </a:r>
            <a:r>
              <a:rPr lang="en-US" dirty="0"/>
              <a:t> Geriatric Emergency Departments are specialized </a:t>
            </a:r>
            <a:r>
              <a:rPr lang="en-US" dirty="0" err="1"/>
              <a:t>EDs</a:t>
            </a:r>
            <a:r>
              <a:rPr lang="en-US" dirty="0"/>
              <a:t> for adults 65+, accredited by ACEP since 2018. There are now 500+ nationwide across three levels — Bronze, Silver, and Gold — each with requirements for staffing, protocols, and quality metrics.</a:t>
            </a:r>
          </a:p>
          <a:p>
            <a:endParaRPr lang="en-US" dirty="0"/>
          </a:p>
          <a:p>
            <a:r>
              <a:rPr lang="en-US" b="1" dirty="0"/>
              <a:t>Where they exist — and where they don't.</a:t>
            </a:r>
            <a:r>
              <a:rPr lang="en-US" dirty="0"/>
              <a:t> GEDs cluster in urban academic centers, especially in the Northeast. Rural areas are largely left out, and most growth has been at the Bronze level — the lowest bar. So 500 sounds like a lot, but it's still a small slice of 5,000 US </a:t>
            </a:r>
            <a:r>
              <a:rPr lang="en-US" dirty="0" err="1"/>
              <a:t>EDs.</a:t>
            </a:r>
            <a:endParaRPr lang="en-US" dirty="0"/>
          </a:p>
          <a:p>
            <a:endParaRPr lang="en-US" dirty="0"/>
          </a:p>
          <a:p>
            <a:r>
              <a:rPr lang="en-US" b="1" dirty="0"/>
              <a:t>What the evidence shows — and where the gap is.</a:t>
            </a:r>
            <a:r>
              <a:rPr lang="en-US" dirty="0"/>
              <a:t> GEDs are associated with lower admission rates and reduced 30-day mortality. But those benefits show up mainly in non-Hispanic White patients — not consistently in minority or rural populations. The mechanism is unclear, and who truly benefits remains an open question. That's the gap this research addresses.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b="1" dirty="0"/>
              <a:t>Why power calculation comes first.</a:t>
            </a:r>
            <a:r>
              <a:rPr lang="en-US" dirty="0"/>
              <a:t> We do the power calculation before buying any data to make sure we purchase enough data. The key insight is that power is driven by the number of GED hospitals, not total encounter count. More patients at the same hospitals doesn't help. We need more hospitals.</a:t>
            </a:r>
          </a:p>
          <a:p>
            <a:endParaRPr lang="en-US" dirty="0"/>
          </a:p>
          <a:p>
            <a:r>
              <a:rPr lang="en-US" b="1" dirty="0"/>
              <a:t>The five-step process.</a:t>
            </a:r>
            <a:r>
              <a:rPr lang="en-US" dirty="0"/>
              <a:t> We start with parameters from the literature — baseline rates, expected effect size, alpha 0.05, and an 80 to 90% power target. We count GED hospitals per state using the ACEP registry and drop any state with fewer than 10. The step we won't skip is the clustering correction — raw encounter counts overestimate true sample size because patients within the same hospital are more similar to each other than across hospitals. We correct for this using the Design Effect and an ICC estimated at 0.02 to 0.05. We then run </a:t>
            </a:r>
            <a:r>
              <a:rPr lang="en-US" dirty="0" err="1"/>
              <a:t>clusterPower</a:t>
            </a:r>
            <a:r>
              <a:rPr lang="en-US" dirty="0"/>
              <a:t> in R and test sensitivity across 0.02 to 0.07 to confirm the estimate is robust.</a:t>
            </a:r>
          </a:p>
          <a:p>
            <a:endParaRPr lang="en-US" dirty="0"/>
          </a:p>
          <a:p>
            <a:r>
              <a:rPr lang="en-US" b="1" dirty="0"/>
              <a:t>How we selected states.</a:t>
            </a:r>
            <a:r>
              <a:rPr lang="en-US" dirty="0"/>
              <a:t> We prioritize states with high GED density — New York, New Jersey, Massachusetts, California — for hospital counts, diversity, and subgroup sample sizes. We also include a rural state like Kentucky or West Virginia specifically because the GED literature is almost entirely urban, and we want to address that gap directly.</a:t>
            </a:r>
          </a:p>
          <a:p>
            <a:endParaRPr lang="en-US" dirty="0"/>
          </a:p>
          <a:p>
            <a:r>
              <a:rPr lang="en-US" b="1" dirty="0"/>
              <a:t>Why 2016 to 2024.</a:t>
            </a:r>
            <a:r>
              <a:rPr lang="en-US" dirty="0"/>
              <a:t> Depend on the study design. If budget allows, I would use 2016 to 2024 to get three clean years before ACEP accreditation launched and three years after. That pre-period is what lets us establish the parallel trends assumption — showing that GED and non-GED hospitals were moving together before accreditation, which is the foundation of a credible difference-in-differences design. It's not just a before-and-after comparison. It's a before-and-after with a control group, and that's what gives us a causal argument.</a:t>
            </a:r>
          </a:p>
          <a:p>
            <a:endParaRPr lang="en-US" dirty="0"/>
          </a:p>
          <a:p>
            <a:r>
              <a:rPr lang="en-US" b="1" dirty="0"/>
              <a:t>Data availability is our first filter.</a:t>
            </a:r>
            <a:r>
              <a:rPr lang="en-US" dirty="0"/>
              <a:t> Both </a:t>
            </a:r>
            <a:r>
              <a:rPr lang="en-US" dirty="0" err="1"/>
              <a:t>SEDD</a:t>
            </a:r>
            <a:r>
              <a:rPr lang="en-US" dirty="0"/>
              <a:t> and SID must be available for every state we consider. Without SID we lose every admitted patient and can't calculate readmission rates. That's non-negotiable, and it narrows our options before anything else.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effectLst/>
                <a:latin typeface="Arial" panose="020B0604020202020204" pitchFamily="34" charset="0"/>
                <a:cs typeface="Arial" panose="020B0604020202020204" pitchFamily="34" charset="0"/>
              </a:rPr>
              <a:t>GED status doesn't exist in HCUP — we build it ourselves. We take the ACEP GEDA registry, link it to the AHA Annual Survey via CMS provider number, then match into HCUP. Where exact matches aren't available we use probabilistic name and address matching with manual review.</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The key output is the time-varying flag — GED=0 before accreditation, GED=1 after. That's what creates the pre/post structure for difference-in-differences. Without it we can't make a causal argument.</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We validate by confirming matched hospitals look right — urban, academic, high geriatric volume — and run sensitivity analyses separating Bronze from Silver and Gold, and excluding mid-study converters.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latin typeface="Arial" panose="020B0604020202020204" pitchFamily="34" charset="0"/>
                <a:cs typeface="Arial" panose="020B0604020202020204" pitchFamily="34" charset="0"/>
              </a:rPr>
              <a:t>I would organize outcomes into three tiers — primary, secondary, and exploratory — because reviewers will ask what we're powering for and what's hypothesis-generating.</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Our primary outcomes are 30-day readmission, in-hospital mortality, and ED-to-inpatient admission. Readmission requires SID linkage — that's exactly why SID is non-negotiable. We track the same patient from their index ED visit to any inpatient admission within 30 days using </a:t>
            </a:r>
            <a:r>
              <a:rPr lang="en-US" i="0" dirty="0" err="1">
                <a:latin typeface="Arial" panose="020B0604020202020204" pitchFamily="34" charset="0"/>
                <a:cs typeface="Arial" panose="020B0604020202020204" pitchFamily="34" charset="0"/>
              </a:rPr>
              <a:t>VisitLink</a:t>
            </a:r>
            <a:r>
              <a:rPr lang="en-US" i="0" dirty="0">
                <a:latin typeface="Arial" panose="020B0604020202020204" pitchFamily="34" charset="0"/>
                <a:cs typeface="Arial" panose="020B0604020202020204" pitchFamily="34" charset="0"/>
              </a:rPr>
              <a:t>. Mortality and admission come straight from discharge status fields in </a:t>
            </a:r>
            <a:r>
              <a:rPr lang="en-US" i="0" dirty="0" err="1">
                <a:latin typeface="Arial" panose="020B0604020202020204" pitchFamily="34" charset="0"/>
                <a:cs typeface="Arial" panose="020B0604020202020204" pitchFamily="34" charset="0"/>
              </a:rPr>
              <a:t>SEDD</a:t>
            </a:r>
            <a:r>
              <a:rPr lang="en-US" i="0" dirty="0">
                <a:latin typeface="Arial" panose="020B0604020202020204" pitchFamily="34" charset="0"/>
                <a:cs typeface="Arial" panose="020B0604020202020204" pitchFamily="34" charset="0"/>
              </a:rPr>
              <a:t> and SID.</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Secondary outcomes include 72-hour ED revisit, dementia recognition via ICD-10 codes, and disposition safety — where the patient goes after the ED. Dementia recognition is particularly important because it directly connects to the EDDA model in Question 2.</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The exploratory tier is where equity lives. We stratify all primary outcomes by race, insurance type, and urban versus rural. This is motivated directly by the Hwang lab finding that GED benefits have so far only been demonstrated in White patients — we want to know whether accreditation is widening or narrowing that gap.</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latin typeface="Arial" panose="020B0604020202020204" pitchFamily="34" charset="0"/>
                <a:cs typeface="Arial" panose="020B0604020202020204" pitchFamily="34" charset="0"/>
              </a:rPr>
              <a:t>Let me be upfront about the red flags before anyone asks.</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The biggest one — HCUP only sees coded dementia. No labs, no cognitive scores, no clinical confirmation. We know dementia gets missed and </a:t>
            </a:r>
            <a:r>
              <a:rPr lang="en-US" i="0" dirty="0" err="1">
                <a:latin typeface="Arial" panose="020B0604020202020204" pitchFamily="34" charset="0"/>
                <a:cs typeface="Arial" panose="020B0604020202020204" pitchFamily="34" charset="0"/>
              </a:rPr>
              <a:t>undercoded</a:t>
            </a:r>
            <a:r>
              <a:rPr lang="en-US" i="0" dirty="0">
                <a:latin typeface="Arial" panose="020B0604020202020204" pitchFamily="34" charset="0"/>
                <a:cs typeface="Arial" panose="020B0604020202020204" pitchFamily="34" charset="0"/>
              </a:rPr>
              <a:t> in the ED all the time, and that's exactly the gap EDDA is built to fill.</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Cross-state linkage doesn't exist. </a:t>
            </a:r>
            <a:r>
              <a:rPr lang="en-US" i="0" dirty="0" err="1">
                <a:latin typeface="Arial" panose="020B0604020202020204" pitchFamily="34" charset="0"/>
                <a:cs typeface="Arial" panose="020B0604020202020204" pitchFamily="34" charset="0"/>
              </a:rPr>
              <a:t>VisitLink</a:t>
            </a:r>
            <a:r>
              <a:rPr lang="en-US" i="0" dirty="0">
                <a:latin typeface="Arial" panose="020B0604020202020204" pitchFamily="34" charset="0"/>
                <a:cs typeface="Arial" panose="020B0604020202020204" pitchFamily="34" charset="0"/>
              </a:rPr>
              <a:t> works within a state only, so any patient who crosses state lines disappears from our data.</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Not every state participates in HCUP, which means our state selection isn't free — it's constrained by what's actually submitted.</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The ICD-9 to ICD-10 transition in October 2015 is a real issue. Dementia codes changed substantially, so anything before 2016 needs a careful crosswalk or we're not comparing the same thing across time.</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And finally — GED self-selection bias. Hospitals that pursue accreditation were already higher-performing to begin with. Difference-in-differences helps with this but doesn't fully resolve it. That's an honest limitation and reviewers will push on it.</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The good news — most of these are known, manageable, and the design choices we've already made directly address them.“</a:t>
            </a:r>
          </a:p>
          <a:p>
            <a:endParaRPr lang="en-US" i="0" dirty="0">
              <a:latin typeface="Arial" panose="020B0604020202020204" pitchFamily="34" charset="0"/>
              <a:cs typeface="Arial" panose="020B0604020202020204" pitchFamily="34" charset="0"/>
            </a:endParaRP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COVID: </a:t>
            </a:r>
          </a:p>
          <a:p>
            <a:endParaRPr lang="en-US" i="0" dirty="0">
              <a:latin typeface="Arial" panose="020B0604020202020204" pitchFamily="34" charset="0"/>
              <a:cs typeface="Arial" panose="020B0604020202020204" pitchFamily="34" charset="0"/>
            </a:endParaRPr>
          </a:p>
          <a:p>
            <a:r>
              <a:rPr lang="en-US" b="1" dirty="0"/>
              <a:t>Event study plot</a:t>
            </a:r>
            <a:r>
              <a:rPr lang="en-US" dirty="0"/>
              <a:t> — COVID shows up as a visible spike in 2020–2021 rather than contaminating the whole estimate. </a:t>
            </a:r>
          </a:p>
          <a:p>
            <a:endParaRPr lang="en-US" b="1" dirty="0"/>
          </a:p>
          <a:p>
            <a:r>
              <a:rPr lang="en-US" b="1" dirty="0"/>
              <a:t>Sensitivity analysis</a:t>
            </a:r>
            <a:r>
              <a:rPr lang="en-US" dirty="0"/>
              <a:t> — rerun excluding 2020–2021 and check if results hold.</a:t>
            </a:r>
            <a:endParaRPr lang="en-US"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I want to be upfront — this is a replication study, not a validation study. The distinction is simple: validation requires the original trained model, and I don't have it. What I have is the published methodology and real EHR-structured data. So what I'm doing is rebuilding the pipeline from scratch — same features, same architecture, same evaluation — and showing I can reproduce results consistent with what was published. </a:t>
            </a:r>
          </a:p>
          <a:p>
            <a:endParaRPr lang="en-US" dirty="0"/>
          </a:p>
          <a:p>
            <a:r>
              <a:rPr lang="en-US" dirty="0"/>
              <a:t>Code in on </a:t>
            </a:r>
            <a:r>
              <a:rPr lang="en-US" dirty="0" err="1"/>
              <a:t>Github</a:t>
            </a:r>
            <a:r>
              <a:rPr lang="en-US" dirty="0"/>
              <a:t>. </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Step 1 - ~2 min</a:t>
            </a:r>
          </a:p>
          <a:p>
            <a:endParaRPr dirty="0"/>
          </a:p>
          <a:p>
            <a:r>
              <a:rPr dirty="0"/>
              <a:t>Dataset: </a:t>
            </a:r>
            <a:r>
              <a:rPr dirty="0" err="1"/>
              <a:t>100K</a:t>
            </a:r>
            <a:r>
              <a:rPr dirty="0"/>
              <a:t> visits, 26 features, 21.6% dementia prevalence</a:t>
            </a:r>
          </a:p>
          <a:p>
            <a:endParaRPr dirty="0"/>
          </a:p>
          <a:p>
            <a:r>
              <a:rPr dirty="0"/>
              <a:t>Four issues fixed in code:</a:t>
            </a:r>
          </a:p>
          <a:p>
            <a:r>
              <a:rPr dirty="0"/>
              <a:t>1. age </a:t>
            </a:r>
            <a:r>
              <a:rPr dirty="0" err="1"/>
              <a:t>dtype</a:t>
            </a:r>
            <a:r>
              <a:rPr dirty="0"/>
              <a:t> - </a:t>
            </a:r>
            <a:r>
              <a:rPr dirty="0" err="1"/>
              <a:t>pd.to_numeric</a:t>
            </a:r>
            <a:endParaRPr dirty="0"/>
          </a:p>
          <a:p>
            <a:r>
              <a:rPr dirty="0"/>
              <a:t>2. </a:t>
            </a:r>
            <a:r>
              <a:rPr dirty="0" err="1"/>
              <a:t>AUTONOMICDRUGS</a:t>
            </a:r>
            <a:r>
              <a:rPr dirty="0"/>
              <a:t> mixed strings</a:t>
            </a:r>
          </a:p>
          <a:p>
            <a:r>
              <a:rPr dirty="0"/>
              <a:t>3. Capitalization standardized</a:t>
            </a:r>
          </a:p>
          <a:p>
            <a:r>
              <a:rPr dirty="0"/>
              <a:t>4. Lab missingness handled in pipeline (not dropped)</a:t>
            </a:r>
          </a:p>
          <a:p>
            <a:endParaRPr dirty="0"/>
          </a:p>
          <a:p>
            <a:r>
              <a:rPr dirty="0"/>
              <a:t>Design decision: cross-sectional valid because lookback features already encode temporal history</a:t>
            </a:r>
          </a:p>
          <a:p>
            <a:endParaRPr dirty="0"/>
          </a:p>
          <a:p>
            <a:r>
              <a:rPr dirty="0"/>
              <a:t>Key line: 'I chose not to drop rows with missing lab values - that would lose 30% of the data. Missingness is handled inside the </a:t>
            </a:r>
            <a:r>
              <a:rPr dirty="0" err="1"/>
              <a:t>sklearn</a:t>
            </a:r>
            <a:r>
              <a:rPr dirty="0"/>
              <a:t> pipeline so imputation is learned from training data only, not test data.’</a:t>
            </a:r>
            <a:endParaRPr lang="en-US" dirty="0"/>
          </a:p>
          <a:p>
            <a:endParaRPr lang="en-US" dirty="0"/>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effectLst/>
                <a:latin typeface="Arial" panose="020B0604020202020204" pitchFamily="34" charset="0"/>
                <a:cs typeface="Arial" panose="020B0604020202020204" pitchFamily="34" charset="0"/>
              </a:rPr>
              <a:t>Table </a:t>
            </a:r>
            <a:r>
              <a:rPr lang="en-US" i="0" dirty="0" err="1">
                <a:effectLst/>
                <a:latin typeface="Arial" panose="020B0604020202020204" pitchFamily="34" charset="0"/>
                <a:cs typeface="Arial" panose="020B0604020202020204" pitchFamily="34" charset="0"/>
              </a:rPr>
              <a:t>1A</a:t>
            </a:r>
            <a:r>
              <a:rPr lang="en-US" i="0" dirty="0">
                <a:effectLst/>
                <a:latin typeface="Arial" panose="020B0604020202020204" pitchFamily="34" charset="0"/>
                <a:cs typeface="Arial" panose="020B0604020202020204" pitchFamily="34" charset="0"/>
              </a:rPr>
              <a:t> shows the dementia group is older, sicker, more medicated, with higher rates of Parkinson's and falls — all clinically expected. Female sex and Medicare are not significant at 0.301 and 0.992, which might reflect real-world epidemiology.</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Table </a:t>
            </a:r>
            <a:r>
              <a:rPr lang="en-US" i="0" dirty="0" err="1">
                <a:effectLst/>
                <a:latin typeface="Arial" panose="020B0604020202020204" pitchFamily="34" charset="0"/>
                <a:cs typeface="Arial" panose="020B0604020202020204" pitchFamily="34" charset="0"/>
              </a:rPr>
              <a:t>1B</a:t>
            </a:r>
            <a:r>
              <a:rPr lang="en-US" i="0" dirty="0">
                <a:effectLst/>
                <a:latin typeface="Arial" panose="020B0604020202020204" pitchFamily="34" charset="0"/>
                <a:cs typeface="Arial" panose="020B0604020202020204" pitchFamily="34" charset="0"/>
              </a:rPr>
              <a:t> is the internal validity check. Train and test are nearly identical on every characteristic including dementia prevalence — 21.7% versus 21.5%. The split is balanced without forced stratification, which means the model trains and evaluates on the same population.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latin typeface="Arial" panose="020B0604020202020204" pitchFamily="34" charset="0"/>
                <a:cs typeface="Arial" panose="020B0604020202020204" pitchFamily="34" charset="0"/>
              </a:rPr>
              <a:t>Three things I want to highlight on this slide.</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First, the patient-level split. I split on patient ID, not rows. If I split by row, the same patient's multiple visits end up in both train and test — the model has already seen that patient and performance looks artificially good. Splitting by patient ID keeps every patient entirely in one set.</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Second, class imbalance. The data is 78% no-dementia, 22% dementia. A naive model just predicts everyone negative and gets 78% accuracy while catching almost no real cases. I correct for this using </a:t>
            </a:r>
            <a:r>
              <a:rPr lang="en-US" i="0" dirty="0" err="1">
                <a:latin typeface="Arial" panose="020B0604020202020204" pitchFamily="34" charset="0"/>
                <a:cs typeface="Arial" panose="020B0604020202020204" pitchFamily="34" charset="0"/>
              </a:rPr>
              <a:t>scale_pos_weight</a:t>
            </a:r>
            <a:r>
              <a:rPr lang="en-US" i="0" dirty="0">
                <a:latin typeface="Arial" panose="020B0604020202020204" pitchFamily="34" charset="0"/>
                <a:cs typeface="Arial" panose="020B0604020202020204" pitchFamily="34" charset="0"/>
              </a:rPr>
              <a:t> of 3.61 — each dementia case is weighted 3.61 times more during training, forcing the model to take minority class errors seriously.</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Third, the pipeline. Imputation is fit on training data only and applied to test. This is the leakage protection. The </a:t>
            </a:r>
            <a:r>
              <a:rPr lang="en-US" i="0" dirty="0" err="1">
                <a:latin typeface="Arial" panose="020B0604020202020204" pitchFamily="34" charset="0"/>
                <a:cs typeface="Arial" panose="020B0604020202020204" pitchFamily="34" charset="0"/>
              </a:rPr>
              <a:t>ColumnTransformer</a:t>
            </a:r>
            <a:r>
              <a:rPr lang="en-US" i="0" dirty="0">
                <a:latin typeface="Arial" panose="020B0604020202020204" pitchFamily="34" charset="0"/>
                <a:cs typeface="Arial" panose="020B0604020202020204" pitchFamily="34" charset="0"/>
              </a:rPr>
              <a:t> handles numeric and categorical features separately — median imputation for labs, mode imputation plus one-hot encoding for </a:t>
            </a:r>
            <a:r>
              <a:rPr lang="en-US" i="0" dirty="0" err="1">
                <a:latin typeface="Arial" panose="020B0604020202020204" pitchFamily="34" charset="0"/>
                <a:cs typeface="Arial" panose="020B0604020202020204" pitchFamily="34" charset="0"/>
              </a:rPr>
              <a:t>categoricals</a:t>
            </a:r>
            <a:r>
              <a:rPr lang="en-US" i="0" dirty="0">
                <a:latin typeface="Arial" panose="020B0604020202020204" pitchFamily="34" charset="0"/>
                <a:cs typeface="Arial" panose="020B0604020202020204" pitchFamily="34" charset="0"/>
              </a:rPr>
              <a:t> — then combines everything into one matrix for </a:t>
            </a:r>
            <a:r>
              <a:rPr lang="en-US" i="0" dirty="0" err="1">
                <a:latin typeface="Arial" panose="020B0604020202020204" pitchFamily="34" charset="0"/>
                <a:cs typeface="Arial" panose="020B0604020202020204" pitchFamily="34" charset="0"/>
              </a:rPr>
              <a:t>XGBoost</a:t>
            </a:r>
            <a:r>
              <a:rPr lang="en-US" i="0" dirty="0">
                <a:latin typeface="Arial" panose="020B0604020202020204" pitchFamily="34" charset="0"/>
                <a:cs typeface="Arial" panose="020B0604020202020204" pitchFamily="34" charset="0"/>
              </a:rPr>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effectLst/>
                <a:latin typeface="Arial" panose="020B0604020202020204" pitchFamily="34" charset="0"/>
                <a:cs typeface="Arial" panose="020B0604020202020204" pitchFamily="34" charset="0"/>
              </a:rPr>
              <a:t>This is the comparison to Cohen et al. 2025 — and I want to be honest about what the numbers mean.</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AUC-ROC of 0.696 versus 0.85 in the paper. AUC-ROC measures how well the model ranks dementia above non-dementia cases — 1.0 is perfect, 0.5 is random. The gap is expected: I have </a:t>
            </a:r>
            <a:r>
              <a:rPr lang="en-US" i="0" dirty="0" err="1">
                <a:effectLst/>
                <a:latin typeface="Arial" panose="020B0604020202020204" pitchFamily="34" charset="0"/>
                <a:cs typeface="Arial" panose="020B0604020202020204" pitchFamily="34" charset="0"/>
              </a:rPr>
              <a:t>100K</a:t>
            </a:r>
            <a:r>
              <a:rPr lang="en-US" i="0" dirty="0">
                <a:effectLst/>
                <a:latin typeface="Arial" panose="020B0604020202020204" pitchFamily="34" charset="0"/>
                <a:cs typeface="Arial" panose="020B0604020202020204" pitchFamily="34" charset="0"/>
              </a:rPr>
              <a:t> simulated visits versus </a:t>
            </a:r>
            <a:r>
              <a:rPr lang="en-US" i="0" dirty="0" err="1">
                <a:effectLst/>
                <a:latin typeface="Arial" panose="020B0604020202020204" pitchFamily="34" charset="0"/>
                <a:cs typeface="Arial" panose="020B0604020202020204" pitchFamily="34" charset="0"/>
              </a:rPr>
              <a:t>760K</a:t>
            </a:r>
            <a:r>
              <a:rPr lang="en-US" i="0" dirty="0">
                <a:effectLst/>
                <a:latin typeface="Arial" panose="020B0604020202020204" pitchFamily="34" charset="0"/>
                <a:cs typeface="Arial" panose="020B0604020202020204" pitchFamily="34" charset="0"/>
              </a:rPr>
              <a:t> real EHR encounters. Simulated data doesn't replicate the messy clinical signal patterns that drive real model performance.</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AUC-PR of 0.403 versus 0.68 — same story but stricter, focused only on the minority dementia class. More informative than AUC-ROC when classes are imbalanced.</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Sensitivity and specificity are threshold-dependent. At 0.5 I get sensitivity 0.62, specificity 0.66 — balanced. At 0.1 I catch everything but PPV drops to 0.21, meaning 4 in 5 flagged patients don't actually have dementia. The paper's sensitivity of 0.57 is at threshold 0.1 — comparable to mine once you account for that difference.</a:t>
            </a: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The key methodological gap is class handling. I used </a:t>
            </a:r>
            <a:r>
              <a:rPr lang="en-US" i="0" dirty="0" err="1">
                <a:effectLst/>
                <a:latin typeface="Arial" panose="020B0604020202020204" pitchFamily="34" charset="0"/>
                <a:cs typeface="Arial" panose="020B0604020202020204" pitchFamily="34" charset="0"/>
              </a:rPr>
              <a:t>scale_pos_weight</a:t>
            </a:r>
            <a:r>
              <a:rPr lang="en-US" i="0" dirty="0">
                <a:effectLst/>
                <a:latin typeface="Arial" panose="020B0604020202020204" pitchFamily="34" charset="0"/>
                <a:cs typeface="Arial" panose="020B0604020202020204" pitchFamily="34" charset="0"/>
              </a:rPr>
              <a:t> to upweight dementia cases. It a</a:t>
            </a:r>
            <a:r>
              <a:rPr lang="en-US" dirty="0"/>
              <a:t>ccept the labels as given and instead tell the model to </a:t>
            </a:r>
            <a:r>
              <a:rPr lang="en-US" b="1" dirty="0"/>
              <a:t>penalize mistakes on dementia cases more heavily during training</a:t>
            </a:r>
            <a:r>
              <a:rPr lang="en-US" dirty="0"/>
              <a:t> by multiplying their error weight by 3.61</a:t>
            </a:r>
            <a:endParaRPr lang="en-US" i="0" dirty="0">
              <a:effectLst/>
              <a:latin typeface="Arial" panose="020B0604020202020204" pitchFamily="34" charset="0"/>
              <a:cs typeface="Arial" panose="020B0604020202020204" pitchFamily="34" charset="0"/>
            </a:endParaRP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The paper used positive-unlabeled learning — assuming some negatives are actually undiagnosed dementia and recovering those hidden cases. That's a meaningful difference I couldn't replicate without the original labels. C</a:t>
            </a:r>
            <a:r>
              <a:rPr lang="en-US" dirty="0"/>
              <a:t>linicians manually reviewed charts and confirmed whether each patient truly had dementia, independent of what got coded. That ground truth allowed them to identify patients who had dementia but were never coded as such, and build a model that accounts for that hidden population using positive-unlabeled learning. I don't have that. </a:t>
            </a:r>
            <a:endParaRPr lang="en-US" i="0" dirty="0">
              <a:effectLst/>
              <a:latin typeface="Arial" panose="020B0604020202020204" pitchFamily="34" charset="0"/>
              <a:cs typeface="Arial" panose="020B0604020202020204" pitchFamily="34" charset="0"/>
            </a:endParaRPr>
          </a:p>
          <a:p>
            <a:endParaRPr lang="en-US" i="0" dirty="0">
              <a:effectLst/>
              <a:latin typeface="Arial" panose="020B0604020202020204" pitchFamily="34" charset="0"/>
              <a:cs typeface="Arial" panose="020B0604020202020204" pitchFamily="34" charset="0"/>
            </a:endParaRPr>
          </a:p>
          <a:p>
            <a:r>
              <a:rPr lang="en-US" i="0" dirty="0">
                <a:effectLst/>
                <a:latin typeface="Arial" panose="020B0604020202020204" pitchFamily="34" charset="0"/>
                <a:cs typeface="Arial" panose="020B0604020202020204" pitchFamily="34" charset="0"/>
              </a:rPr>
              <a:t>Bottom line — directionally consistent. The performance gap is explained by data and methodology, not a broken pipeline.</a:t>
            </a:r>
          </a:p>
          <a:p>
            <a:endParaRPr i="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latin typeface="Arial" panose="020B0604020202020204" pitchFamily="34" charset="0"/>
                <a:cs typeface="Arial" panose="020B0604020202020204" pitchFamily="34" charset="0"/>
              </a:rPr>
              <a:t>Two things on this slide — feature importance and threshold analysis.</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On features — </a:t>
            </a:r>
            <a:r>
              <a:rPr lang="en-US" i="0" dirty="0" err="1">
                <a:latin typeface="Arial" panose="020B0604020202020204" pitchFamily="34" charset="0"/>
                <a:cs typeface="Arial" panose="020B0604020202020204" pitchFamily="34" charset="0"/>
              </a:rPr>
              <a:t>XGBoost</a:t>
            </a:r>
            <a:r>
              <a:rPr lang="en-US" i="0" dirty="0">
                <a:latin typeface="Arial" panose="020B0604020202020204" pitchFamily="34" charset="0"/>
                <a:cs typeface="Arial" panose="020B0604020202020204" pitchFamily="34" charset="0"/>
              </a:rPr>
              <a:t> ranks every variable by how much it contributed to predictions. Nine of my top ten match the EDDA paper's top twenty directly. Dementia medications, donepezil, age, prior drug count — all clinically intuitive, and all consistent with what the original authors found. </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On thresholds — the threshold is the cutoff where the model says 'flag this patient.' Lower threshold means flag more people, catch more cases, but more false alarms. Higher threshold means more precise, but you miss more real cases. NNT — number needed to test — puts that tradeoff in clinical terms: how many patients do you screen to find one true dementia case. At 0.1 you catch almost everything but screen five patients per true case. At 0.9 almost every flagged patient has dementia but you're only catching 2% of cases.</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For a screening tool the choice is clear. Missing a dementia case costs far more than a false alarm. A flagged patient gets a five-minute cognitive screen. A missed patient leaves the ED with unrecognized dementia and nothing gets done. Lower threshold, accept more false positives — that's standard screening logic and it's the right call here.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i="0" dirty="0">
                <a:latin typeface="Arial" panose="020B0604020202020204" pitchFamily="34" charset="0"/>
                <a:cs typeface="Arial" panose="020B0604020202020204" pitchFamily="34" charset="0"/>
              </a:rPr>
              <a:t>Three final layers — calibration, </a:t>
            </a:r>
            <a:r>
              <a:rPr lang="en-US" i="0" dirty="0" err="1">
                <a:latin typeface="Arial" panose="020B0604020202020204" pitchFamily="34" charset="0"/>
                <a:cs typeface="Arial" panose="020B0604020202020204" pitchFamily="34" charset="0"/>
              </a:rPr>
              <a:t>SHAP</a:t>
            </a:r>
            <a:r>
              <a:rPr lang="en-US" i="0" dirty="0">
                <a:latin typeface="Arial" panose="020B0604020202020204" pitchFamily="34" charset="0"/>
                <a:cs typeface="Arial" panose="020B0604020202020204" pitchFamily="34" charset="0"/>
              </a:rPr>
              <a:t>, and subgroup fairness.</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Calibration checks whether predicted probabilities are trustworthy. Brier score 0.218 against a naive baseline of 0.170 — slightly overconfident at high probabilities. Clinically this matters: a 90% prediction should mean 9 in 10 patients actually have dementia.</a:t>
            </a:r>
          </a:p>
          <a:p>
            <a:endParaRPr lang="en-US" i="0" dirty="0">
              <a:latin typeface="Arial" panose="020B0604020202020204" pitchFamily="34" charset="0"/>
              <a:cs typeface="Arial" panose="020B0604020202020204" pitchFamily="34" charset="0"/>
            </a:endParaRPr>
          </a:p>
          <a:p>
            <a:r>
              <a:rPr lang="en-US" i="0" dirty="0" err="1">
                <a:latin typeface="Arial" panose="020B0604020202020204" pitchFamily="34" charset="0"/>
                <a:cs typeface="Arial" panose="020B0604020202020204" pitchFamily="34" charset="0"/>
              </a:rPr>
              <a:t>SHAP</a:t>
            </a:r>
            <a:r>
              <a:rPr lang="en-US" i="0" dirty="0">
                <a:latin typeface="Arial" panose="020B0604020202020204" pitchFamily="34" charset="0"/>
                <a:cs typeface="Arial" panose="020B0604020202020204" pitchFamily="34" charset="0"/>
              </a:rPr>
              <a:t> shows direction and magnitude. Dementia medications push probability up, age pushes it up, sex barely moves it. Mirrors the EDDA supplementary figure — the model is reasoning in the right direction.</a:t>
            </a:r>
          </a:p>
          <a:p>
            <a:endParaRPr lang="en-US" i="0" dirty="0">
              <a:latin typeface="Arial" panose="020B0604020202020204" pitchFamily="34" charset="0"/>
              <a:cs typeface="Arial" panose="020B0604020202020204" pitchFamily="34" charset="0"/>
            </a:endParaRPr>
          </a:p>
          <a:p>
            <a:r>
              <a:rPr lang="en-US" i="0" dirty="0">
                <a:latin typeface="Arial" panose="020B0604020202020204" pitchFamily="34" charset="0"/>
                <a:cs typeface="Arial" panose="020B0604020202020204" pitchFamily="34" charset="0"/>
              </a:rPr>
              <a:t>Subgroup analysis is the fairness check — AUC by sex, race, and insurance. If GED benefits concentrate in White patients, we need to know if the model performs worse in minority subgroups before it goes anywhere near a clinical setting.</a:t>
            </a:r>
          </a:p>
          <a:p>
            <a:endParaRPr lang="en-US" i="0" dirty="0">
              <a:latin typeface="Arial" panose="020B0604020202020204" pitchFamily="34" charset="0"/>
              <a:cs typeface="Arial" panose="020B0604020202020204" pitchFamily="34" charset="0"/>
            </a:endParaRPr>
          </a:p>
          <a:p>
            <a:r>
              <a:rPr lang="en-US" dirty="0"/>
              <a:t>GEDs are specifically designed to recognize and manage patients with unrecognized dementia — that's the whole point of accreditation. </a:t>
            </a:r>
            <a:r>
              <a:rPr lang="en-US"/>
              <a:t>If the benefits concentrate in patients EDDA flags as high risk, it confirms the mechanism is working exactly as intended.</a:t>
            </a:r>
            <a:endParaRPr lang="en-US"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400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777240"/>
            <a:ext cx="11064240" cy="914400"/>
          </a:xfrm>
          <a:prstGeom prst="rect">
            <a:avLst/>
          </a:prstGeom>
          <a:noFill/>
        </p:spPr>
        <p:txBody>
          <a:bodyPr wrap="square">
            <a:spAutoFit/>
          </a:bodyPr>
          <a:lstStyle/>
          <a:p>
            <a:pPr algn="ctr"/>
            <a:r>
              <a:rPr sz="4600" b="1" i="0">
                <a:solidFill>
                  <a:srgbClr val="1E4050"/>
                </a:solidFill>
                <a:latin typeface="Calibri"/>
              </a:rPr>
              <a:t>HCUP &amp; EDDA</a:t>
            </a:r>
          </a:p>
        </p:txBody>
      </p:sp>
      <p:sp>
        <p:nvSpPr>
          <p:cNvPr id="6" name="TextBox 5"/>
          <p:cNvSpPr txBox="1"/>
          <p:nvPr/>
        </p:nvSpPr>
        <p:spPr>
          <a:xfrm>
            <a:off x="548640" y="1755648"/>
            <a:ext cx="11064240" cy="420624"/>
          </a:xfrm>
          <a:prstGeom prst="rect">
            <a:avLst/>
          </a:prstGeom>
          <a:noFill/>
        </p:spPr>
        <p:txBody>
          <a:bodyPr wrap="square">
            <a:spAutoFit/>
          </a:bodyPr>
          <a:lstStyle/>
          <a:p>
            <a:pPr algn="ctr"/>
            <a:r>
              <a:rPr sz="1800" b="0" i="1">
                <a:solidFill>
                  <a:srgbClr val="727272"/>
                </a:solidFill>
                <a:latin typeface="Calibri"/>
              </a:rPr>
              <a:t>Study Design &amp; Model Adaptation</a:t>
            </a:r>
          </a:p>
        </p:txBody>
      </p:sp>
      <p:sp>
        <p:nvSpPr>
          <p:cNvPr id="7" name="Rectangle 6"/>
          <p:cNvSpPr/>
          <p:nvPr/>
        </p:nvSpPr>
        <p:spPr>
          <a:xfrm>
            <a:off x="4663440" y="2377440"/>
            <a:ext cx="2834640" cy="36576"/>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487168"/>
            <a:ext cx="11064240" cy="384048"/>
          </a:xfrm>
          <a:prstGeom prst="rect">
            <a:avLst/>
          </a:prstGeom>
          <a:noFill/>
        </p:spPr>
        <p:txBody>
          <a:bodyPr wrap="square">
            <a:spAutoFit/>
          </a:bodyPr>
          <a:lstStyle/>
          <a:p>
            <a:pPr algn="ctr"/>
            <a:r>
              <a:rPr sz="1600" b="1" i="0">
                <a:solidFill>
                  <a:srgbClr val="1A1A1A"/>
                </a:solidFill>
                <a:latin typeface="Calibri"/>
              </a:rPr>
              <a:t>Yihan Wang</a:t>
            </a:r>
          </a:p>
        </p:txBody>
      </p:sp>
      <p:sp>
        <p:nvSpPr>
          <p:cNvPr id="9" name="TextBox 8"/>
          <p:cNvSpPr txBox="1"/>
          <p:nvPr/>
        </p:nvSpPr>
        <p:spPr>
          <a:xfrm>
            <a:off x="548640" y="2852928"/>
            <a:ext cx="11064240" cy="329184"/>
          </a:xfrm>
          <a:prstGeom prst="rect">
            <a:avLst/>
          </a:prstGeom>
          <a:noFill/>
        </p:spPr>
        <p:txBody>
          <a:bodyPr wrap="square">
            <a:spAutoFit/>
          </a:bodyPr>
          <a:lstStyle/>
          <a:p>
            <a:pPr algn="ctr"/>
            <a:r>
              <a:rPr sz="1300" b="0" i="1">
                <a:solidFill>
                  <a:srgbClr val="727272"/>
                </a:solidFill>
                <a:latin typeface="Calibri"/>
              </a:rPr>
              <a:t>June 9, 2026</a:t>
            </a:r>
          </a:p>
        </p:txBody>
      </p:sp>
      <p:sp>
        <p:nvSpPr>
          <p:cNvPr id="10" name="Rectangle 9"/>
          <p:cNvSpPr/>
          <p:nvPr/>
        </p:nvSpPr>
        <p:spPr>
          <a:xfrm>
            <a:off x="411480" y="3429000"/>
            <a:ext cx="5550408" cy="2578608"/>
          </a:xfrm>
          <a:prstGeom prst="rect">
            <a:avLst/>
          </a:prstGeom>
          <a:solidFill>
            <a:srgbClr val="FFFFFF"/>
          </a:solidFill>
          <a:ln w="1524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3429000"/>
            <a:ext cx="5550408" cy="5486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3566160"/>
            <a:ext cx="5276088" cy="310896"/>
          </a:xfrm>
          <a:prstGeom prst="rect">
            <a:avLst/>
          </a:prstGeom>
          <a:noFill/>
        </p:spPr>
        <p:txBody>
          <a:bodyPr wrap="square">
            <a:spAutoFit/>
          </a:bodyPr>
          <a:lstStyle/>
          <a:p>
            <a:pPr algn="l"/>
            <a:r>
              <a:rPr sz="1100" b="1" i="0">
                <a:solidFill>
                  <a:srgbClr val="2B6C7C"/>
                </a:solidFill>
                <a:latin typeface="Calibri"/>
              </a:rPr>
              <a:t>Question 1</a:t>
            </a:r>
          </a:p>
        </p:txBody>
      </p:sp>
      <p:sp>
        <p:nvSpPr>
          <p:cNvPr id="13" name="TextBox 12"/>
          <p:cNvSpPr txBox="1"/>
          <p:nvPr/>
        </p:nvSpPr>
        <p:spPr>
          <a:xfrm>
            <a:off x="594360" y="3877056"/>
            <a:ext cx="5276088" cy="475488"/>
          </a:xfrm>
          <a:prstGeom prst="rect">
            <a:avLst/>
          </a:prstGeom>
          <a:noFill/>
        </p:spPr>
        <p:txBody>
          <a:bodyPr wrap="square">
            <a:spAutoFit/>
          </a:bodyPr>
          <a:lstStyle/>
          <a:p>
            <a:pPr algn="l"/>
            <a:r>
              <a:rPr sz="1800" b="1" i="0">
                <a:solidFill>
                  <a:srgbClr val="1A1A1A"/>
                </a:solidFill>
                <a:latin typeface="Calibri"/>
              </a:rPr>
              <a:t>HCUP Study Design</a:t>
            </a:r>
          </a:p>
        </p:txBody>
      </p:sp>
      <p:sp>
        <p:nvSpPr>
          <p:cNvPr id="14" name="TextBox 13"/>
          <p:cNvSpPr txBox="1"/>
          <p:nvPr/>
        </p:nvSpPr>
        <p:spPr>
          <a:xfrm>
            <a:off x="594360" y="4389120"/>
            <a:ext cx="5276088" cy="1097280"/>
          </a:xfrm>
          <a:prstGeom prst="rect">
            <a:avLst/>
          </a:prstGeom>
          <a:noFill/>
        </p:spPr>
        <p:txBody>
          <a:bodyPr wrap="square">
            <a:spAutoFit/>
          </a:bodyPr>
          <a:lstStyle/>
          <a:p>
            <a:pPr algn="l"/>
            <a:r>
              <a:rPr sz="1300" b="0" i="0">
                <a:solidFill>
                  <a:srgbClr val="383838"/>
                </a:solidFill>
                <a:latin typeface="Calibri"/>
              </a:rPr>
              <a:t>Comparing outcomes at Geriatric vs. Non-Geriatric EDs
using HCUP SEDD/SID - study design from scratch</a:t>
            </a:r>
          </a:p>
        </p:txBody>
      </p:sp>
      <p:sp>
        <p:nvSpPr>
          <p:cNvPr id="15" name="Rectangle 14"/>
          <p:cNvSpPr/>
          <p:nvPr/>
        </p:nvSpPr>
        <p:spPr>
          <a:xfrm>
            <a:off x="6126480" y="3429000"/>
            <a:ext cx="5550408" cy="2578608"/>
          </a:xfrm>
          <a:prstGeom prst="rect">
            <a:avLst/>
          </a:prstGeom>
          <a:solidFill>
            <a:srgbClr val="FFFFFF"/>
          </a:solidFill>
          <a:ln w="1524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26480" y="3429000"/>
            <a:ext cx="5550408" cy="5486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3566160"/>
            <a:ext cx="5276088" cy="310896"/>
          </a:xfrm>
          <a:prstGeom prst="rect">
            <a:avLst/>
          </a:prstGeom>
          <a:noFill/>
        </p:spPr>
        <p:txBody>
          <a:bodyPr wrap="square">
            <a:spAutoFit/>
          </a:bodyPr>
          <a:lstStyle/>
          <a:p>
            <a:pPr algn="l"/>
            <a:r>
              <a:rPr sz="1100" b="1" i="0">
                <a:solidFill>
                  <a:srgbClr val="2B6C7C"/>
                </a:solidFill>
                <a:latin typeface="Calibri"/>
              </a:rPr>
              <a:t>Question 2</a:t>
            </a:r>
          </a:p>
        </p:txBody>
      </p:sp>
      <p:sp>
        <p:nvSpPr>
          <p:cNvPr id="18" name="TextBox 17"/>
          <p:cNvSpPr txBox="1"/>
          <p:nvPr/>
        </p:nvSpPr>
        <p:spPr>
          <a:xfrm>
            <a:off x="6309360" y="3877056"/>
            <a:ext cx="5276088" cy="475488"/>
          </a:xfrm>
          <a:prstGeom prst="rect">
            <a:avLst/>
          </a:prstGeom>
          <a:noFill/>
        </p:spPr>
        <p:txBody>
          <a:bodyPr wrap="square">
            <a:spAutoFit/>
          </a:bodyPr>
          <a:lstStyle/>
          <a:p>
            <a:pPr algn="l"/>
            <a:r>
              <a:rPr sz="1800" b="1" i="0">
                <a:solidFill>
                  <a:srgbClr val="1A1A1A"/>
                </a:solidFill>
                <a:latin typeface="Calibri"/>
              </a:rPr>
              <a:t>EDDA Model Adaptation</a:t>
            </a:r>
          </a:p>
        </p:txBody>
      </p:sp>
      <p:sp>
        <p:nvSpPr>
          <p:cNvPr id="19" name="TextBox 18"/>
          <p:cNvSpPr txBox="1"/>
          <p:nvPr/>
        </p:nvSpPr>
        <p:spPr>
          <a:xfrm>
            <a:off x="6309360" y="4389120"/>
            <a:ext cx="5276088" cy="1097280"/>
          </a:xfrm>
          <a:prstGeom prst="rect">
            <a:avLst/>
          </a:prstGeom>
          <a:noFill/>
        </p:spPr>
        <p:txBody>
          <a:bodyPr wrap="square">
            <a:spAutoFit/>
          </a:bodyPr>
          <a:lstStyle/>
          <a:p>
            <a:pPr algn="l"/>
            <a:r>
              <a:rPr sz="1300" b="0" i="0">
                <a:solidFill>
                  <a:srgbClr val="383838"/>
                </a:solidFill>
                <a:latin typeface="Calibri"/>
              </a:rPr>
              <a:t>Replicating the ED Dementia Algorithm
on simulated EHR data - hands-on ML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Q1 / Background</a:t>
            </a:r>
          </a:p>
        </p:txBody>
      </p:sp>
      <p:sp>
        <p:nvSpPr>
          <p:cNvPr id="5" name="TextBox 4"/>
          <p:cNvSpPr txBox="1"/>
          <p:nvPr/>
        </p:nvSpPr>
        <p:spPr>
          <a:xfrm>
            <a:off x="457200" y="164592"/>
            <a:ext cx="10789920" cy="658368"/>
          </a:xfrm>
          <a:prstGeom prst="rect">
            <a:avLst/>
          </a:prstGeom>
          <a:noFill/>
        </p:spPr>
        <p:txBody>
          <a:bodyPr wrap="square">
            <a:spAutoFit/>
          </a:bodyPr>
          <a:lstStyle/>
          <a:p>
            <a:pPr algn="l"/>
            <a:r>
              <a:rPr sz="3200" b="1" i="0">
                <a:solidFill>
                  <a:srgbClr val="1E4050"/>
                </a:solidFill>
                <a:latin typeface="Calibri"/>
              </a:rPr>
              <a:t>Question 1 - Background &amp; Context</a:t>
            </a:r>
          </a:p>
        </p:txBody>
      </p:sp>
      <p:sp>
        <p:nvSpPr>
          <p:cNvPr id="6" name="Rectangle 5"/>
          <p:cNvSpPr/>
          <p:nvPr/>
        </p:nvSpPr>
        <p:spPr>
          <a:xfrm>
            <a:off x="457200" y="886968"/>
            <a:ext cx="11274552" cy="36576"/>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3739896" cy="422452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05840"/>
            <a:ext cx="3739896" cy="38404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042415"/>
            <a:ext cx="3511296" cy="310896"/>
          </a:xfrm>
          <a:prstGeom prst="rect">
            <a:avLst/>
          </a:prstGeom>
          <a:noFill/>
        </p:spPr>
        <p:txBody>
          <a:bodyPr wrap="square">
            <a:spAutoFit/>
          </a:bodyPr>
          <a:lstStyle/>
          <a:p>
            <a:pPr algn="l"/>
            <a:r>
              <a:rPr sz="1300" b="1" i="0">
                <a:solidFill>
                  <a:srgbClr val="FFFFFF"/>
                </a:solidFill>
                <a:latin typeface="Calibri"/>
              </a:rPr>
              <a:t>What is a GED?</a:t>
            </a:r>
          </a:p>
        </p:txBody>
      </p:sp>
      <p:sp>
        <p:nvSpPr>
          <p:cNvPr id="10" name="TextBox 9"/>
          <p:cNvSpPr txBox="1"/>
          <p:nvPr/>
        </p:nvSpPr>
        <p:spPr>
          <a:xfrm>
            <a:off x="594360" y="1499616"/>
            <a:ext cx="3511296" cy="585216"/>
          </a:xfrm>
          <a:prstGeom prst="rect">
            <a:avLst/>
          </a:prstGeom>
          <a:noFill/>
        </p:spPr>
        <p:txBody>
          <a:bodyPr wrap="square">
            <a:spAutoFit/>
          </a:bodyPr>
          <a:lstStyle/>
          <a:p>
            <a:pPr algn="l"/>
            <a:r>
              <a:rPr sz="1250" b="0" i="0">
                <a:solidFill>
                  <a:srgbClr val="383838"/>
                </a:solidFill>
                <a:latin typeface="Calibri"/>
              </a:rPr>
              <a:t>- EDs designed for older adults (65+)</a:t>
            </a:r>
          </a:p>
        </p:txBody>
      </p:sp>
      <p:sp>
        <p:nvSpPr>
          <p:cNvPr id="11" name="TextBox 10"/>
          <p:cNvSpPr txBox="1"/>
          <p:nvPr/>
        </p:nvSpPr>
        <p:spPr>
          <a:xfrm>
            <a:off x="594360" y="2121408"/>
            <a:ext cx="3511296" cy="585216"/>
          </a:xfrm>
          <a:prstGeom prst="rect">
            <a:avLst/>
          </a:prstGeom>
          <a:noFill/>
        </p:spPr>
        <p:txBody>
          <a:bodyPr wrap="square">
            <a:spAutoFit/>
          </a:bodyPr>
          <a:lstStyle/>
          <a:p>
            <a:pPr algn="l"/>
            <a:r>
              <a:rPr sz="1250" b="0" i="0">
                <a:solidFill>
                  <a:srgbClr val="383838"/>
                </a:solidFill>
                <a:latin typeface="Calibri"/>
              </a:rPr>
              <a:t>- ACEP accreditation launched 2018 - 500+ nationwide</a:t>
            </a:r>
            <a:r>
              <a:rPr sz="1600" b="1" i="0" baseline="30000">
                <a:solidFill>
                  <a:srgbClr val="2B6C7C"/>
                </a:solidFill>
                <a:latin typeface="Calibri"/>
              </a:rPr>
              <a:t>¹</a:t>
            </a:r>
          </a:p>
        </p:txBody>
      </p:sp>
      <p:sp>
        <p:nvSpPr>
          <p:cNvPr id="12" name="TextBox 11"/>
          <p:cNvSpPr txBox="1"/>
          <p:nvPr/>
        </p:nvSpPr>
        <p:spPr>
          <a:xfrm>
            <a:off x="594360" y="2743200"/>
            <a:ext cx="3511296" cy="585216"/>
          </a:xfrm>
          <a:prstGeom prst="rect">
            <a:avLst/>
          </a:prstGeom>
          <a:noFill/>
        </p:spPr>
        <p:txBody>
          <a:bodyPr wrap="square">
            <a:spAutoFit/>
          </a:bodyPr>
          <a:lstStyle/>
          <a:p>
            <a:pPr algn="l"/>
            <a:r>
              <a:rPr sz="1250" b="0" i="0">
                <a:solidFill>
                  <a:srgbClr val="383838"/>
                </a:solidFill>
                <a:latin typeface="Calibri"/>
              </a:rPr>
              <a:t>- 3 levels: Bronze (entry), Silver, Gold (highest)</a:t>
            </a:r>
          </a:p>
        </p:txBody>
      </p:sp>
      <p:sp>
        <p:nvSpPr>
          <p:cNvPr id="13" name="TextBox 12"/>
          <p:cNvSpPr txBox="1"/>
          <p:nvPr/>
        </p:nvSpPr>
        <p:spPr>
          <a:xfrm>
            <a:off x="594360" y="3364991"/>
            <a:ext cx="3511296" cy="585216"/>
          </a:xfrm>
          <a:prstGeom prst="rect">
            <a:avLst/>
          </a:prstGeom>
          <a:noFill/>
        </p:spPr>
        <p:txBody>
          <a:bodyPr wrap="square">
            <a:spAutoFit/>
          </a:bodyPr>
          <a:lstStyle/>
          <a:p>
            <a:pPr algn="l"/>
            <a:r>
              <a:rPr sz="1250" b="0" i="0">
                <a:solidFill>
                  <a:srgbClr val="383838"/>
                </a:solidFill>
                <a:latin typeface="Calibri"/>
              </a:rPr>
              <a:t>- Each level: staffing, protocols, quality metrics</a:t>
            </a:r>
          </a:p>
        </p:txBody>
      </p:sp>
      <p:sp>
        <p:nvSpPr>
          <p:cNvPr id="14" name="TextBox 13"/>
          <p:cNvSpPr txBox="1"/>
          <p:nvPr/>
        </p:nvSpPr>
        <p:spPr>
          <a:xfrm>
            <a:off x="594360" y="3986784"/>
            <a:ext cx="3511296" cy="585216"/>
          </a:xfrm>
          <a:prstGeom prst="rect">
            <a:avLst/>
          </a:prstGeom>
          <a:noFill/>
        </p:spPr>
        <p:txBody>
          <a:bodyPr wrap="square">
            <a:spAutoFit/>
          </a:bodyPr>
          <a:lstStyle/>
          <a:p>
            <a:pPr algn="l"/>
            <a:r>
              <a:rPr sz="1250" b="0" i="0">
                <a:solidFill>
                  <a:srgbClr val="383838"/>
                </a:solidFill>
                <a:latin typeface="Calibri"/>
              </a:rPr>
              <a:t>- Physician champion: 6-8 hrs geriatric EM education</a:t>
            </a:r>
          </a:p>
        </p:txBody>
      </p:sp>
      <p:sp>
        <p:nvSpPr>
          <p:cNvPr id="15" name="TextBox 14"/>
          <p:cNvSpPr txBox="1"/>
          <p:nvPr/>
        </p:nvSpPr>
        <p:spPr>
          <a:xfrm>
            <a:off x="594360" y="4608576"/>
            <a:ext cx="3511296" cy="585216"/>
          </a:xfrm>
          <a:prstGeom prst="rect">
            <a:avLst/>
          </a:prstGeom>
          <a:noFill/>
        </p:spPr>
        <p:txBody>
          <a:bodyPr wrap="square">
            <a:spAutoFit/>
          </a:bodyPr>
          <a:lstStyle/>
          <a:p>
            <a:pPr algn="l"/>
            <a:r>
              <a:rPr sz="1250" b="0" i="0">
                <a:solidFill>
                  <a:srgbClr val="383838"/>
                </a:solidFill>
                <a:latin typeface="Calibri"/>
              </a:rPr>
              <a:t>- GED renewal every 3 years - ongoing quality required</a:t>
            </a:r>
          </a:p>
        </p:txBody>
      </p:sp>
      <p:sp>
        <p:nvSpPr>
          <p:cNvPr id="16" name="Rectangle 15"/>
          <p:cNvSpPr/>
          <p:nvPr/>
        </p:nvSpPr>
        <p:spPr>
          <a:xfrm>
            <a:off x="4265676" y="1005840"/>
            <a:ext cx="3739896" cy="422452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65676" y="1005840"/>
            <a:ext cx="3739896" cy="38404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02836" y="1042415"/>
            <a:ext cx="3511296" cy="310896"/>
          </a:xfrm>
          <a:prstGeom prst="rect">
            <a:avLst/>
          </a:prstGeom>
          <a:noFill/>
        </p:spPr>
        <p:txBody>
          <a:bodyPr wrap="square">
            <a:spAutoFit/>
          </a:bodyPr>
          <a:lstStyle/>
          <a:p>
            <a:pPr algn="l"/>
            <a:r>
              <a:rPr sz="1300" b="1" i="0">
                <a:solidFill>
                  <a:srgbClr val="727272"/>
                </a:solidFill>
                <a:latin typeface="Calibri"/>
              </a:rPr>
              <a:t>Geographic Distribution</a:t>
            </a:r>
          </a:p>
        </p:txBody>
      </p:sp>
      <p:sp>
        <p:nvSpPr>
          <p:cNvPr id="19" name="TextBox 18"/>
          <p:cNvSpPr txBox="1"/>
          <p:nvPr/>
        </p:nvSpPr>
        <p:spPr>
          <a:xfrm>
            <a:off x="4402836" y="1499616"/>
            <a:ext cx="3511296" cy="585216"/>
          </a:xfrm>
          <a:prstGeom prst="rect">
            <a:avLst/>
          </a:prstGeom>
          <a:noFill/>
        </p:spPr>
        <p:txBody>
          <a:bodyPr wrap="square">
            <a:spAutoFit/>
          </a:bodyPr>
          <a:lstStyle/>
          <a:p>
            <a:pPr algn="l"/>
            <a:r>
              <a:rPr sz="1250" b="0" i="0">
                <a:solidFill>
                  <a:srgbClr val="383838"/>
                </a:solidFill>
                <a:latin typeface="Calibri"/>
              </a:rPr>
              <a:t>- Concentrated in urban, academic medical centers</a:t>
            </a:r>
          </a:p>
        </p:txBody>
      </p:sp>
      <p:sp>
        <p:nvSpPr>
          <p:cNvPr id="20" name="TextBox 19"/>
          <p:cNvSpPr txBox="1"/>
          <p:nvPr/>
        </p:nvSpPr>
        <p:spPr>
          <a:xfrm>
            <a:off x="4402836" y="2121408"/>
            <a:ext cx="3511296" cy="585216"/>
          </a:xfrm>
          <a:prstGeom prst="rect">
            <a:avLst/>
          </a:prstGeom>
          <a:noFill/>
        </p:spPr>
        <p:txBody>
          <a:bodyPr wrap="square">
            <a:spAutoFit/>
          </a:bodyPr>
          <a:lstStyle/>
          <a:p>
            <a:pPr algn="l"/>
            <a:r>
              <a:rPr sz="1250" b="0" i="0">
                <a:solidFill>
                  <a:srgbClr val="383838"/>
                </a:solidFill>
                <a:latin typeface="Calibri"/>
              </a:rPr>
              <a:t>- Northeast-heavy: NY, NJ, MA lead in GED count</a:t>
            </a:r>
          </a:p>
        </p:txBody>
      </p:sp>
      <p:sp>
        <p:nvSpPr>
          <p:cNvPr id="21" name="TextBox 20"/>
          <p:cNvSpPr txBox="1"/>
          <p:nvPr/>
        </p:nvSpPr>
        <p:spPr>
          <a:xfrm>
            <a:off x="4402836" y="2743200"/>
            <a:ext cx="3511296" cy="585216"/>
          </a:xfrm>
          <a:prstGeom prst="rect">
            <a:avLst/>
          </a:prstGeom>
          <a:noFill/>
        </p:spPr>
        <p:txBody>
          <a:bodyPr wrap="square">
            <a:spAutoFit/>
          </a:bodyPr>
          <a:lstStyle/>
          <a:p>
            <a:pPr algn="l"/>
            <a:r>
              <a:rPr sz="1250" b="0" i="0">
                <a:solidFill>
                  <a:srgbClr val="383838"/>
                </a:solidFill>
                <a:latin typeface="Calibri"/>
              </a:rPr>
              <a:t>- Rural areas significantly underserved</a:t>
            </a:r>
          </a:p>
        </p:txBody>
      </p:sp>
      <p:sp>
        <p:nvSpPr>
          <p:cNvPr id="22" name="TextBox 21"/>
          <p:cNvSpPr txBox="1"/>
          <p:nvPr/>
        </p:nvSpPr>
        <p:spPr>
          <a:xfrm>
            <a:off x="4402836" y="3364991"/>
            <a:ext cx="3511296" cy="585216"/>
          </a:xfrm>
          <a:prstGeom prst="rect">
            <a:avLst/>
          </a:prstGeom>
          <a:noFill/>
        </p:spPr>
        <p:txBody>
          <a:bodyPr wrap="square">
            <a:spAutoFit/>
          </a:bodyPr>
          <a:lstStyle/>
          <a:p>
            <a:pPr algn="l"/>
            <a:r>
              <a:rPr sz="1250" b="0" i="0">
                <a:solidFill>
                  <a:srgbClr val="383838"/>
                </a:solidFill>
                <a:latin typeface="Calibri"/>
              </a:rPr>
              <a:t>- Most growth driven by Bronze - lowest bar</a:t>
            </a:r>
          </a:p>
        </p:txBody>
      </p:sp>
      <p:sp>
        <p:nvSpPr>
          <p:cNvPr id="23" name="TextBox 22"/>
          <p:cNvSpPr txBox="1"/>
          <p:nvPr/>
        </p:nvSpPr>
        <p:spPr>
          <a:xfrm>
            <a:off x="4402836" y="3986784"/>
            <a:ext cx="3511296" cy="585216"/>
          </a:xfrm>
          <a:prstGeom prst="rect">
            <a:avLst/>
          </a:prstGeom>
          <a:noFill/>
        </p:spPr>
        <p:txBody>
          <a:bodyPr wrap="square">
            <a:spAutoFit/>
          </a:bodyPr>
          <a:lstStyle/>
          <a:p>
            <a:pPr algn="l"/>
            <a:r>
              <a:rPr sz="1250" b="0" i="0">
                <a:solidFill>
                  <a:srgbClr val="383838"/>
                </a:solidFill>
                <a:latin typeface="Calibri"/>
              </a:rPr>
              <a:t>- 500+ accredited but minority of ~5,000 US EDs</a:t>
            </a:r>
          </a:p>
        </p:txBody>
      </p:sp>
      <p:sp>
        <p:nvSpPr>
          <p:cNvPr id="24" name="TextBox 23"/>
          <p:cNvSpPr txBox="1"/>
          <p:nvPr/>
        </p:nvSpPr>
        <p:spPr>
          <a:xfrm>
            <a:off x="4402836" y="4608576"/>
            <a:ext cx="3511296" cy="585216"/>
          </a:xfrm>
          <a:prstGeom prst="rect">
            <a:avLst/>
          </a:prstGeom>
          <a:noFill/>
        </p:spPr>
        <p:txBody>
          <a:bodyPr wrap="square">
            <a:spAutoFit/>
          </a:bodyPr>
          <a:lstStyle/>
          <a:p>
            <a:pPr algn="l"/>
            <a:r>
              <a:rPr sz="1250" b="0" i="0">
                <a:solidFill>
                  <a:srgbClr val="383838"/>
                </a:solidFill>
                <a:latin typeface="Calibri"/>
              </a:rPr>
              <a:t>- Rapid growth 2018-2023 then stabilizing</a:t>
            </a:r>
          </a:p>
        </p:txBody>
      </p:sp>
      <p:sp>
        <p:nvSpPr>
          <p:cNvPr id="25" name="Rectangle 24"/>
          <p:cNvSpPr/>
          <p:nvPr/>
        </p:nvSpPr>
        <p:spPr>
          <a:xfrm>
            <a:off x="8074152" y="1005840"/>
            <a:ext cx="3739896" cy="422452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74152" y="1005840"/>
            <a:ext cx="3739896" cy="38404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11312" y="1042415"/>
            <a:ext cx="3511296" cy="310896"/>
          </a:xfrm>
          <a:prstGeom prst="rect">
            <a:avLst/>
          </a:prstGeom>
          <a:noFill/>
        </p:spPr>
        <p:txBody>
          <a:bodyPr wrap="square">
            <a:spAutoFit/>
          </a:bodyPr>
          <a:lstStyle/>
          <a:p>
            <a:pPr algn="l"/>
            <a:r>
              <a:rPr sz="1300" b="1" i="0">
                <a:solidFill>
                  <a:srgbClr val="1E4050"/>
                </a:solidFill>
                <a:latin typeface="Calibri"/>
              </a:rPr>
              <a:t>What Literature Shows</a:t>
            </a:r>
          </a:p>
        </p:txBody>
      </p:sp>
      <p:sp>
        <p:nvSpPr>
          <p:cNvPr id="28" name="TextBox 27"/>
          <p:cNvSpPr txBox="1"/>
          <p:nvPr/>
        </p:nvSpPr>
        <p:spPr>
          <a:xfrm>
            <a:off x="8211312" y="1499616"/>
            <a:ext cx="3511296" cy="585216"/>
          </a:xfrm>
          <a:prstGeom prst="rect">
            <a:avLst/>
          </a:prstGeom>
          <a:noFill/>
        </p:spPr>
        <p:txBody>
          <a:bodyPr wrap="square">
            <a:spAutoFit/>
          </a:bodyPr>
          <a:lstStyle/>
          <a:p>
            <a:pPr algn="l"/>
            <a:r>
              <a:rPr sz="1250" b="0" i="0">
                <a:solidFill>
                  <a:srgbClr val="383838"/>
                </a:solidFill>
                <a:latin typeface="Calibri"/>
              </a:rPr>
              <a:t>- GED care: lower odds of admission (OR 0.71, p&lt;0.05)</a:t>
            </a:r>
            <a:r>
              <a:rPr sz="1600" b="1" i="0" baseline="30000">
                <a:solidFill>
                  <a:srgbClr val="2B6C7C"/>
                </a:solidFill>
                <a:latin typeface="Calibri"/>
              </a:rPr>
              <a:t>²</a:t>
            </a:r>
          </a:p>
        </p:txBody>
      </p:sp>
      <p:sp>
        <p:nvSpPr>
          <p:cNvPr id="29" name="TextBox 28"/>
          <p:cNvSpPr txBox="1"/>
          <p:nvPr/>
        </p:nvSpPr>
        <p:spPr>
          <a:xfrm>
            <a:off x="8211312" y="2121408"/>
            <a:ext cx="3511296" cy="585216"/>
          </a:xfrm>
          <a:prstGeom prst="rect">
            <a:avLst/>
          </a:prstGeom>
          <a:noFill/>
        </p:spPr>
        <p:txBody>
          <a:bodyPr wrap="square">
            <a:spAutoFit/>
          </a:bodyPr>
          <a:lstStyle/>
          <a:p>
            <a:pPr algn="l"/>
            <a:r>
              <a:rPr sz="1250" b="0" i="0">
                <a:solidFill>
                  <a:srgbClr val="383838"/>
                </a:solidFill>
                <a:latin typeface="Calibri"/>
              </a:rPr>
              <a:t>- 30-day mortality reduced in non-Hispanic White patients</a:t>
            </a:r>
            <a:r>
              <a:rPr sz="1600" b="1" i="0" baseline="30000">
                <a:solidFill>
                  <a:srgbClr val="2B6C7C"/>
                </a:solidFill>
                <a:latin typeface="Calibri"/>
              </a:rPr>
              <a:t>²</a:t>
            </a:r>
          </a:p>
        </p:txBody>
      </p:sp>
      <p:sp>
        <p:nvSpPr>
          <p:cNvPr id="30" name="TextBox 29"/>
          <p:cNvSpPr txBox="1"/>
          <p:nvPr/>
        </p:nvSpPr>
        <p:spPr>
          <a:xfrm>
            <a:off x="8211312" y="2743200"/>
            <a:ext cx="3511296" cy="585216"/>
          </a:xfrm>
          <a:prstGeom prst="rect">
            <a:avLst/>
          </a:prstGeom>
          <a:noFill/>
        </p:spPr>
        <p:txBody>
          <a:bodyPr wrap="square">
            <a:spAutoFit/>
          </a:bodyPr>
          <a:lstStyle/>
          <a:p>
            <a:pPr algn="l"/>
            <a:r>
              <a:rPr sz="1250" b="0" i="0">
                <a:solidFill>
                  <a:srgbClr val="383838"/>
                </a:solidFill>
                <a:latin typeface="Calibri"/>
              </a:rPr>
              <a:t>- Benefits NOT shown in minority or rural populations</a:t>
            </a:r>
            <a:r>
              <a:rPr sz="1600" b="1" i="0" baseline="30000">
                <a:solidFill>
                  <a:srgbClr val="2B6C7C"/>
                </a:solidFill>
                <a:latin typeface="Calibri"/>
              </a:rPr>
              <a:t>²</a:t>
            </a:r>
          </a:p>
        </p:txBody>
      </p:sp>
      <p:sp>
        <p:nvSpPr>
          <p:cNvPr id="31" name="TextBox 30"/>
          <p:cNvSpPr txBox="1"/>
          <p:nvPr/>
        </p:nvSpPr>
        <p:spPr>
          <a:xfrm>
            <a:off x="8211312" y="3364991"/>
            <a:ext cx="3511296" cy="585216"/>
          </a:xfrm>
          <a:prstGeom prst="rect">
            <a:avLst/>
          </a:prstGeom>
          <a:noFill/>
        </p:spPr>
        <p:txBody>
          <a:bodyPr wrap="square">
            <a:spAutoFit/>
          </a:bodyPr>
          <a:lstStyle/>
          <a:p>
            <a:pPr algn="l"/>
            <a:r>
              <a:rPr sz="1250" b="0" i="0">
                <a:solidFill>
                  <a:srgbClr val="383838"/>
                </a:solidFill>
                <a:latin typeface="Calibri"/>
              </a:rPr>
              <a:t>- Mechanism of benefit still unclear - gap in literature</a:t>
            </a:r>
          </a:p>
        </p:txBody>
      </p:sp>
      <p:sp>
        <p:nvSpPr>
          <p:cNvPr id="32" name="TextBox 31"/>
          <p:cNvSpPr txBox="1"/>
          <p:nvPr/>
        </p:nvSpPr>
        <p:spPr>
          <a:xfrm>
            <a:off x="8211312" y="3986784"/>
            <a:ext cx="3511296" cy="585216"/>
          </a:xfrm>
          <a:prstGeom prst="rect">
            <a:avLst/>
          </a:prstGeom>
          <a:noFill/>
        </p:spPr>
        <p:txBody>
          <a:bodyPr wrap="square">
            <a:spAutoFit/>
          </a:bodyPr>
          <a:lstStyle/>
          <a:p>
            <a:pPr algn="l"/>
            <a:r>
              <a:rPr sz="1250" b="0" i="0">
                <a:solidFill>
                  <a:srgbClr val="383838"/>
                </a:solidFill>
                <a:latin typeface="Calibri"/>
              </a:rPr>
              <a:t>- Hwang lab: first national data showing GED improves outcomes</a:t>
            </a:r>
            <a:r>
              <a:rPr sz="1600" b="1" i="0" baseline="30000">
                <a:solidFill>
                  <a:srgbClr val="2B6C7C"/>
                </a:solidFill>
                <a:latin typeface="Calibri"/>
              </a:rPr>
              <a:t>²</a:t>
            </a:r>
          </a:p>
        </p:txBody>
      </p:sp>
      <p:sp>
        <p:nvSpPr>
          <p:cNvPr id="33" name="TextBox 32"/>
          <p:cNvSpPr txBox="1"/>
          <p:nvPr/>
        </p:nvSpPr>
        <p:spPr>
          <a:xfrm>
            <a:off x="8211312" y="4608576"/>
            <a:ext cx="3511296" cy="585216"/>
          </a:xfrm>
          <a:prstGeom prst="rect">
            <a:avLst/>
          </a:prstGeom>
          <a:noFill/>
        </p:spPr>
        <p:txBody>
          <a:bodyPr wrap="square">
            <a:spAutoFit/>
          </a:bodyPr>
          <a:lstStyle/>
          <a:p>
            <a:pPr algn="l"/>
            <a:r>
              <a:rPr sz="1250" b="0" i="0">
                <a:solidFill>
                  <a:srgbClr val="383838"/>
                </a:solidFill>
                <a:latin typeface="Calibri"/>
              </a:rPr>
              <a:t>- GED benefits: who, where, why - still open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Q1 / State Selection</a:t>
            </a:r>
          </a:p>
        </p:txBody>
      </p:sp>
      <p:sp>
        <p:nvSpPr>
          <p:cNvPr id="5" name="TextBox 4"/>
          <p:cNvSpPr txBox="1"/>
          <p:nvPr/>
        </p:nvSpPr>
        <p:spPr>
          <a:xfrm>
            <a:off x="457200" y="164592"/>
            <a:ext cx="10789920" cy="658368"/>
          </a:xfrm>
          <a:prstGeom prst="rect">
            <a:avLst/>
          </a:prstGeom>
          <a:noFill/>
        </p:spPr>
        <p:txBody>
          <a:bodyPr wrap="square">
            <a:spAutoFit/>
          </a:bodyPr>
          <a:lstStyle/>
          <a:p>
            <a:pPr algn="l"/>
            <a:r>
              <a:rPr sz="3200" b="1" i="0">
                <a:solidFill>
                  <a:srgbClr val="1E4050"/>
                </a:solidFill>
                <a:latin typeface="Calibri"/>
              </a:rPr>
              <a:t>Power Calculation &amp; State Selection</a:t>
            </a:r>
          </a:p>
        </p:txBody>
      </p:sp>
      <p:sp>
        <p:nvSpPr>
          <p:cNvPr id="6" name="Rectangle 5"/>
          <p:cNvSpPr/>
          <p:nvPr/>
        </p:nvSpPr>
        <p:spPr>
          <a:xfrm>
            <a:off x="457200" y="886968"/>
            <a:ext cx="11274552" cy="36576"/>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5577840" cy="5440680"/>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078992"/>
            <a:ext cx="5212080" cy="329184"/>
          </a:xfrm>
          <a:prstGeom prst="rect">
            <a:avLst/>
          </a:prstGeom>
          <a:noFill/>
        </p:spPr>
        <p:txBody>
          <a:bodyPr wrap="square">
            <a:spAutoFit/>
          </a:bodyPr>
          <a:lstStyle/>
          <a:p>
            <a:pPr algn="l"/>
            <a:r>
              <a:rPr sz="1400" b="1" i="0">
                <a:solidFill>
                  <a:srgbClr val="1E4050"/>
                </a:solidFill>
                <a:latin typeface="Calibri"/>
              </a:rPr>
              <a:t>Power Calculation - Before Buying Data</a:t>
            </a:r>
          </a:p>
        </p:txBody>
      </p:sp>
      <p:sp>
        <p:nvSpPr>
          <p:cNvPr id="9" name="TextBox 8"/>
          <p:cNvSpPr txBox="1"/>
          <p:nvPr/>
        </p:nvSpPr>
        <p:spPr>
          <a:xfrm>
            <a:off x="640080" y="1417320"/>
            <a:ext cx="5212080" cy="274320"/>
          </a:xfrm>
          <a:prstGeom prst="rect">
            <a:avLst/>
          </a:prstGeom>
          <a:noFill/>
        </p:spPr>
        <p:txBody>
          <a:bodyPr wrap="square">
            <a:spAutoFit/>
          </a:bodyPr>
          <a:lstStyle/>
          <a:p>
            <a:pPr algn="l"/>
            <a:r>
              <a:rPr sz="1200" b="1" i="1">
                <a:solidFill>
                  <a:srgbClr val="2B6C7C"/>
                </a:solidFill>
                <a:latin typeface="Calibri"/>
              </a:rPr>
              <a:t>Power = number of GED hospitals, not encounter count</a:t>
            </a:r>
          </a:p>
        </p:txBody>
      </p:sp>
      <p:sp>
        <p:nvSpPr>
          <p:cNvPr id="10" name="Rectangle 9"/>
          <p:cNvSpPr/>
          <p:nvPr/>
        </p:nvSpPr>
        <p:spPr>
          <a:xfrm>
            <a:off x="621792" y="1847088"/>
            <a:ext cx="32918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 y="1865376"/>
            <a:ext cx="329184" cy="274320"/>
          </a:xfrm>
          <a:prstGeom prst="rect">
            <a:avLst/>
          </a:prstGeom>
          <a:noFill/>
        </p:spPr>
        <p:txBody>
          <a:bodyPr wrap="square">
            <a:spAutoFit/>
          </a:bodyPr>
          <a:lstStyle/>
          <a:p>
            <a:pPr algn="ctr"/>
            <a:r>
              <a:rPr sz="1300" b="1" i="0">
                <a:solidFill>
                  <a:srgbClr val="FFFFFF"/>
                </a:solidFill>
                <a:latin typeface="Calibri"/>
              </a:rPr>
              <a:t>1</a:t>
            </a:r>
          </a:p>
        </p:txBody>
      </p:sp>
      <p:sp>
        <p:nvSpPr>
          <p:cNvPr id="12" name="TextBox 11"/>
          <p:cNvSpPr txBox="1"/>
          <p:nvPr/>
        </p:nvSpPr>
        <p:spPr>
          <a:xfrm>
            <a:off x="1042415" y="1847088"/>
            <a:ext cx="4754880" cy="274320"/>
          </a:xfrm>
          <a:prstGeom prst="rect">
            <a:avLst/>
          </a:prstGeom>
          <a:noFill/>
        </p:spPr>
        <p:txBody>
          <a:bodyPr wrap="square">
            <a:spAutoFit/>
          </a:bodyPr>
          <a:lstStyle/>
          <a:p>
            <a:pPr algn="l"/>
            <a:r>
              <a:rPr sz="1300" b="1" i="0">
                <a:solidFill>
                  <a:srgbClr val="1A1A1A"/>
                </a:solidFill>
                <a:latin typeface="Calibri"/>
              </a:rPr>
              <a:t>Set parameters from literature</a:t>
            </a:r>
          </a:p>
        </p:txBody>
      </p:sp>
      <p:sp>
        <p:nvSpPr>
          <p:cNvPr id="13" name="TextBox 12"/>
          <p:cNvSpPr txBox="1"/>
          <p:nvPr/>
        </p:nvSpPr>
        <p:spPr>
          <a:xfrm>
            <a:off x="1042415" y="2139696"/>
            <a:ext cx="4754880" cy="530352"/>
          </a:xfrm>
          <a:prstGeom prst="rect">
            <a:avLst/>
          </a:prstGeom>
          <a:noFill/>
        </p:spPr>
        <p:txBody>
          <a:bodyPr wrap="square">
            <a:spAutoFit/>
          </a:bodyPr>
          <a:lstStyle/>
          <a:p>
            <a:pPr algn="l"/>
            <a:r>
              <a:rPr sz="1150" b="0" i="0">
                <a:solidFill>
                  <a:srgbClr val="727272"/>
                </a:solidFill>
                <a:latin typeface="Calibri"/>
              </a:rPr>
              <a:t>Baseline outcome rate / effect size / a=0.05 / power 80-90%</a:t>
            </a:r>
          </a:p>
        </p:txBody>
      </p:sp>
      <p:sp>
        <p:nvSpPr>
          <p:cNvPr id="14" name="Rectangle 13"/>
          <p:cNvSpPr/>
          <p:nvPr/>
        </p:nvSpPr>
        <p:spPr>
          <a:xfrm>
            <a:off x="621792" y="2752344"/>
            <a:ext cx="32918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 y="2770632"/>
            <a:ext cx="329184" cy="274320"/>
          </a:xfrm>
          <a:prstGeom prst="rect">
            <a:avLst/>
          </a:prstGeom>
          <a:noFill/>
        </p:spPr>
        <p:txBody>
          <a:bodyPr wrap="square">
            <a:spAutoFit/>
          </a:bodyPr>
          <a:lstStyle/>
          <a:p>
            <a:pPr algn="ctr"/>
            <a:r>
              <a:rPr sz="1300" b="1" i="0">
                <a:solidFill>
                  <a:srgbClr val="FFFFFF"/>
                </a:solidFill>
                <a:latin typeface="Calibri"/>
              </a:rPr>
              <a:t>2</a:t>
            </a:r>
          </a:p>
        </p:txBody>
      </p:sp>
      <p:sp>
        <p:nvSpPr>
          <p:cNvPr id="16" name="TextBox 15"/>
          <p:cNvSpPr txBox="1"/>
          <p:nvPr/>
        </p:nvSpPr>
        <p:spPr>
          <a:xfrm>
            <a:off x="1042415" y="2752344"/>
            <a:ext cx="4754880" cy="274320"/>
          </a:xfrm>
          <a:prstGeom prst="rect">
            <a:avLst/>
          </a:prstGeom>
          <a:noFill/>
        </p:spPr>
        <p:txBody>
          <a:bodyPr wrap="square">
            <a:spAutoFit/>
          </a:bodyPr>
          <a:lstStyle/>
          <a:p>
            <a:pPr algn="l"/>
            <a:r>
              <a:rPr sz="1300" b="1" i="0">
                <a:solidFill>
                  <a:srgbClr val="1A1A1A"/>
                </a:solidFill>
                <a:latin typeface="Calibri"/>
              </a:rPr>
              <a:t>Count GED hospitals per state</a:t>
            </a:r>
          </a:p>
        </p:txBody>
      </p:sp>
      <p:sp>
        <p:nvSpPr>
          <p:cNvPr id="17" name="TextBox 16"/>
          <p:cNvSpPr txBox="1"/>
          <p:nvPr/>
        </p:nvSpPr>
        <p:spPr>
          <a:xfrm>
            <a:off x="1042415" y="3044951"/>
            <a:ext cx="4754880" cy="530352"/>
          </a:xfrm>
          <a:prstGeom prst="rect">
            <a:avLst/>
          </a:prstGeom>
          <a:noFill/>
        </p:spPr>
        <p:txBody>
          <a:bodyPr wrap="square">
            <a:spAutoFit/>
          </a:bodyPr>
          <a:lstStyle/>
          <a:p>
            <a:pPr algn="l"/>
            <a:r>
              <a:rPr sz="1150" b="0" i="0">
                <a:solidFill>
                  <a:srgbClr val="727272"/>
                </a:solidFill>
                <a:latin typeface="Calibri"/>
              </a:rPr>
              <a:t>ACEP GEDA registry - states with &lt;10 GEDs: skip</a:t>
            </a:r>
            <a:r>
              <a:rPr sz="1600" b="1" i="0" baseline="30000">
                <a:solidFill>
                  <a:srgbClr val="2B6C7C"/>
                </a:solidFill>
                <a:latin typeface="Calibri"/>
              </a:rPr>
              <a:t>¹</a:t>
            </a:r>
          </a:p>
        </p:txBody>
      </p:sp>
      <p:sp>
        <p:nvSpPr>
          <p:cNvPr id="18" name="Rectangle 17"/>
          <p:cNvSpPr/>
          <p:nvPr/>
        </p:nvSpPr>
        <p:spPr>
          <a:xfrm>
            <a:off x="621792" y="3657600"/>
            <a:ext cx="32918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 y="3675887"/>
            <a:ext cx="329184" cy="274320"/>
          </a:xfrm>
          <a:prstGeom prst="rect">
            <a:avLst/>
          </a:prstGeom>
          <a:noFill/>
        </p:spPr>
        <p:txBody>
          <a:bodyPr wrap="square">
            <a:spAutoFit/>
          </a:bodyPr>
          <a:lstStyle/>
          <a:p>
            <a:pPr algn="ctr"/>
            <a:r>
              <a:rPr sz="1300" b="1" i="0">
                <a:solidFill>
                  <a:srgbClr val="FFFFFF"/>
                </a:solidFill>
                <a:latin typeface="Calibri"/>
              </a:rPr>
              <a:t>3</a:t>
            </a:r>
          </a:p>
        </p:txBody>
      </p:sp>
      <p:sp>
        <p:nvSpPr>
          <p:cNvPr id="20" name="TextBox 19"/>
          <p:cNvSpPr txBox="1"/>
          <p:nvPr/>
        </p:nvSpPr>
        <p:spPr>
          <a:xfrm>
            <a:off x="1042415" y="3657600"/>
            <a:ext cx="4754880" cy="274320"/>
          </a:xfrm>
          <a:prstGeom prst="rect">
            <a:avLst/>
          </a:prstGeom>
          <a:noFill/>
        </p:spPr>
        <p:txBody>
          <a:bodyPr wrap="square">
            <a:spAutoFit/>
          </a:bodyPr>
          <a:lstStyle/>
          <a:p>
            <a:pPr algn="l"/>
            <a:r>
              <a:rPr sz="1300" b="1" i="0">
                <a:solidFill>
                  <a:srgbClr val="1A1A1A"/>
                </a:solidFill>
                <a:latin typeface="Calibri"/>
              </a:rPr>
              <a:t>Apply clustering correction</a:t>
            </a:r>
          </a:p>
        </p:txBody>
      </p:sp>
      <p:sp>
        <p:nvSpPr>
          <p:cNvPr id="21" name="TextBox 20"/>
          <p:cNvSpPr txBox="1"/>
          <p:nvPr/>
        </p:nvSpPr>
        <p:spPr>
          <a:xfrm>
            <a:off x="1042415" y="3950208"/>
            <a:ext cx="4754880" cy="623248"/>
          </a:xfrm>
          <a:prstGeom prst="rect">
            <a:avLst/>
          </a:prstGeom>
          <a:noFill/>
        </p:spPr>
        <p:txBody>
          <a:bodyPr wrap="square">
            <a:spAutoFit/>
          </a:bodyPr>
          <a:lstStyle/>
          <a:p>
            <a:pPr algn="l"/>
            <a:r>
              <a:rPr sz="1150" b="0" i="0" dirty="0">
                <a:solidFill>
                  <a:srgbClr val="727272"/>
                </a:solidFill>
                <a:latin typeface="Calibri"/>
              </a:rPr>
              <a:t>Design Effect = 1 + (n/hospital - 1) x ICC
Effective N = Raw encounters / Design Effect
ICC 0.02-0.05 for ED outcomes - reduces N by 2-</a:t>
            </a:r>
            <a:r>
              <a:rPr sz="1600" b="1" i="0" baseline="30000">
                <a:solidFill>
                  <a:srgbClr val="2B6C7C"/>
                </a:solidFill>
                <a:latin typeface="Calibri"/>
              </a:rPr>
              <a:t>³</a:t>
            </a:r>
            <a:r>
              <a:rPr lang="en-US" sz="1150" b="0" i="0" dirty="0">
                <a:solidFill>
                  <a:srgbClr val="727272"/>
                </a:solidFill>
                <a:latin typeface="Calibri"/>
              </a:rPr>
              <a:t>5</a:t>
            </a:r>
            <a:r>
              <a:rPr sz="1150" b="0" i="0" dirty="0">
                <a:solidFill>
                  <a:srgbClr val="727272"/>
                </a:solidFill>
                <a:latin typeface="Calibri"/>
              </a:rPr>
              <a:t>x</a:t>
            </a:r>
          </a:p>
        </p:txBody>
      </p:sp>
      <p:sp>
        <p:nvSpPr>
          <p:cNvPr id="22" name="Rectangle 21"/>
          <p:cNvSpPr/>
          <p:nvPr/>
        </p:nvSpPr>
        <p:spPr>
          <a:xfrm>
            <a:off x="621792" y="4562855"/>
            <a:ext cx="32918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1792" y="4581143"/>
            <a:ext cx="329184" cy="274320"/>
          </a:xfrm>
          <a:prstGeom prst="rect">
            <a:avLst/>
          </a:prstGeom>
          <a:noFill/>
        </p:spPr>
        <p:txBody>
          <a:bodyPr wrap="square">
            <a:spAutoFit/>
          </a:bodyPr>
          <a:lstStyle/>
          <a:p>
            <a:pPr algn="ctr"/>
            <a:r>
              <a:rPr sz="1300" b="1" i="0">
                <a:solidFill>
                  <a:srgbClr val="FFFFFF"/>
                </a:solidFill>
                <a:latin typeface="Calibri"/>
              </a:rPr>
              <a:t>4</a:t>
            </a:r>
          </a:p>
        </p:txBody>
      </p:sp>
      <p:sp>
        <p:nvSpPr>
          <p:cNvPr id="24" name="TextBox 23"/>
          <p:cNvSpPr txBox="1"/>
          <p:nvPr/>
        </p:nvSpPr>
        <p:spPr>
          <a:xfrm>
            <a:off x="1042415" y="4562855"/>
            <a:ext cx="4754880" cy="274320"/>
          </a:xfrm>
          <a:prstGeom prst="rect">
            <a:avLst/>
          </a:prstGeom>
          <a:noFill/>
        </p:spPr>
        <p:txBody>
          <a:bodyPr wrap="square">
            <a:spAutoFit/>
          </a:bodyPr>
          <a:lstStyle/>
          <a:p>
            <a:pPr algn="l"/>
            <a:r>
              <a:rPr sz="1300" b="1" i="0">
                <a:solidFill>
                  <a:srgbClr val="1A1A1A"/>
                </a:solidFill>
                <a:latin typeface="Calibri"/>
              </a:rPr>
              <a:t>Run clusterPower in R</a:t>
            </a:r>
          </a:p>
        </p:txBody>
      </p:sp>
      <p:sp>
        <p:nvSpPr>
          <p:cNvPr id="25" name="TextBox 24"/>
          <p:cNvSpPr txBox="1"/>
          <p:nvPr/>
        </p:nvSpPr>
        <p:spPr>
          <a:xfrm>
            <a:off x="1042415" y="4855464"/>
            <a:ext cx="4754880" cy="530352"/>
          </a:xfrm>
          <a:prstGeom prst="rect">
            <a:avLst/>
          </a:prstGeom>
          <a:noFill/>
        </p:spPr>
        <p:txBody>
          <a:bodyPr wrap="square">
            <a:spAutoFit/>
          </a:bodyPr>
          <a:lstStyle/>
          <a:p>
            <a:pPr algn="l"/>
            <a:r>
              <a:rPr sz="1150" b="0" i="0">
                <a:solidFill>
                  <a:srgbClr val="727272"/>
                </a:solidFill>
                <a:latin typeface="Calibri"/>
              </a:rPr>
              <a:t>Find minimum GED hospitals for 80% power
Sensitivity across ICC range 0.02-0.07</a:t>
            </a:r>
            <a:r>
              <a:rPr sz="1600" b="1" i="0" baseline="30000">
                <a:solidFill>
                  <a:srgbClr val="2B6C7C"/>
                </a:solidFill>
                <a:latin typeface="Calibri"/>
              </a:rPr>
              <a:t>³</a:t>
            </a:r>
          </a:p>
        </p:txBody>
      </p:sp>
      <p:sp>
        <p:nvSpPr>
          <p:cNvPr id="26" name="Rectangle 25"/>
          <p:cNvSpPr/>
          <p:nvPr/>
        </p:nvSpPr>
        <p:spPr>
          <a:xfrm>
            <a:off x="621792" y="5468112"/>
            <a:ext cx="32918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 y="5486399"/>
            <a:ext cx="329184" cy="274320"/>
          </a:xfrm>
          <a:prstGeom prst="rect">
            <a:avLst/>
          </a:prstGeom>
          <a:noFill/>
        </p:spPr>
        <p:txBody>
          <a:bodyPr wrap="square">
            <a:spAutoFit/>
          </a:bodyPr>
          <a:lstStyle/>
          <a:p>
            <a:pPr algn="ctr"/>
            <a:r>
              <a:rPr sz="1300" b="1" i="0">
                <a:solidFill>
                  <a:srgbClr val="FFFFFF"/>
                </a:solidFill>
                <a:latin typeface="Calibri"/>
              </a:rPr>
              <a:t>5</a:t>
            </a:r>
          </a:p>
        </p:txBody>
      </p:sp>
      <p:sp>
        <p:nvSpPr>
          <p:cNvPr id="28" name="TextBox 27"/>
          <p:cNvSpPr txBox="1"/>
          <p:nvPr/>
        </p:nvSpPr>
        <p:spPr>
          <a:xfrm>
            <a:off x="1042415" y="5468112"/>
            <a:ext cx="4754880" cy="274320"/>
          </a:xfrm>
          <a:prstGeom prst="rect">
            <a:avLst/>
          </a:prstGeom>
          <a:noFill/>
        </p:spPr>
        <p:txBody>
          <a:bodyPr wrap="square">
            <a:spAutoFit/>
          </a:bodyPr>
          <a:lstStyle/>
          <a:p>
            <a:pPr algn="l"/>
            <a:r>
              <a:rPr sz="1300" b="1" i="0">
                <a:solidFill>
                  <a:srgbClr val="1A1A1A"/>
                </a:solidFill>
                <a:latin typeface="Calibri"/>
              </a:rPr>
              <a:t>Select states</a:t>
            </a:r>
          </a:p>
        </p:txBody>
      </p:sp>
      <p:sp>
        <p:nvSpPr>
          <p:cNvPr id="29" name="TextBox 28"/>
          <p:cNvSpPr txBox="1"/>
          <p:nvPr/>
        </p:nvSpPr>
        <p:spPr>
          <a:xfrm>
            <a:off x="1042415" y="5760720"/>
            <a:ext cx="4754880" cy="530352"/>
          </a:xfrm>
          <a:prstGeom prst="rect">
            <a:avLst/>
          </a:prstGeom>
          <a:noFill/>
        </p:spPr>
        <p:txBody>
          <a:bodyPr wrap="square">
            <a:spAutoFit/>
          </a:bodyPr>
          <a:lstStyle/>
          <a:p>
            <a:pPr algn="l"/>
            <a:r>
              <a:rPr sz="1150" b="0" i="0">
                <a:solidFill>
                  <a:srgbClr val="727272"/>
                </a:solidFill>
                <a:latin typeface="Calibri"/>
              </a:rPr>
              <a:t>Match hospital count to ACEP registry
Buy minimum states - let power drive selection</a:t>
            </a:r>
          </a:p>
        </p:txBody>
      </p:sp>
      <p:sp>
        <p:nvSpPr>
          <p:cNvPr id="30" name="Rectangle 29"/>
          <p:cNvSpPr/>
          <p:nvPr/>
        </p:nvSpPr>
        <p:spPr>
          <a:xfrm>
            <a:off x="6263640" y="1005840"/>
            <a:ext cx="5577840" cy="5440680"/>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1078992"/>
            <a:ext cx="5212080" cy="329184"/>
          </a:xfrm>
          <a:prstGeom prst="rect">
            <a:avLst/>
          </a:prstGeom>
          <a:noFill/>
        </p:spPr>
        <p:txBody>
          <a:bodyPr wrap="square">
            <a:spAutoFit/>
          </a:bodyPr>
          <a:lstStyle/>
          <a:p>
            <a:pPr algn="l"/>
            <a:r>
              <a:rPr sz="1400" b="1" i="0">
                <a:solidFill>
                  <a:srgbClr val="1E4050"/>
                </a:solidFill>
                <a:latin typeface="Calibri"/>
              </a:rPr>
              <a:t>State Selection Strategy</a:t>
            </a:r>
          </a:p>
        </p:txBody>
      </p:sp>
      <p:sp>
        <p:nvSpPr>
          <p:cNvPr id="32" name="Rectangle 31"/>
          <p:cNvSpPr/>
          <p:nvPr/>
        </p:nvSpPr>
        <p:spPr>
          <a:xfrm>
            <a:off x="6263640" y="1508760"/>
            <a:ext cx="64008" cy="1078992"/>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1563624"/>
            <a:ext cx="5074920" cy="274320"/>
          </a:xfrm>
          <a:prstGeom prst="rect">
            <a:avLst/>
          </a:prstGeom>
          <a:noFill/>
        </p:spPr>
        <p:txBody>
          <a:bodyPr wrap="square">
            <a:spAutoFit/>
          </a:bodyPr>
          <a:lstStyle/>
          <a:p>
            <a:pPr algn="l"/>
            <a:r>
              <a:rPr sz="1300" b="1" i="0">
                <a:solidFill>
                  <a:srgbClr val="2B6C7C"/>
                </a:solidFill>
                <a:latin typeface="Calibri"/>
              </a:rPr>
              <a:t>GED Density + Diversity</a:t>
            </a:r>
          </a:p>
        </p:txBody>
      </p:sp>
      <p:sp>
        <p:nvSpPr>
          <p:cNvPr id="34" name="TextBox 33"/>
          <p:cNvSpPr txBox="1"/>
          <p:nvPr/>
        </p:nvSpPr>
        <p:spPr>
          <a:xfrm>
            <a:off x="6492240" y="1874519"/>
            <a:ext cx="5074920" cy="786384"/>
          </a:xfrm>
          <a:prstGeom prst="rect">
            <a:avLst/>
          </a:prstGeom>
          <a:noFill/>
        </p:spPr>
        <p:txBody>
          <a:bodyPr wrap="square">
            <a:spAutoFit/>
          </a:bodyPr>
          <a:lstStyle/>
          <a:p>
            <a:pPr algn="l"/>
            <a:r>
              <a:rPr sz="1200" b="0" i="0">
                <a:solidFill>
                  <a:srgbClr val="383838"/>
                </a:solidFill>
                <a:latin typeface="Calibri"/>
              </a:rPr>
              <a:t>NY / NJ / MA / CA
High GED count, racially diverse, large sample sizes</a:t>
            </a:r>
          </a:p>
        </p:txBody>
      </p:sp>
      <p:sp>
        <p:nvSpPr>
          <p:cNvPr id="35" name="Rectangle 34"/>
          <p:cNvSpPr/>
          <p:nvPr/>
        </p:nvSpPr>
        <p:spPr>
          <a:xfrm>
            <a:off x="6263640" y="2715768"/>
            <a:ext cx="64008" cy="1078992"/>
          </a:xfrm>
          <a:prstGeom prst="rect">
            <a:avLst/>
          </a:prstGeom>
          <a:solidFill>
            <a:srgbClr val="727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2770632"/>
            <a:ext cx="5074920" cy="274320"/>
          </a:xfrm>
          <a:prstGeom prst="rect">
            <a:avLst/>
          </a:prstGeom>
          <a:noFill/>
        </p:spPr>
        <p:txBody>
          <a:bodyPr wrap="square">
            <a:spAutoFit/>
          </a:bodyPr>
          <a:lstStyle/>
          <a:p>
            <a:pPr algn="l"/>
            <a:r>
              <a:rPr sz="1300" b="1" i="0">
                <a:solidFill>
                  <a:srgbClr val="1E4050"/>
                </a:solidFill>
                <a:latin typeface="Calibri"/>
              </a:rPr>
              <a:t>Generalizability</a:t>
            </a:r>
          </a:p>
        </p:txBody>
      </p:sp>
      <p:sp>
        <p:nvSpPr>
          <p:cNvPr id="37" name="TextBox 36"/>
          <p:cNvSpPr txBox="1"/>
          <p:nvPr/>
        </p:nvSpPr>
        <p:spPr>
          <a:xfrm>
            <a:off x="6492240" y="3081527"/>
            <a:ext cx="5074920" cy="786384"/>
          </a:xfrm>
          <a:prstGeom prst="rect">
            <a:avLst/>
          </a:prstGeom>
          <a:noFill/>
        </p:spPr>
        <p:txBody>
          <a:bodyPr wrap="square">
            <a:spAutoFit/>
          </a:bodyPr>
          <a:lstStyle/>
          <a:p>
            <a:pPr algn="l"/>
            <a:r>
              <a:rPr sz="1200" b="0" i="0">
                <a:solidFill>
                  <a:srgbClr val="383838"/>
                </a:solidFill>
                <a:latin typeface="Calibri"/>
              </a:rPr>
              <a:t>Add KY or WV (rural)
GED literature is urban-dominated - rural gap worth filling</a:t>
            </a:r>
          </a:p>
        </p:txBody>
      </p:sp>
      <p:sp>
        <p:nvSpPr>
          <p:cNvPr id="38" name="Rectangle 37"/>
          <p:cNvSpPr/>
          <p:nvPr/>
        </p:nvSpPr>
        <p:spPr>
          <a:xfrm>
            <a:off x="6263640" y="3922776"/>
            <a:ext cx="64008" cy="1078992"/>
          </a:xfrm>
          <a:prstGeom prst="rect">
            <a:avLst/>
          </a:prstGeom>
          <a:solidFill>
            <a:srgbClr val="727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92240" y="3977639"/>
            <a:ext cx="5074920" cy="274320"/>
          </a:xfrm>
          <a:prstGeom prst="rect">
            <a:avLst/>
          </a:prstGeom>
          <a:noFill/>
        </p:spPr>
        <p:txBody>
          <a:bodyPr wrap="square">
            <a:spAutoFit/>
          </a:bodyPr>
          <a:lstStyle/>
          <a:p>
            <a:pPr algn="l"/>
            <a:r>
              <a:rPr sz="1300" b="1" i="0">
                <a:solidFill>
                  <a:srgbClr val="1E4050"/>
                </a:solidFill>
                <a:latin typeface="Calibri"/>
              </a:rPr>
              <a:t>Temporal Coverage</a:t>
            </a:r>
          </a:p>
        </p:txBody>
      </p:sp>
      <p:sp>
        <p:nvSpPr>
          <p:cNvPr id="40" name="TextBox 39"/>
          <p:cNvSpPr txBox="1"/>
          <p:nvPr/>
        </p:nvSpPr>
        <p:spPr>
          <a:xfrm>
            <a:off x="6492240" y="4288536"/>
            <a:ext cx="5074920" cy="646331"/>
          </a:xfrm>
          <a:prstGeom prst="rect">
            <a:avLst/>
          </a:prstGeom>
          <a:noFill/>
        </p:spPr>
        <p:txBody>
          <a:bodyPr wrap="square">
            <a:spAutoFit/>
          </a:bodyPr>
          <a:lstStyle/>
          <a:p>
            <a:pPr algn="l"/>
            <a:r>
              <a:rPr sz="1200" b="0" i="0" dirty="0">
                <a:solidFill>
                  <a:srgbClr val="383838"/>
                </a:solidFill>
                <a:latin typeface="Calibri"/>
              </a:rPr>
              <a:t>201</a:t>
            </a:r>
            <a:r>
              <a:rPr lang="en-US" sz="1200" b="0" i="0" dirty="0">
                <a:solidFill>
                  <a:srgbClr val="383838"/>
                </a:solidFill>
                <a:latin typeface="Calibri"/>
              </a:rPr>
              <a:t>6</a:t>
            </a:r>
            <a:r>
              <a:rPr sz="1200" b="0" i="0" dirty="0">
                <a:solidFill>
                  <a:srgbClr val="383838"/>
                </a:solidFill>
                <a:latin typeface="Calibri"/>
              </a:rPr>
              <a:t>-202</a:t>
            </a:r>
            <a:r>
              <a:rPr lang="en-US" sz="1200" b="0" i="0" dirty="0">
                <a:solidFill>
                  <a:srgbClr val="383838"/>
                </a:solidFill>
                <a:latin typeface="Calibri"/>
              </a:rPr>
              <a:t>4</a:t>
            </a:r>
            <a:r>
              <a:rPr sz="1200" b="0" i="0" dirty="0">
                <a:solidFill>
                  <a:srgbClr val="383838"/>
                </a:solidFill>
                <a:latin typeface="Calibri"/>
              </a:rPr>
              <a:t>
Pre-accreditation baseline 201</a:t>
            </a:r>
            <a:r>
              <a:rPr lang="en-US" sz="1200" b="0" i="0" dirty="0">
                <a:solidFill>
                  <a:srgbClr val="383838"/>
                </a:solidFill>
                <a:latin typeface="Calibri"/>
              </a:rPr>
              <a:t>6-17</a:t>
            </a:r>
            <a:r>
              <a:rPr sz="1200" b="0" i="0" dirty="0">
                <a:solidFill>
                  <a:srgbClr val="383838"/>
                </a:solidFill>
                <a:latin typeface="Calibri"/>
              </a:rPr>
              <a:t> + post follow-up
Captures </a:t>
            </a:r>
            <a:r>
              <a:rPr sz="1200" b="0" i="0" dirty="0" err="1">
                <a:solidFill>
                  <a:srgbClr val="383838"/>
                </a:solidFill>
                <a:latin typeface="Calibri"/>
              </a:rPr>
              <a:t>DiD</a:t>
            </a:r>
            <a:r>
              <a:rPr sz="1200" b="0" i="0" dirty="0">
                <a:solidFill>
                  <a:srgbClr val="383838"/>
                </a:solidFill>
                <a:latin typeface="Calibri"/>
              </a:rPr>
              <a:t> pre/post structure</a:t>
            </a:r>
          </a:p>
        </p:txBody>
      </p:sp>
      <p:sp>
        <p:nvSpPr>
          <p:cNvPr id="41" name="Rectangle 40"/>
          <p:cNvSpPr/>
          <p:nvPr/>
        </p:nvSpPr>
        <p:spPr>
          <a:xfrm>
            <a:off x="6263640" y="5129783"/>
            <a:ext cx="64008" cy="1078992"/>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92240" y="5184647"/>
            <a:ext cx="5074920" cy="274320"/>
          </a:xfrm>
          <a:prstGeom prst="rect">
            <a:avLst/>
          </a:prstGeom>
          <a:noFill/>
        </p:spPr>
        <p:txBody>
          <a:bodyPr wrap="square">
            <a:spAutoFit/>
          </a:bodyPr>
          <a:lstStyle/>
          <a:p>
            <a:pPr algn="l"/>
            <a:r>
              <a:rPr sz="1300" b="1" i="0">
                <a:solidFill>
                  <a:srgbClr val="7A4A15"/>
                </a:solidFill>
                <a:latin typeface="Calibri"/>
              </a:rPr>
              <a:t>Data Availability - Critical</a:t>
            </a:r>
          </a:p>
        </p:txBody>
      </p:sp>
      <p:sp>
        <p:nvSpPr>
          <p:cNvPr id="43" name="TextBox 42"/>
          <p:cNvSpPr txBox="1"/>
          <p:nvPr/>
        </p:nvSpPr>
        <p:spPr>
          <a:xfrm>
            <a:off x="6446520" y="5577840"/>
            <a:ext cx="5074920" cy="786384"/>
          </a:xfrm>
          <a:prstGeom prst="rect">
            <a:avLst/>
          </a:prstGeom>
          <a:noFill/>
        </p:spPr>
        <p:txBody>
          <a:bodyPr wrap="square">
            <a:spAutoFit/>
          </a:bodyPr>
          <a:lstStyle/>
          <a:p>
            <a:pPr algn="l"/>
            <a:r>
              <a:rPr sz="1200" b="0" i="0">
                <a:solidFill>
                  <a:srgbClr val="383838"/>
                </a:solidFill>
                <a:latin typeface="Calibri"/>
              </a:rPr>
              <a:t>Both SEDD and SID must participate
SEDD alone: lose all admitted patients + cannot calculate readmission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Q1 / GED Identification</a:t>
            </a:r>
          </a:p>
        </p:txBody>
      </p:sp>
      <p:sp>
        <p:nvSpPr>
          <p:cNvPr id="5" name="TextBox 4"/>
          <p:cNvSpPr txBox="1"/>
          <p:nvPr/>
        </p:nvSpPr>
        <p:spPr>
          <a:xfrm>
            <a:off x="457200" y="164592"/>
            <a:ext cx="10789920" cy="658368"/>
          </a:xfrm>
          <a:prstGeom prst="rect">
            <a:avLst/>
          </a:prstGeom>
          <a:noFill/>
        </p:spPr>
        <p:txBody>
          <a:bodyPr wrap="square">
            <a:spAutoFit/>
          </a:bodyPr>
          <a:lstStyle/>
          <a:p>
            <a:pPr algn="l"/>
            <a:r>
              <a:rPr sz="3200" b="1" i="0">
                <a:solidFill>
                  <a:srgbClr val="1E4050"/>
                </a:solidFill>
                <a:latin typeface="Calibri"/>
              </a:rPr>
              <a:t>Identifying GED vs Non-GED Encounters</a:t>
            </a:r>
          </a:p>
        </p:txBody>
      </p:sp>
      <p:sp>
        <p:nvSpPr>
          <p:cNvPr id="6" name="Rectangle 5"/>
          <p:cNvSpPr/>
          <p:nvPr/>
        </p:nvSpPr>
        <p:spPr>
          <a:xfrm>
            <a:off x="457200" y="886968"/>
            <a:ext cx="11274552" cy="36576"/>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2788920" cy="214884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05840"/>
            <a:ext cx="2788920" cy="365760"/>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216" y="1033271"/>
            <a:ext cx="2606039" cy="310896"/>
          </a:xfrm>
          <a:prstGeom prst="rect">
            <a:avLst/>
          </a:prstGeom>
          <a:noFill/>
        </p:spPr>
        <p:txBody>
          <a:bodyPr wrap="square">
            <a:spAutoFit/>
          </a:bodyPr>
          <a:lstStyle/>
          <a:p>
            <a:pPr algn="l"/>
            <a:r>
              <a:rPr sz="1200" b="1" i="0">
                <a:solidFill>
                  <a:srgbClr val="FFFFFF"/>
                </a:solidFill>
                <a:latin typeface="Calibri"/>
              </a:rPr>
              <a:t>ACEP GEDA Registry</a:t>
            </a:r>
          </a:p>
        </p:txBody>
      </p:sp>
      <p:sp>
        <p:nvSpPr>
          <p:cNvPr id="10" name="TextBox 9"/>
          <p:cNvSpPr txBox="1"/>
          <p:nvPr/>
        </p:nvSpPr>
        <p:spPr>
          <a:xfrm>
            <a:off x="585216" y="1444752"/>
            <a:ext cx="2606039" cy="1627632"/>
          </a:xfrm>
          <a:prstGeom prst="rect">
            <a:avLst/>
          </a:prstGeom>
          <a:noFill/>
        </p:spPr>
        <p:txBody>
          <a:bodyPr wrap="square">
            <a:spAutoFit/>
          </a:bodyPr>
          <a:lstStyle/>
          <a:p>
            <a:pPr algn="l"/>
            <a:r>
              <a:rPr sz="1250" b="0" i="0">
                <a:solidFill>
                  <a:srgbClr val="383838"/>
                </a:solidFill>
                <a:latin typeface="Calibri"/>
              </a:rPr>
              <a:t>Hospital name / address
Accreditation date
Level: Bronze / Silver / Gold</a:t>
            </a:r>
            <a:r>
              <a:rPr sz="1600" b="1" i="0" baseline="30000">
                <a:solidFill>
                  <a:srgbClr val="2B6C7C"/>
                </a:solidFill>
                <a:latin typeface="Calibri"/>
              </a:rPr>
              <a:t>¹</a:t>
            </a:r>
          </a:p>
        </p:txBody>
      </p:sp>
      <p:sp>
        <p:nvSpPr>
          <p:cNvPr id="11" name="TextBox 10"/>
          <p:cNvSpPr txBox="1"/>
          <p:nvPr/>
        </p:nvSpPr>
        <p:spPr>
          <a:xfrm>
            <a:off x="3255263" y="1755648"/>
            <a:ext cx="91440" cy="365760"/>
          </a:xfrm>
          <a:prstGeom prst="rect">
            <a:avLst/>
          </a:prstGeom>
          <a:noFill/>
        </p:spPr>
        <p:txBody>
          <a:bodyPr wrap="square">
            <a:spAutoFit/>
          </a:bodyPr>
          <a:lstStyle/>
          <a:p>
            <a:pPr algn="ctr"/>
            <a:r>
              <a:rPr sz="1600" b="1" i="0">
                <a:solidFill>
                  <a:srgbClr val="727272"/>
                </a:solidFill>
                <a:latin typeface="Calibri"/>
              </a:rPr>
              <a:t>&gt;</a:t>
            </a:r>
          </a:p>
        </p:txBody>
      </p:sp>
      <p:sp>
        <p:nvSpPr>
          <p:cNvPr id="12" name="Rectangle 11"/>
          <p:cNvSpPr/>
          <p:nvPr/>
        </p:nvSpPr>
        <p:spPr>
          <a:xfrm>
            <a:off x="3310127" y="1005840"/>
            <a:ext cx="2788920" cy="214884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10127" y="1005840"/>
            <a:ext cx="2788920" cy="365760"/>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38144" y="1033271"/>
            <a:ext cx="2606039" cy="310896"/>
          </a:xfrm>
          <a:prstGeom prst="rect">
            <a:avLst/>
          </a:prstGeom>
          <a:noFill/>
        </p:spPr>
        <p:txBody>
          <a:bodyPr wrap="square">
            <a:spAutoFit/>
          </a:bodyPr>
          <a:lstStyle/>
          <a:p>
            <a:pPr algn="l"/>
            <a:r>
              <a:rPr sz="1200" b="1" i="0">
                <a:solidFill>
                  <a:srgbClr val="FFFFFF"/>
                </a:solidFill>
                <a:latin typeface="Calibri"/>
              </a:rPr>
              <a:t>AHA Annual Survey DB</a:t>
            </a:r>
          </a:p>
        </p:txBody>
      </p:sp>
      <p:sp>
        <p:nvSpPr>
          <p:cNvPr id="15" name="TextBox 14"/>
          <p:cNvSpPr txBox="1"/>
          <p:nvPr/>
        </p:nvSpPr>
        <p:spPr>
          <a:xfrm>
            <a:off x="3438144" y="1444752"/>
            <a:ext cx="2606039" cy="1627632"/>
          </a:xfrm>
          <a:prstGeom prst="rect">
            <a:avLst/>
          </a:prstGeom>
          <a:noFill/>
        </p:spPr>
        <p:txBody>
          <a:bodyPr wrap="square">
            <a:spAutoFit/>
          </a:bodyPr>
          <a:lstStyle/>
          <a:p>
            <a:pPr algn="l"/>
            <a:r>
              <a:rPr sz="1250" b="0" i="0">
                <a:solidFill>
                  <a:srgbClr val="383838"/>
                </a:solidFill>
                <a:latin typeface="Calibri"/>
              </a:rPr>
              <a:t>CMS provider number (CCN)
Hospital characteristics
Urbanicity, teaching status</a:t>
            </a:r>
            <a:r>
              <a:rPr sz="1600" b="1" i="0" baseline="30000">
                <a:solidFill>
                  <a:srgbClr val="2B6C7C"/>
                </a:solidFill>
                <a:latin typeface="Calibri"/>
              </a:rPr>
              <a:t>⁵</a:t>
            </a:r>
          </a:p>
        </p:txBody>
      </p:sp>
      <p:sp>
        <p:nvSpPr>
          <p:cNvPr id="16" name="TextBox 15"/>
          <p:cNvSpPr txBox="1"/>
          <p:nvPr/>
        </p:nvSpPr>
        <p:spPr>
          <a:xfrm>
            <a:off x="6108192" y="1755648"/>
            <a:ext cx="91440" cy="365760"/>
          </a:xfrm>
          <a:prstGeom prst="rect">
            <a:avLst/>
          </a:prstGeom>
          <a:noFill/>
        </p:spPr>
        <p:txBody>
          <a:bodyPr wrap="square">
            <a:spAutoFit/>
          </a:bodyPr>
          <a:lstStyle/>
          <a:p>
            <a:pPr algn="ctr"/>
            <a:r>
              <a:rPr sz="1600" b="1" i="0">
                <a:solidFill>
                  <a:srgbClr val="727272"/>
                </a:solidFill>
                <a:latin typeface="Calibri"/>
              </a:rPr>
              <a:t>&gt;</a:t>
            </a:r>
          </a:p>
        </p:txBody>
      </p:sp>
      <p:sp>
        <p:nvSpPr>
          <p:cNvPr id="17" name="Rectangle 16"/>
          <p:cNvSpPr/>
          <p:nvPr/>
        </p:nvSpPr>
        <p:spPr>
          <a:xfrm>
            <a:off x="6163055" y="1005840"/>
            <a:ext cx="2788920" cy="214884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63055" y="1005840"/>
            <a:ext cx="2788920" cy="365760"/>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91071" y="1033271"/>
            <a:ext cx="2606039" cy="310896"/>
          </a:xfrm>
          <a:prstGeom prst="rect">
            <a:avLst/>
          </a:prstGeom>
          <a:noFill/>
        </p:spPr>
        <p:txBody>
          <a:bodyPr wrap="square">
            <a:spAutoFit/>
          </a:bodyPr>
          <a:lstStyle/>
          <a:p>
            <a:pPr algn="l"/>
            <a:r>
              <a:rPr sz="1200" b="1" i="0">
                <a:solidFill>
                  <a:srgbClr val="FFFFFF"/>
                </a:solidFill>
                <a:latin typeface="Calibri"/>
              </a:rPr>
              <a:t>HCUP Hospital Identifier</a:t>
            </a:r>
          </a:p>
        </p:txBody>
      </p:sp>
      <p:sp>
        <p:nvSpPr>
          <p:cNvPr id="20" name="TextBox 19"/>
          <p:cNvSpPr txBox="1"/>
          <p:nvPr/>
        </p:nvSpPr>
        <p:spPr>
          <a:xfrm>
            <a:off x="6291071" y="1444752"/>
            <a:ext cx="2606039" cy="1627632"/>
          </a:xfrm>
          <a:prstGeom prst="rect">
            <a:avLst/>
          </a:prstGeom>
          <a:noFill/>
        </p:spPr>
        <p:txBody>
          <a:bodyPr wrap="square">
            <a:spAutoFit/>
          </a:bodyPr>
          <a:lstStyle/>
          <a:p>
            <a:pPr algn="l"/>
            <a:r>
              <a:rPr sz="1250" b="0" i="0">
                <a:solidFill>
                  <a:srgbClr val="383838"/>
                </a:solidFill>
                <a:latin typeface="Calibri"/>
              </a:rPr>
              <a:t>Match via CMS CCN
Probabilistic name+address
Manual review for gaps</a:t>
            </a:r>
            <a:r>
              <a:rPr sz="1600" b="1" i="0" baseline="30000">
                <a:solidFill>
                  <a:srgbClr val="2B6C7C"/>
                </a:solidFill>
                <a:latin typeface="Calibri"/>
              </a:rPr>
              <a:t>⁴</a:t>
            </a:r>
          </a:p>
        </p:txBody>
      </p:sp>
      <p:sp>
        <p:nvSpPr>
          <p:cNvPr id="21" name="TextBox 20"/>
          <p:cNvSpPr txBox="1"/>
          <p:nvPr/>
        </p:nvSpPr>
        <p:spPr>
          <a:xfrm>
            <a:off x="8961119" y="1755648"/>
            <a:ext cx="91440" cy="365760"/>
          </a:xfrm>
          <a:prstGeom prst="rect">
            <a:avLst/>
          </a:prstGeom>
          <a:noFill/>
        </p:spPr>
        <p:txBody>
          <a:bodyPr wrap="square">
            <a:spAutoFit/>
          </a:bodyPr>
          <a:lstStyle/>
          <a:p>
            <a:pPr algn="ctr"/>
            <a:r>
              <a:rPr sz="1600" b="1" i="0">
                <a:solidFill>
                  <a:srgbClr val="727272"/>
                </a:solidFill>
                <a:latin typeface="Calibri"/>
              </a:rPr>
              <a:t>&gt;</a:t>
            </a:r>
          </a:p>
        </p:txBody>
      </p:sp>
      <p:sp>
        <p:nvSpPr>
          <p:cNvPr id="22" name="Rectangle 21"/>
          <p:cNvSpPr/>
          <p:nvPr/>
        </p:nvSpPr>
        <p:spPr>
          <a:xfrm>
            <a:off x="9015984" y="1005840"/>
            <a:ext cx="2788920" cy="2148840"/>
          </a:xfrm>
          <a:prstGeom prst="rect">
            <a:avLst/>
          </a:prstGeom>
          <a:solidFill>
            <a:srgbClr val="E6F4EC"/>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15984" y="1005840"/>
            <a:ext cx="2788920" cy="365760"/>
          </a:xfrm>
          <a:prstGeom prst="rect">
            <a:avLst/>
          </a:prstGeom>
          <a:solidFill>
            <a:srgbClr val="246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0" y="1033271"/>
            <a:ext cx="2606039" cy="310896"/>
          </a:xfrm>
          <a:prstGeom prst="rect">
            <a:avLst/>
          </a:prstGeom>
          <a:noFill/>
        </p:spPr>
        <p:txBody>
          <a:bodyPr wrap="square">
            <a:spAutoFit/>
          </a:bodyPr>
          <a:lstStyle/>
          <a:p>
            <a:pPr algn="l"/>
            <a:r>
              <a:rPr sz="1200" b="1" i="0">
                <a:solidFill>
                  <a:srgbClr val="FFFFFF"/>
                </a:solidFill>
                <a:latin typeface="Calibri"/>
              </a:rPr>
              <a:t>Time-Varying GED Flag</a:t>
            </a:r>
          </a:p>
        </p:txBody>
      </p:sp>
      <p:sp>
        <p:nvSpPr>
          <p:cNvPr id="25" name="TextBox 24"/>
          <p:cNvSpPr txBox="1"/>
          <p:nvPr/>
        </p:nvSpPr>
        <p:spPr>
          <a:xfrm>
            <a:off x="9144000" y="1444752"/>
            <a:ext cx="2606039" cy="1627632"/>
          </a:xfrm>
          <a:prstGeom prst="rect">
            <a:avLst/>
          </a:prstGeom>
          <a:noFill/>
        </p:spPr>
        <p:txBody>
          <a:bodyPr wrap="square">
            <a:spAutoFit/>
          </a:bodyPr>
          <a:lstStyle/>
          <a:p>
            <a:pPr algn="l"/>
            <a:r>
              <a:rPr sz="1250" b="0" i="0">
                <a:solidFill>
                  <a:srgbClr val="383838"/>
                </a:solidFill>
                <a:latin typeface="Calibri"/>
              </a:rPr>
              <a:t>GED=0 before accreditation date
GED=1 after accreditation date
Creates pre/post DiD structure</a:t>
            </a:r>
          </a:p>
        </p:txBody>
      </p:sp>
      <p:sp>
        <p:nvSpPr>
          <p:cNvPr id="26" name="Rectangle 25"/>
          <p:cNvSpPr/>
          <p:nvPr/>
        </p:nvSpPr>
        <p:spPr>
          <a:xfrm>
            <a:off x="457200" y="3337560"/>
            <a:ext cx="5623560" cy="129844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3337560"/>
            <a:ext cx="64008" cy="1298448"/>
          </a:xfrm>
          <a:prstGeom prst="rect">
            <a:avLst/>
          </a:prstGeom>
          <a:solidFill>
            <a:srgbClr val="7A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656" y="3429000"/>
            <a:ext cx="5349240" cy="292608"/>
          </a:xfrm>
          <a:prstGeom prst="rect">
            <a:avLst/>
          </a:prstGeom>
          <a:noFill/>
        </p:spPr>
        <p:txBody>
          <a:bodyPr wrap="square">
            <a:spAutoFit/>
          </a:bodyPr>
          <a:lstStyle/>
          <a:p>
            <a:pPr algn="l"/>
            <a:r>
              <a:rPr sz="1300" b="1" i="0">
                <a:solidFill>
                  <a:srgbClr val="7A2222"/>
                </a:solidFill>
                <a:latin typeface="Calibri"/>
              </a:rPr>
              <a:t>Not in HCUP</a:t>
            </a:r>
          </a:p>
        </p:txBody>
      </p:sp>
      <p:sp>
        <p:nvSpPr>
          <p:cNvPr id="29" name="TextBox 28"/>
          <p:cNvSpPr txBox="1"/>
          <p:nvPr/>
        </p:nvSpPr>
        <p:spPr>
          <a:xfrm>
            <a:off x="676656" y="3758184"/>
            <a:ext cx="5349240" cy="822960"/>
          </a:xfrm>
          <a:prstGeom prst="rect">
            <a:avLst/>
          </a:prstGeom>
          <a:noFill/>
        </p:spPr>
        <p:txBody>
          <a:bodyPr wrap="square">
            <a:spAutoFit/>
          </a:bodyPr>
          <a:lstStyle/>
          <a:p>
            <a:pPr algn="l"/>
            <a:r>
              <a:rPr sz="1250" b="0" i="0">
                <a:solidFill>
                  <a:srgbClr val="383838"/>
                </a:solidFill>
                <a:latin typeface="Calibri"/>
              </a:rPr>
              <a:t>GED status must be built from external sources - no flag exists in raw HCUP data</a:t>
            </a:r>
          </a:p>
        </p:txBody>
      </p:sp>
      <p:sp>
        <p:nvSpPr>
          <p:cNvPr id="30" name="Rectangle 29"/>
          <p:cNvSpPr/>
          <p:nvPr/>
        </p:nvSpPr>
        <p:spPr>
          <a:xfrm>
            <a:off x="6199632" y="3337560"/>
            <a:ext cx="5623560" cy="129844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99632" y="3337560"/>
            <a:ext cx="64008" cy="129844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19088" y="3429000"/>
            <a:ext cx="5349240" cy="292608"/>
          </a:xfrm>
          <a:prstGeom prst="rect">
            <a:avLst/>
          </a:prstGeom>
          <a:noFill/>
        </p:spPr>
        <p:txBody>
          <a:bodyPr wrap="square">
            <a:spAutoFit/>
          </a:bodyPr>
          <a:lstStyle/>
          <a:p>
            <a:pPr algn="l"/>
            <a:r>
              <a:rPr sz="1300" b="1" i="0">
                <a:solidFill>
                  <a:srgbClr val="2B6C7C"/>
                </a:solidFill>
                <a:latin typeface="Calibri"/>
              </a:rPr>
              <a:t>Time-varying is critical</a:t>
            </a:r>
          </a:p>
        </p:txBody>
      </p:sp>
      <p:sp>
        <p:nvSpPr>
          <p:cNvPr id="33" name="TextBox 32"/>
          <p:cNvSpPr txBox="1"/>
          <p:nvPr/>
        </p:nvSpPr>
        <p:spPr>
          <a:xfrm>
            <a:off x="6419088" y="3758184"/>
            <a:ext cx="5349240" cy="822960"/>
          </a:xfrm>
          <a:prstGeom prst="rect">
            <a:avLst/>
          </a:prstGeom>
          <a:noFill/>
        </p:spPr>
        <p:txBody>
          <a:bodyPr wrap="square">
            <a:spAutoFit/>
          </a:bodyPr>
          <a:lstStyle/>
          <a:p>
            <a:pPr algn="l"/>
            <a:r>
              <a:rPr sz="1250" b="0" i="0">
                <a:solidFill>
                  <a:srgbClr val="383838"/>
                </a:solidFill>
                <a:latin typeface="Calibri"/>
              </a:rPr>
              <a:t>Non-GED before accreditation date, GED after - creates the pre/post structure needed for DiD causal inference</a:t>
            </a:r>
          </a:p>
        </p:txBody>
      </p:sp>
      <p:sp>
        <p:nvSpPr>
          <p:cNvPr id="34" name="Rectangle 33"/>
          <p:cNvSpPr/>
          <p:nvPr/>
        </p:nvSpPr>
        <p:spPr>
          <a:xfrm>
            <a:off x="457200" y="4754879"/>
            <a:ext cx="5623560" cy="129844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754879"/>
            <a:ext cx="64008" cy="1298448"/>
          </a:xfrm>
          <a:prstGeom prst="rect">
            <a:avLst/>
          </a:prstGeom>
          <a:solidFill>
            <a:srgbClr val="246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6656" y="4846319"/>
            <a:ext cx="5349240" cy="292608"/>
          </a:xfrm>
          <a:prstGeom prst="rect">
            <a:avLst/>
          </a:prstGeom>
          <a:noFill/>
        </p:spPr>
        <p:txBody>
          <a:bodyPr wrap="square">
            <a:spAutoFit/>
          </a:bodyPr>
          <a:lstStyle/>
          <a:p>
            <a:pPr algn="l"/>
            <a:r>
              <a:rPr sz="1300" b="1" i="0">
                <a:solidFill>
                  <a:srgbClr val="246245"/>
                </a:solidFill>
                <a:latin typeface="Calibri"/>
              </a:rPr>
              <a:t>Validate the linkage</a:t>
            </a:r>
          </a:p>
        </p:txBody>
      </p:sp>
      <p:sp>
        <p:nvSpPr>
          <p:cNvPr id="37" name="TextBox 36"/>
          <p:cNvSpPr txBox="1"/>
          <p:nvPr/>
        </p:nvSpPr>
        <p:spPr>
          <a:xfrm>
            <a:off x="676656" y="5175503"/>
            <a:ext cx="5349240" cy="822960"/>
          </a:xfrm>
          <a:prstGeom prst="rect">
            <a:avLst/>
          </a:prstGeom>
          <a:noFill/>
        </p:spPr>
        <p:txBody>
          <a:bodyPr wrap="square">
            <a:spAutoFit/>
          </a:bodyPr>
          <a:lstStyle/>
          <a:p>
            <a:pPr algn="l"/>
            <a:r>
              <a:rPr sz="1250" b="0" i="0">
                <a:solidFill>
                  <a:srgbClr val="383838"/>
                </a:solidFill>
                <a:latin typeface="Calibri"/>
              </a:rPr>
              <a:t>GED hospitals should be urban, academic, high geriatric volume - check internally and against published state counts</a:t>
            </a:r>
          </a:p>
        </p:txBody>
      </p:sp>
      <p:sp>
        <p:nvSpPr>
          <p:cNvPr id="38" name="Rectangle 37"/>
          <p:cNvSpPr/>
          <p:nvPr/>
        </p:nvSpPr>
        <p:spPr>
          <a:xfrm>
            <a:off x="6199632" y="4754879"/>
            <a:ext cx="5623560" cy="1298448"/>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99632" y="4754879"/>
            <a:ext cx="64008" cy="129844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19088" y="4846319"/>
            <a:ext cx="5349240" cy="292608"/>
          </a:xfrm>
          <a:prstGeom prst="rect">
            <a:avLst/>
          </a:prstGeom>
          <a:noFill/>
        </p:spPr>
        <p:txBody>
          <a:bodyPr wrap="square">
            <a:spAutoFit/>
          </a:bodyPr>
          <a:lstStyle/>
          <a:p>
            <a:pPr algn="l"/>
            <a:r>
              <a:rPr sz="1300" b="1" i="0">
                <a:solidFill>
                  <a:srgbClr val="7A4A15"/>
                </a:solidFill>
                <a:latin typeface="Calibri"/>
              </a:rPr>
              <a:t>Sensitivity analyses</a:t>
            </a:r>
          </a:p>
        </p:txBody>
      </p:sp>
      <p:sp>
        <p:nvSpPr>
          <p:cNvPr id="41" name="TextBox 40"/>
          <p:cNvSpPr txBox="1"/>
          <p:nvPr/>
        </p:nvSpPr>
        <p:spPr>
          <a:xfrm>
            <a:off x="6419088" y="5175503"/>
            <a:ext cx="5349240" cy="822960"/>
          </a:xfrm>
          <a:prstGeom prst="rect">
            <a:avLst/>
          </a:prstGeom>
          <a:noFill/>
        </p:spPr>
        <p:txBody>
          <a:bodyPr wrap="square">
            <a:spAutoFit/>
          </a:bodyPr>
          <a:lstStyle/>
          <a:p>
            <a:pPr algn="l"/>
            <a:r>
              <a:rPr sz="1250" b="0" i="0">
                <a:solidFill>
                  <a:srgbClr val="383838"/>
                </a:solidFill>
                <a:latin typeface="Calibri"/>
              </a:rPr>
              <a:t>Exact CMS matches only / separate Bronze/Silver/Gold / exclude hospitals that converted mid-study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Q1 / Outcomes</a:t>
            </a:r>
          </a:p>
        </p:txBody>
      </p:sp>
      <p:sp>
        <p:nvSpPr>
          <p:cNvPr id="5" name="TextBox 4"/>
          <p:cNvSpPr txBox="1"/>
          <p:nvPr/>
        </p:nvSpPr>
        <p:spPr>
          <a:xfrm>
            <a:off x="457200" y="164592"/>
            <a:ext cx="10789920" cy="658368"/>
          </a:xfrm>
          <a:prstGeom prst="rect">
            <a:avLst/>
          </a:prstGeom>
          <a:noFill/>
        </p:spPr>
        <p:txBody>
          <a:bodyPr wrap="square">
            <a:spAutoFit/>
          </a:bodyPr>
          <a:lstStyle/>
          <a:p>
            <a:pPr algn="l"/>
            <a:r>
              <a:rPr sz="3200" b="1" i="0">
                <a:solidFill>
                  <a:srgbClr val="1E4050"/>
                </a:solidFill>
                <a:latin typeface="Calibri"/>
              </a:rPr>
              <a:t>Outcomes - Prioritized &amp; Operationalized</a:t>
            </a:r>
          </a:p>
        </p:txBody>
      </p:sp>
      <p:sp>
        <p:nvSpPr>
          <p:cNvPr id="6" name="Rectangle 5"/>
          <p:cNvSpPr/>
          <p:nvPr/>
        </p:nvSpPr>
        <p:spPr>
          <a:xfrm>
            <a:off x="457200" y="886968"/>
            <a:ext cx="11274552" cy="36576"/>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3739896" cy="544068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05840"/>
            <a:ext cx="3739896" cy="38404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216" y="1042415"/>
            <a:ext cx="3538727" cy="310896"/>
          </a:xfrm>
          <a:prstGeom prst="rect">
            <a:avLst/>
          </a:prstGeom>
          <a:noFill/>
        </p:spPr>
        <p:txBody>
          <a:bodyPr wrap="square">
            <a:spAutoFit/>
          </a:bodyPr>
          <a:lstStyle/>
          <a:p>
            <a:pPr algn="l"/>
            <a:r>
              <a:rPr sz="1200" b="1" i="0">
                <a:solidFill>
                  <a:srgbClr val="FFFFFF"/>
                </a:solidFill>
                <a:latin typeface="Calibri"/>
              </a:rPr>
              <a:t>Primary - Utilization &amp; Mortality</a:t>
            </a:r>
          </a:p>
        </p:txBody>
      </p:sp>
      <p:sp>
        <p:nvSpPr>
          <p:cNvPr id="10" name="TextBox 9"/>
          <p:cNvSpPr txBox="1"/>
          <p:nvPr/>
        </p:nvSpPr>
        <p:spPr>
          <a:xfrm>
            <a:off x="585216" y="1499616"/>
            <a:ext cx="3538727" cy="292608"/>
          </a:xfrm>
          <a:prstGeom prst="rect">
            <a:avLst/>
          </a:prstGeom>
          <a:noFill/>
        </p:spPr>
        <p:txBody>
          <a:bodyPr wrap="square">
            <a:spAutoFit/>
          </a:bodyPr>
          <a:lstStyle/>
          <a:p>
            <a:pPr algn="l"/>
            <a:r>
              <a:rPr sz="1300" b="1" i="0">
                <a:solidFill>
                  <a:srgbClr val="1E4050"/>
                </a:solidFill>
                <a:latin typeface="Calibri"/>
              </a:rPr>
              <a:t>30-day readmission</a:t>
            </a:r>
          </a:p>
        </p:txBody>
      </p:sp>
      <p:sp>
        <p:nvSpPr>
          <p:cNvPr id="11" name="TextBox 10"/>
          <p:cNvSpPr txBox="1"/>
          <p:nvPr/>
        </p:nvSpPr>
        <p:spPr>
          <a:xfrm>
            <a:off x="585216" y="1810512"/>
            <a:ext cx="3538727" cy="1261872"/>
          </a:xfrm>
          <a:prstGeom prst="rect">
            <a:avLst/>
          </a:prstGeom>
          <a:noFill/>
        </p:spPr>
        <p:txBody>
          <a:bodyPr wrap="square">
            <a:spAutoFit/>
          </a:bodyPr>
          <a:lstStyle/>
          <a:p>
            <a:pPr algn="l"/>
            <a:r>
              <a:rPr sz="1200" b="0" i="0">
                <a:solidFill>
                  <a:srgbClr val="383838"/>
                </a:solidFill>
                <a:latin typeface="Calibri"/>
              </a:rPr>
              <a:t>SID linkage - inpatient admit within 30 days
of index ED visit via VisitLink (within-state)</a:t>
            </a:r>
            <a:r>
              <a:rPr sz="1600" b="1" i="0" baseline="30000">
                <a:solidFill>
                  <a:srgbClr val="2B6C7C"/>
                </a:solidFill>
                <a:latin typeface="Calibri"/>
              </a:rPr>
              <a:t>⁴</a:t>
            </a:r>
          </a:p>
        </p:txBody>
      </p:sp>
      <p:sp>
        <p:nvSpPr>
          <p:cNvPr id="12" name="TextBox 11"/>
          <p:cNvSpPr txBox="1"/>
          <p:nvPr/>
        </p:nvSpPr>
        <p:spPr>
          <a:xfrm>
            <a:off x="585216" y="3118104"/>
            <a:ext cx="3538727" cy="292608"/>
          </a:xfrm>
          <a:prstGeom prst="rect">
            <a:avLst/>
          </a:prstGeom>
          <a:noFill/>
        </p:spPr>
        <p:txBody>
          <a:bodyPr wrap="square">
            <a:spAutoFit/>
          </a:bodyPr>
          <a:lstStyle/>
          <a:p>
            <a:pPr algn="l"/>
            <a:r>
              <a:rPr sz="1300" b="1" i="0">
                <a:solidFill>
                  <a:srgbClr val="1E4050"/>
                </a:solidFill>
                <a:latin typeface="Calibri"/>
              </a:rPr>
              <a:t>In-hospital mortality</a:t>
            </a:r>
          </a:p>
        </p:txBody>
      </p:sp>
      <p:sp>
        <p:nvSpPr>
          <p:cNvPr id="13" name="TextBox 12"/>
          <p:cNvSpPr txBox="1"/>
          <p:nvPr/>
        </p:nvSpPr>
        <p:spPr>
          <a:xfrm>
            <a:off x="585216" y="3429000"/>
            <a:ext cx="3538727" cy="1261872"/>
          </a:xfrm>
          <a:prstGeom prst="rect">
            <a:avLst/>
          </a:prstGeom>
          <a:noFill/>
        </p:spPr>
        <p:txBody>
          <a:bodyPr wrap="square">
            <a:spAutoFit/>
          </a:bodyPr>
          <a:lstStyle/>
          <a:p>
            <a:pPr algn="l"/>
            <a:r>
              <a:rPr sz="1200" b="0" i="0">
                <a:solidFill>
                  <a:srgbClr val="383838"/>
                </a:solidFill>
                <a:latin typeface="Calibri"/>
              </a:rPr>
              <a:t>SEDD/SID discharge status field = deceased</a:t>
            </a:r>
          </a:p>
        </p:txBody>
      </p:sp>
      <p:sp>
        <p:nvSpPr>
          <p:cNvPr id="14" name="TextBox 13"/>
          <p:cNvSpPr txBox="1"/>
          <p:nvPr/>
        </p:nvSpPr>
        <p:spPr>
          <a:xfrm>
            <a:off x="585216" y="4736592"/>
            <a:ext cx="3538727" cy="292608"/>
          </a:xfrm>
          <a:prstGeom prst="rect">
            <a:avLst/>
          </a:prstGeom>
          <a:noFill/>
        </p:spPr>
        <p:txBody>
          <a:bodyPr wrap="square">
            <a:spAutoFit/>
          </a:bodyPr>
          <a:lstStyle/>
          <a:p>
            <a:pPr algn="l"/>
            <a:r>
              <a:rPr sz="1300" b="1" i="0">
                <a:solidFill>
                  <a:srgbClr val="1E4050"/>
                </a:solidFill>
                <a:latin typeface="Calibri"/>
              </a:rPr>
              <a:t>ED-to-inpatient admission</a:t>
            </a:r>
          </a:p>
        </p:txBody>
      </p:sp>
      <p:sp>
        <p:nvSpPr>
          <p:cNvPr id="15" name="TextBox 14"/>
          <p:cNvSpPr txBox="1"/>
          <p:nvPr/>
        </p:nvSpPr>
        <p:spPr>
          <a:xfrm>
            <a:off x="585216" y="5047488"/>
            <a:ext cx="3538727" cy="1261872"/>
          </a:xfrm>
          <a:prstGeom prst="rect">
            <a:avLst/>
          </a:prstGeom>
          <a:noFill/>
        </p:spPr>
        <p:txBody>
          <a:bodyPr wrap="square">
            <a:spAutoFit/>
          </a:bodyPr>
          <a:lstStyle/>
          <a:p>
            <a:pPr algn="l"/>
            <a:r>
              <a:rPr sz="1200" b="0" i="0">
                <a:solidFill>
                  <a:srgbClr val="383838"/>
                </a:solidFill>
                <a:latin typeface="Calibri"/>
              </a:rPr>
              <a:t>Admission flag at index SEDD encounter</a:t>
            </a:r>
          </a:p>
        </p:txBody>
      </p:sp>
      <p:sp>
        <p:nvSpPr>
          <p:cNvPr id="16" name="Rectangle 15"/>
          <p:cNvSpPr/>
          <p:nvPr/>
        </p:nvSpPr>
        <p:spPr>
          <a:xfrm>
            <a:off x="4265676" y="1005840"/>
            <a:ext cx="3739896" cy="5440680"/>
          </a:xfrm>
          <a:prstGeom prst="rect">
            <a:avLst/>
          </a:prstGeom>
          <a:solidFill>
            <a:srgbClr val="EFF5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65676" y="1005840"/>
            <a:ext cx="3739896" cy="38404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93692" y="1042415"/>
            <a:ext cx="3538727" cy="310896"/>
          </a:xfrm>
          <a:prstGeom prst="rect">
            <a:avLst/>
          </a:prstGeom>
          <a:noFill/>
        </p:spPr>
        <p:txBody>
          <a:bodyPr wrap="square">
            <a:spAutoFit/>
          </a:bodyPr>
          <a:lstStyle/>
          <a:p>
            <a:pPr algn="l"/>
            <a:r>
              <a:rPr sz="1200" b="1" i="0">
                <a:solidFill>
                  <a:srgbClr val="FFFFFF"/>
                </a:solidFill>
                <a:latin typeface="Calibri"/>
              </a:rPr>
              <a:t>Secondary - Quality &amp; Safety</a:t>
            </a:r>
          </a:p>
        </p:txBody>
      </p:sp>
      <p:sp>
        <p:nvSpPr>
          <p:cNvPr id="19" name="TextBox 18"/>
          <p:cNvSpPr txBox="1"/>
          <p:nvPr/>
        </p:nvSpPr>
        <p:spPr>
          <a:xfrm>
            <a:off x="4393692" y="1499616"/>
            <a:ext cx="3538727" cy="292608"/>
          </a:xfrm>
          <a:prstGeom prst="rect">
            <a:avLst/>
          </a:prstGeom>
          <a:noFill/>
        </p:spPr>
        <p:txBody>
          <a:bodyPr wrap="square">
            <a:spAutoFit/>
          </a:bodyPr>
          <a:lstStyle/>
          <a:p>
            <a:pPr algn="l"/>
            <a:r>
              <a:rPr sz="1300" b="1" i="0">
                <a:solidFill>
                  <a:srgbClr val="2B6C7C"/>
                </a:solidFill>
                <a:latin typeface="Calibri"/>
              </a:rPr>
              <a:t>72-hour ED revisit</a:t>
            </a:r>
          </a:p>
        </p:txBody>
      </p:sp>
      <p:sp>
        <p:nvSpPr>
          <p:cNvPr id="20" name="TextBox 19"/>
          <p:cNvSpPr txBox="1"/>
          <p:nvPr/>
        </p:nvSpPr>
        <p:spPr>
          <a:xfrm>
            <a:off x="4393692" y="1810512"/>
            <a:ext cx="3538727" cy="1261872"/>
          </a:xfrm>
          <a:prstGeom prst="rect">
            <a:avLst/>
          </a:prstGeom>
          <a:noFill/>
        </p:spPr>
        <p:txBody>
          <a:bodyPr wrap="square">
            <a:spAutoFit/>
          </a:bodyPr>
          <a:lstStyle/>
          <a:p>
            <a:pPr algn="l"/>
            <a:r>
              <a:rPr sz="1200" b="0" i="0">
                <a:solidFill>
                  <a:srgbClr val="383838"/>
                </a:solidFill>
                <a:latin typeface="Calibri"/>
              </a:rPr>
              <a:t>Same patient, same state, within 3 days in SEDD</a:t>
            </a:r>
          </a:p>
        </p:txBody>
      </p:sp>
      <p:sp>
        <p:nvSpPr>
          <p:cNvPr id="21" name="TextBox 20"/>
          <p:cNvSpPr txBox="1"/>
          <p:nvPr/>
        </p:nvSpPr>
        <p:spPr>
          <a:xfrm>
            <a:off x="4393692" y="3118104"/>
            <a:ext cx="3538727" cy="292608"/>
          </a:xfrm>
          <a:prstGeom prst="rect">
            <a:avLst/>
          </a:prstGeom>
          <a:noFill/>
        </p:spPr>
        <p:txBody>
          <a:bodyPr wrap="square">
            <a:spAutoFit/>
          </a:bodyPr>
          <a:lstStyle/>
          <a:p>
            <a:pPr algn="l"/>
            <a:r>
              <a:rPr sz="1300" b="1" i="0">
                <a:solidFill>
                  <a:srgbClr val="2B6C7C"/>
                </a:solidFill>
                <a:latin typeface="Calibri"/>
              </a:rPr>
              <a:t>Dementia recognition</a:t>
            </a:r>
          </a:p>
        </p:txBody>
      </p:sp>
      <p:sp>
        <p:nvSpPr>
          <p:cNvPr id="22" name="TextBox 21"/>
          <p:cNvSpPr txBox="1"/>
          <p:nvPr/>
        </p:nvSpPr>
        <p:spPr>
          <a:xfrm>
            <a:off x="4393692" y="3429000"/>
            <a:ext cx="3538727" cy="1261872"/>
          </a:xfrm>
          <a:prstGeom prst="rect">
            <a:avLst/>
          </a:prstGeom>
          <a:noFill/>
        </p:spPr>
        <p:txBody>
          <a:bodyPr wrap="square">
            <a:spAutoFit/>
          </a:bodyPr>
          <a:lstStyle/>
          <a:p>
            <a:pPr algn="l"/>
            <a:r>
              <a:rPr sz="1200" b="0" i="0" dirty="0">
                <a:solidFill>
                  <a:srgbClr val="383838"/>
                </a:solidFill>
                <a:latin typeface="Calibri"/>
              </a:rPr>
              <a:t>ICD-10 </a:t>
            </a:r>
            <a:r>
              <a:rPr sz="1200" b="0" i="0" dirty="0" err="1">
                <a:solidFill>
                  <a:srgbClr val="383838"/>
                </a:solidFill>
                <a:latin typeface="Calibri"/>
              </a:rPr>
              <a:t>F01-F09</a:t>
            </a:r>
            <a:r>
              <a:rPr sz="1200" b="0" i="0" dirty="0">
                <a:solidFill>
                  <a:srgbClr val="383838"/>
                </a:solidFill>
                <a:latin typeface="Calibri"/>
              </a:rPr>
              <a:t> or </a:t>
            </a:r>
            <a:r>
              <a:rPr sz="1200" b="0" i="0" dirty="0" err="1">
                <a:solidFill>
                  <a:srgbClr val="383838"/>
                </a:solidFill>
                <a:latin typeface="Calibri"/>
              </a:rPr>
              <a:t>G30</a:t>
            </a:r>
            <a:r>
              <a:rPr sz="1200" b="0" i="0" dirty="0">
                <a:solidFill>
                  <a:srgbClr val="383838"/>
                </a:solidFill>
                <a:latin typeface="Calibri"/>
              </a:rPr>
              <a:t> at index visit
Directly connects to EDDA - the key mechanism outcome</a:t>
            </a:r>
          </a:p>
        </p:txBody>
      </p:sp>
      <p:sp>
        <p:nvSpPr>
          <p:cNvPr id="23" name="TextBox 22"/>
          <p:cNvSpPr txBox="1"/>
          <p:nvPr/>
        </p:nvSpPr>
        <p:spPr>
          <a:xfrm>
            <a:off x="4393692" y="4736592"/>
            <a:ext cx="3538727" cy="292608"/>
          </a:xfrm>
          <a:prstGeom prst="rect">
            <a:avLst/>
          </a:prstGeom>
          <a:noFill/>
        </p:spPr>
        <p:txBody>
          <a:bodyPr wrap="square">
            <a:spAutoFit/>
          </a:bodyPr>
          <a:lstStyle/>
          <a:p>
            <a:pPr algn="l"/>
            <a:r>
              <a:rPr sz="1300" b="1" i="0">
                <a:solidFill>
                  <a:srgbClr val="2B6C7C"/>
                </a:solidFill>
                <a:latin typeface="Calibri"/>
              </a:rPr>
              <a:t>Disposition safety</a:t>
            </a:r>
          </a:p>
        </p:txBody>
      </p:sp>
      <p:sp>
        <p:nvSpPr>
          <p:cNvPr id="24" name="TextBox 23"/>
          <p:cNvSpPr txBox="1"/>
          <p:nvPr/>
        </p:nvSpPr>
        <p:spPr>
          <a:xfrm>
            <a:off x="4393692" y="5047488"/>
            <a:ext cx="3538727" cy="1261872"/>
          </a:xfrm>
          <a:prstGeom prst="rect">
            <a:avLst/>
          </a:prstGeom>
          <a:noFill/>
        </p:spPr>
        <p:txBody>
          <a:bodyPr wrap="square">
            <a:spAutoFit/>
          </a:bodyPr>
          <a:lstStyle/>
          <a:p>
            <a:pPr algn="l"/>
            <a:r>
              <a:rPr sz="1200" b="0" i="0">
                <a:solidFill>
                  <a:srgbClr val="383838"/>
                </a:solidFill>
                <a:latin typeface="Calibri"/>
              </a:rPr>
              <a:t>Home vs SNF vs AMA
Especially relevant for persons living with dementia</a:t>
            </a:r>
          </a:p>
        </p:txBody>
      </p:sp>
      <p:sp>
        <p:nvSpPr>
          <p:cNvPr id="25" name="Rectangle 24"/>
          <p:cNvSpPr/>
          <p:nvPr/>
        </p:nvSpPr>
        <p:spPr>
          <a:xfrm>
            <a:off x="8074152" y="1005840"/>
            <a:ext cx="3739896" cy="5440680"/>
          </a:xfrm>
          <a:prstGeom prst="rect">
            <a:avLst/>
          </a:prstGeom>
          <a:solidFill>
            <a:srgbClr val="EBF5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074152" y="1005840"/>
            <a:ext cx="3739896" cy="384048"/>
          </a:xfrm>
          <a:prstGeom prst="rect">
            <a:avLst/>
          </a:prstGeom>
          <a:solidFill>
            <a:srgbClr val="246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02168" y="1042415"/>
            <a:ext cx="3538727" cy="310896"/>
          </a:xfrm>
          <a:prstGeom prst="rect">
            <a:avLst/>
          </a:prstGeom>
          <a:noFill/>
        </p:spPr>
        <p:txBody>
          <a:bodyPr wrap="square">
            <a:spAutoFit/>
          </a:bodyPr>
          <a:lstStyle/>
          <a:p>
            <a:pPr algn="l"/>
            <a:r>
              <a:rPr sz="1200" b="1" i="0">
                <a:solidFill>
                  <a:srgbClr val="FFFFFF"/>
                </a:solidFill>
                <a:latin typeface="Calibri"/>
              </a:rPr>
              <a:t>Exploratory - Equity</a:t>
            </a:r>
          </a:p>
        </p:txBody>
      </p:sp>
      <p:sp>
        <p:nvSpPr>
          <p:cNvPr id="28" name="TextBox 27"/>
          <p:cNvSpPr txBox="1"/>
          <p:nvPr/>
        </p:nvSpPr>
        <p:spPr>
          <a:xfrm>
            <a:off x="8202168" y="1499616"/>
            <a:ext cx="3538727" cy="292608"/>
          </a:xfrm>
          <a:prstGeom prst="rect">
            <a:avLst/>
          </a:prstGeom>
          <a:noFill/>
        </p:spPr>
        <p:txBody>
          <a:bodyPr wrap="square">
            <a:spAutoFit/>
          </a:bodyPr>
          <a:lstStyle/>
          <a:p>
            <a:pPr algn="l"/>
            <a:r>
              <a:rPr sz="1300" b="1" i="0">
                <a:solidFill>
                  <a:srgbClr val="246245"/>
                </a:solidFill>
                <a:latin typeface="Calibri"/>
              </a:rPr>
              <a:t>Race/ethnicity</a:t>
            </a:r>
          </a:p>
        </p:txBody>
      </p:sp>
      <p:sp>
        <p:nvSpPr>
          <p:cNvPr id="29" name="TextBox 28"/>
          <p:cNvSpPr txBox="1"/>
          <p:nvPr/>
        </p:nvSpPr>
        <p:spPr>
          <a:xfrm>
            <a:off x="8202168" y="1810512"/>
            <a:ext cx="3538727" cy="1261872"/>
          </a:xfrm>
          <a:prstGeom prst="rect">
            <a:avLst/>
          </a:prstGeom>
          <a:noFill/>
        </p:spPr>
        <p:txBody>
          <a:bodyPr wrap="square">
            <a:spAutoFit/>
          </a:bodyPr>
          <a:lstStyle/>
          <a:p>
            <a:pPr algn="l"/>
            <a:r>
              <a:rPr sz="1200" b="0" i="0">
                <a:solidFill>
                  <a:srgbClr val="383838"/>
                </a:solidFill>
                <a:latin typeface="Calibri"/>
              </a:rPr>
              <a:t>All primary outcomes stratified - GED benefits
concentrated in White patients (Hwang lab 2026)</a:t>
            </a:r>
            <a:r>
              <a:rPr sz="1600" b="1" i="0" baseline="30000">
                <a:solidFill>
                  <a:srgbClr val="2B6C7C"/>
                </a:solidFill>
                <a:latin typeface="Calibri"/>
              </a:rPr>
              <a:t>²</a:t>
            </a:r>
          </a:p>
        </p:txBody>
      </p:sp>
      <p:sp>
        <p:nvSpPr>
          <p:cNvPr id="30" name="TextBox 29"/>
          <p:cNvSpPr txBox="1"/>
          <p:nvPr/>
        </p:nvSpPr>
        <p:spPr>
          <a:xfrm>
            <a:off x="8202168" y="3118104"/>
            <a:ext cx="3538727" cy="292608"/>
          </a:xfrm>
          <a:prstGeom prst="rect">
            <a:avLst/>
          </a:prstGeom>
          <a:noFill/>
        </p:spPr>
        <p:txBody>
          <a:bodyPr wrap="square">
            <a:spAutoFit/>
          </a:bodyPr>
          <a:lstStyle/>
          <a:p>
            <a:pPr algn="l"/>
            <a:r>
              <a:rPr sz="1300" b="1" i="0">
                <a:solidFill>
                  <a:srgbClr val="246245"/>
                </a:solidFill>
                <a:latin typeface="Calibri"/>
              </a:rPr>
              <a:t>Insurance type</a:t>
            </a:r>
          </a:p>
        </p:txBody>
      </p:sp>
      <p:sp>
        <p:nvSpPr>
          <p:cNvPr id="31" name="TextBox 30"/>
          <p:cNvSpPr txBox="1"/>
          <p:nvPr/>
        </p:nvSpPr>
        <p:spPr>
          <a:xfrm>
            <a:off x="8202168" y="3429000"/>
            <a:ext cx="3538727" cy="1261872"/>
          </a:xfrm>
          <a:prstGeom prst="rect">
            <a:avLst/>
          </a:prstGeom>
          <a:noFill/>
        </p:spPr>
        <p:txBody>
          <a:bodyPr wrap="square">
            <a:spAutoFit/>
          </a:bodyPr>
          <a:lstStyle/>
          <a:p>
            <a:pPr algn="l"/>
            <a:r>
              <a:rPr sz="1200" b="0" i="0">
                <a:solidFill>
                  <a:srgbClr val="383838"/>
                </a:solidFill>
                <a:latin typeface="Calibri"/>
              </a:rPr>
              <a:t>Medicare vs Medicaid vs uninsured
Different access and dementia coding practices</a:t>
            </a:r>
          </a:p>
        </p:txBody>
      </p:sp>
      <p:sp>
        <p:nvSpPr>
          <p:cNvPr id="32" name="TextBox 31"/>
          <p:cNvSpPr txBox="1"/>
          <p:nvPr/>
        </p:nvSpPr>
        <p:spPr>
          <a:xfrm>
            <a:off x="8202168" y="4736592"/>
            <a:ext cx="3538727" cy="292608"/>
          </a:xfrm>
          <a:prstGeom prst="rect">
            <a:avLst/>
          </a:prstGeom>
          <a:noFill/>
        </p:spPr>
        <p:txBody>
          <a:bodyPr wrap="square">
            <a:spAutoFit/>
          </a:bodyPr>
          <a:lstStyle/>
          <a:p>
            <a:pPr algn="l"/>
            <a:r>
              <a:rPr sz="1300" b="1" i="0">
                <a:solidFill>
                  <a:srgbClr val="246245"/>
                </a:solidFill>
                <a:latin typeface="Calibri"/>
              </a:rPr>
              <a:t>Urban vs rural</a:t>
            </a:r>
          </a:p>
        </p:txBody>
      </p:sp>
      <p:sp>
        <p:nvSpPr>
          <p:cNvPr id="33" name="TextBox 32"/>
          <p:cNvSpPr txBox="1"/>
          <p:nvPr/>
        </p:nvSpPr>
        <p:spPr>
          <a:xfrm>
            <a:off x="8202168" y="5047488"/>
            <a:ext cx="3538727" cy="1261872"/>
          </a:xfrm>
          <a:prstGeom prst="rect">
            <a:avLst/>
          </a:prstGeom>
          <a:noFill/>
        </p:spPr>
        <p:txBody>
          <a:bodyPr wrap="square">
            <a:spAutoFit/>
          </a:bodyPr>
          <a:lstStyle/>
          <a:p>
            <a:pPr algn="l"/>
            <a:r>
              <a:rPr sz="1200" b="0" i="0">
                <a:solidFill>
                  <a:srgbClr val="383838"/>
                </a:solidFill>
                <a:latin typeface="Calibri"/>
              </a:rPr>
              <a:t>GEDs are city-concentrated - rural patients
may be systematically excluded from benefit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Q1 / Limitations</a:t>
            </a:r>
          </a:p>
        </p:txBody>
      </p:sp>
      <p:sp>
        <p:nvSpPr>
          <p:cNvPr id="5" name="TextBox 4"/>
          <p:cNvSpPr txBox="1"/>
          <p:nvPr/>
        </p:nvSpPr>
        <p:spPr>
          <a:xfrm>
            <a:off x="457200" y="164592"/>
            <a:ext cx="10789920" cy="658368"/>
          </a:xfrm>
          <a:prstGeom prst="rect">
            <a:avLst/>
          </a:prstGeom>
          <a:noFill/>
        </p:spPr>
        <p:txBody>
          <a:bodyPr wrap="square">
            <a:spAutoFit/>
          </a:bodyPr>
          <a:lstStyle/>
          <a:p>
            <a:pPr algn="l"/>
            <a:r>
              <a:rPr sz="3200" b="1" i="0">
                <a:solidFill>
                  <a:srgbClr val="1E4050"/>
                </a:solidFill>
                <a:latin typeface="Calibri"/>
              </a:rPr>
              <a:t>HCUP Limitations to Flag Before Proceeding</a:t>
            </a:r>
          </a:p>
        </p:txBody>
      </p:sp>
      <p:sp>
        <p:nvSpPr>
          <p:cNvPr id="6" name="Rectangle 5"/>
          <p:cNvSpPr/>
          <p:nvPr/>
        </p:nvSpPr>
        <p:spPr>
          <a:xfrm>
            <a:off x="457200" y="886968"/>
            <a:ext cx="11274552" cy="36576"/>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005840"/>
            <a:ext cx="11292840" cy="5440680"/>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078992"/>
            <a:ext cx="10789920" cy="329184"/>
          </a:xfrm>
          <a:prstGeom prst="rect">
            <a:avLst/>
          </a:prstGeom>
          <a:noFill/>
        </p:spPr>
        <p:txBody>
          <a:bodyPr wrap="square">
            <a:spAutoFit/>
          </a:bodyPr>
          <a:lstStyle/>
          <a:p>
            <a:pPr algn="l"/>
            <a:r>
              <a:rPr sz="1400" b="1" i="0" dirty="0">
                <a:solidFill>
                  <a:srgbClr val="1E4050"/>
                </a:solidFill>
                <a:latin typeface="Calibri"/>
              </a:rPr>
              <a:t>HCUP Limitations to Flag Upfront</a:t>
            </a:r>
          </a:p>
        </p:txBody>
      </p:sp>
      <p:sp>
        <p:nvSpPr>
          <p:cNvPr id="9" name="Rectangle 8"/>
          <p:cNvSpPr/>
          <p:nvPr/>
        </p:nvSpPr>
        <p:spPr>
          <a:xfrm>
            <a:off x="594360" y="1536192"/>
            <a:ext cx="64008" cy="685800"/>
          </a:xfrm>
          <a:prstGeom prst="rect">
            <a:avLst/>
          </a:prstGeom>
          <a:solidFill>
            <a:srgbClr val="7A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63624"/>
            <a:ext cx="10241280" cy="274320"/>
          </a:xfrm>
          <a:prstGeom prst="rect">
            <a:avLst/>
          </a:prstGeom>
          <a:noFill/>
        </p:spPr>
        <p:txBody>
          <a:bodyPr wrap="square">
            <a:spAutoFit/>
          </a:bodyPr>
          <a:lstStyle/>
          <a:p>
            <a:pPr algn="l"/>
            <a:r>
              <a:rPr sz="1300" b="1" i="0" dirty="0">
                <a:solidFill>
                  <a:srgbClr val="7A2222"/>
                </a:solidFill>
                <a:latin typeface="Calibri"/>
              </a:rPr>
              <a:t>No clinical data</a:t>
            </a:r>
          </a:p>
        </p:txBody>
      </p:sp>
      <p:sp>
        <p:nvSpPr>
          <p:cNvPr id="11" name="TextBox 10"/>
          <p:cNvSpPr txBox="1"/>
          <p:nvPr/>
        </p:nvSpPr>
        <p:spPr>
          <a:xfrm>
            <a:off x="804672" y="1856231"/>
            <a:ext cx="10241280" cy="429768"/>
          </a:xfrm>
          <a:prstGeom prst="rect">
            <a:avLst/>
          </a:prstGeom>
          <a:noFill/>
        </p:spPr>
        <p:txBody>
          <a:bodyPr wrap="square">
            <a:spAutoFit/>
          </a:bodyPr>
          <a:lstStyle/>
          <a:p>
            <a:pPr algn="l"/>
            <a:r>
              <a:rPr sz="1200" b="0" i="0">
                <a:solidFill>
                  <a:srgbClr val="727272"/>
                </a:solidFill>
                <a:latin typeface="Calibri"/>
              </a:rPr>
              <a:t>No labs, vitals, cognitive scores - can only see coded dementia, not undiagnosed cases</a:t>
            </a:r>
          </a:p>
        </p:txBody>
      </p:sp>
      <p:sp>
        <p:nvSpPr>
          <p:cNvPr id="12" name="Rectangle 11"/>
          <p:cNvSpPr/>
          <p:nvPr/>
        </p:nvSpPr>
        <p:spPr>
          <a:xfrm>
            <a:off x="594360" y="2331720"/>
            <a:ext cx="64008" cy="685800"/>
          </a:xfrm>
          <a:prstGeom prst="rect">
            <a:avLst/>
          </a:prstGeom>
          <a:solidFill>
            <a:srgbClr val="7A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359151"/>
            <a:ext cx="10241280" cy="274320"/>
          </a:xfrm>
          <a:prstGeom prst="rect">
            <a:avLst/>
          </a:prstGeom>
          <a:noFill/>
        </p:spPr>
        <p:txBody>
          <a:bodyPr wrap="square">
            <a:spAutoFit/>
          </a:bodyPr>
          <a:lstStyle/>
          <a:p>
            <a:pPr algn="l"/>
            <a:r>
              <a:rPr sz="1300" b="1" i="0">
                <a:solidFill>
                  <a:srgbClr val="7A2222"/>
                </a:solidFill>
                <a:latin typeface="Calibri"/>
              </a:rPr>
              <a:t>Dementia undercoding</a:t>
            </a:r>
          </a:p>
        </p:txBody>
      </p:sp>
      <p:sp>
        <p:nvSpPr>
          <p:cNvPr id="14" name="TextBox 13"/>
          <p:cNvSpPr txBox="1"/>
          <p:nvPr/>
        </p:nvSpPr>
        <p:spPr>
          <a:xfrm>
            <a:off x="804672" y="2651760"/>
            <a:ext cx="10241280" cy="429768"/>
          </a:xfrm>
          <a:prstGeom prst="rect">
            <a:avLst/>
          </a:prstGeom>
          <a:noFill/>
        </p:spPr>
        <p:txBody>
          <a:bodyPr wrap="square">
            <a:spAutoFit/>
          </a:bodyPr>
          <a:lstStyle/>
          <a:p>
            <a:pPr algn="l"/>
            <a:r>
              <a:rPr sz="1200" b="0" i="0">
                <a:solidFill>
                  <a:srgbClr val="727272"/>
                </a:solidFill>
                <a:latin typeface="Calibri"/>
              </a:rPr>
              <a:t>ICD-10 dementia codes miss most ED cases - exactly the problem EDDA solves</a:t>
            </a:r>
          </a:p>
        </p:txBody>
      </p:sp>
      <p:sp>
        <p:nvSpPr>
          <p:cNvPr id="15" name="Rectangle 14"/>
          <p:cNvSpPr/>
          <p:nvPr/>
        </p:nvSpPr>
        <p:spPr>
          <a:xfrm>
            <a:off x="594360" y="3127248"/>
            <a:ext cx="64008" cy="685800"/>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3154679"/>
            <a:ext cx="10241280" cy="274320"/>
          </a:xfrm>
          <a:prstGeom prst="rect">
            <a:avLst/>
          </a:prstGeom>
          <a:noFill/>
        </p:spPr>
        <p:txBody>
          <a:bodyPr wrap="square">
            <a:spAutoFit/>
          </a:bodyPr>
          <a:lstStyle/>
          <a:p>
            <a:pPr algn="l"/>
            <a:r>
              <a:rPr sz="1300" b="1" i="0">
                <a:solidFill>
                  <a:srgbClr val="7A4A15"/>
                </a:solidFill>
                <a:latin typeface="Calibri"/>
              </a:rPr>
              <a:t>No cross-state linkage</a:t>
            </a:r>
          </a:p>
        </p:txBody>
      </p:sp>
      <p:sp>
        <p:nvSpPr>
          <p:cNvPr id="17" name="TextBox 16"/>
          <p:cNvSpPr txBox="1"/>
          <p:nvPr/>
        </p:nvSpPr>
        <p:spPr>
          <a:xfrm>
            <a:off x="804672" y="3447288"/>
            <a:ext cx="10241280" cy="429768"/>
          </a:xfrm>
          <a:prstGeom prst="rect">
            <a:avLst/>
          </a:prstGeom>
          <a:noFill/>
        </p:spPr>
        <p:txBody>
          <a:bodyPr wrap="square">
            <a:spAutoFit/>
          </a:bodyPr>
          <a:lstStyle/>
          <a:p>
            <a:pPr algn="l"/>
            <a:r>
              <a:rPr sz="1200" b="0" i="0">
                <a:solidFill>
                  <a:srgbClr val="727272"/>
                </a:solidFill>
                <a:latin typeface="Calibri"/>
              </a:rPr>
              <a:t>VisitLink works within state only - patients crossing state lines are lost</a:t>
            </a:r>
          </a:p>
        </p:txBody>
      </p:sp>
      <p:sp>
        <p:nvSpPr>
          <p:cNvPr id="18" name="Rectangle 17"/>
          <p:cNvSpPr/>
          <p:nvPr/>
        </p:nvSpPr>
        <p:spPr>
          <a:xfrm>
            <a:off x="594360" y="3922776"/>
            <a:ext cx="64008" cy="685800"/>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3950208"/>
            <a:ext cx="10241280" cy="274320"/>
          </a:xfrm>
          <a:prstGeom prst="rect">
            <a:avLst/>
          </a:prstGeom>
          <a:noFill/>
        </p:spPr>
        <p:txBody>
          <a:bodyPr wrap="square">
            <a:spAutoFit/>
          </a:bodyPr>
          <a:lstStyle/>
          <a:p>
            <a:pPr algn="l"/>
            <a:r>
              <a:rPr sz="1300" b="1" i="0">
                <a:solidFill>
                  <a:srgbClr val="7A4A15"/>
                </a:solidFill>
                <a:latin typeface="Calibri"/>
              </a:rPr>
              <a:t>Not all states participate</a:t>
            </a:r>
          </a:p>
        </p:txBody>
      </p:sp>
      <p:sp>
        <p:nvSpPr>
          <p:cNvPr id="20" name="TextBox 19"/>
          <p:cNvSpPr txBox="1"/>
          <p:nvPr/>
        </p:nvSpPr>
        <p:spPr>
          <a:xfrm>
            <a:off x="804672" y="4242816"/>
            <a:ext cx="10241280" cy="429768"/>
          </a:xfrm>
          <a:prstGeom prst="rect">
            <a:avLst/>
          </a:prstGeom>
          <a:noFill/>
        </p:spPr>
        <p:txBody>
          <a:bodyPr wrap="square">
            <a:spAutoFit/>
          </a:bodyPr>
          <a:lstStyle/>
          <a:p>
            <a:pPr algn="l"/>
            <a:r>
              <a:rPr sz="1200" b="0" i="0">
                <a:solidFill>
                  <a:srgbClr val="727272"/>
                </a:solidFill>
                <a:latin typeface="Calibri"/>
              </a:rPr>
              <a:t>State selection constrained by HCUP submission - cannot freely buy any state</a:t>
            </a:r>
          </a:p>
        </p:txBody>
      </p:sp>
      <p:sp>
        <p:nvSpPr>
          <p:cNvPr id="21" name="Rectangle 20"/>
          <p:cNvSpPr/>
          <p:nvPr/>
        </p:nvSpPr>
        <p:spPr>
          <a:xfrm>
            <a:off x="594360" y="4718304"/>
            <a:ext cx="64008" cy="685800"/>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4745736"/>
            <a:ext cx="10241280" cy="274320"/>
          </a:xfrm>
          <a:prstGeom prst="rect">
            <a:avLst/>
          </a:prstGeom>
          <a:noFill/>
        </p:spPr>
        <p:txBody>
          <a:bodyPr wrap="square">
            <a:spAutoFit/>
          </a:bodyPr>
          <a:lstStyle/>
          <a:p>
            <a:pPr algn="l"/>
            <a:r>
              <a:rPr sz="1300" b="1" i="0">
                <a:solidFill>
                  <a:srgbClr val="7A4A15"/>
                </a:solidFill>
                <a:latin typeface="Calibri"/>
              </a:rPr>
              <a:t>ICD-9 to 10 transition (Oct 2015)</a:t>
            </a:r>
          </a:p>
        </p:txBody>
      </p:sp>
      <p:sp>
        <p:nvSpPr>
          <p:cNvPr id="23" name="TextBox 22"/>
          <p:cNvSpPr txBox="1"/>
          <p:nvPr/>
        </p:nvSpPr>
        <p:spPr>
          <a:xfrm>
            <a:off x="804672" y="5038344"/>
            <a:ext cx="10241280" cy="429768"/>
          </a:xfrm>
          <a:prstGeom prst="rect">
            <a:avLst/>
          </a:prstGeom>
          <a:noFill/>
        </p:spPr>
        <p:txBody>
          <a:bodyPr wrap="square">
            <a:spAutoFit/>
          </a:bodyPr>
          <a:lstStyle/>
          <a:p>
            <a:pPr algn="l"/>
            <a:r>
              <a:rPr sz="1200" b="0" i="0">
                <a:solidFill>
                  <a:srgbClr val="727272"/>
                </a:solidFill>
                <a:latin typeface="Calibri"/>
              </a:rPr>
              <a:t>Dementia codes changed substantially - pre-2016 baseline requires careful crosswalk</a:t>
            </a:r>
          </a:p>
        </p:txBody>
      </p:sp>
      <p:sp>
        <p:nvSpPr>
          <p:cNvPr id="24" name="Rectangle 23"/>
          <p:cNvSpPr/>
          <p:nvPr/>
        </p:nvSpPr>
        <p:spPr>
          <a:xfrm>
            <a:off x="594360" y="5513831"/>
            <a:ext cx="64008" cy="685800"/>
          </a:xfrm>
          <a:prstGeom prst="rect">
            <a:avLst/>
          </a:prstGeom>
          <a:solidFill>
            <a:srgbClr val="727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5541264"/>
            <a:ext cx="10241280" cy="274320"/>
          </a:xfrm>
          <a:prstGeom prst="rect">
            <a:avLst/>
          </a:prstGeom>
          <a:noFill/>
        </p:spPr>
        <p:txBody>
          <a:bodyPr wrap="square">
            <a:spAutoFit/>
          </a:bodyPr>
          <a:lstStyle/>
          <a:p>
            <a:pPr algn="l"/>
            <a:r>
              <a:rPr sz="1300" b="1" i="0">
                <a:solidFill>
                  <a:srgbClr val="383838"/>
                </a:solidFill>
                <a:latin typeface="Calibri"/>
              </a:rPr>
              <a:t>GED self-selection bias</a:t>
            </a:r>
          </a:p>
        </p:txBody>
      </p:sp>
      <p:sp>
        <p:nvSpPr>
          <p:cNvPr id="26" name="TextBox 25"/>
          <p:cNvSpPr txBox="1"/>
          <p:nvPr/>
        </p:nvSpPr>
        <p:spPr>
          <a:xfrm>
            <a:off x="804672" y="5833871"/>
            <a:ext cx="10241280" cy="429768"/>
          </a:xfrm>
          <a:prstGeom prst="rect">
            <a:avLst/>
          </a:prstGeom>
          <a:noFill/>
        </p:spPr>
        <p:txBody>
          <a:bodyPr wrap="square">
            <a:spAutoFit/>
          </a:bodyPr>
          <a:lstStyle/>
          <a:p>
            <a:pPr algn="l"/>
            <a:r>
              <a:rPr sz="1200" b="0" i="0">
                <a:solidFill>
                  <a:srgbClr val="727272"/>
                </a:solidFill>
                <a:latin typeface="Calibri"/>
              </a:rPr>
              <a:t>Hospitals pursuing accreditation already higher-performing - DiD addresses but does not fully resolve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6400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64008" cy="4754880"/>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005840"/>
            <a:ext cx="4572000" cy="347472"/>
          </a:xfrm>
          <a:prstGeom prst="rect">
            <a:avLst/>
          </a:prstGeom>
          <a:noFill/>
        </p:spPr>
        <p:txBody>
          <a:bodyPr wrap="square">
            <a:spAutoFit/>
          </a:bodyPr>
          <a:lstStyle/>
          <a:p>
            <a:pPr algn="l"/>
            <a:r>
              <a:rPr sz="1200" b="1" i="0">
                <a:solidFill>
                  <a:srgbClr val="2B6C7C"/>
                </a:solidFill>
                <a:latin typeface="Calibri"/>
              </a:rPr>
              <a:t>Question 2</a:t>
            </a:r>
          </a:p>
        </p:txBody>
      </p:sp>
      <p:sp>
        <p:nvSpPr>
          <p:cNvPr id="7" name="TextBox 6"/>
          <p:cNvSpPr txBox="1"/>
          <p:nvPr/>
        </p:nvSpPr>
        <p:spPr>
          <a:xfrm>
            <a:off x="777240" y="1371600"/>
            <a:ext cx="8686800" cy="749808"/>
          </a:xfrm>
          <a:prstGeom prst="rect">
            <a:avLst/>
          </a:prstGeom>
          <a:noFill/>
        </p:spPr>
        <p:txBody>
          <a:bodyPr wrap="square">
            <a:spAutoFit/>
          </a:bodyPr>
          <a:lstStyle/>
          <a:p>
            <a:pPr algn="l"/>
            <a:r>
              <a:rPr sz="3800" b="1" i="0">
                <a:solidFill>
                  <a:srgbClr val="1E4050"/>
                </a:solidFill>
                <a:latin typeface="Calibri"/>
              </a:rPr>
              <a:t>EDDA Model Adaptation</a:t>
            </a:r>
          </a:p>
        </p:txBody>
      </p:sp>
      <p:sp>
        <p:nvSpPr>
          <p:cNvPr id="8" name="TextBox 7"/>
          <p:cNvSpPr txBox="1"/>
          <p:nvPr/>
        </p:nvSpPr>
        <p:spPr>
          <a:xfrm>
            <a:off x="777240" y="2176272"/>
            <a:ext cx="9601200" cy="502920"/>
          </a:xfrm>
          <a:prstGeom prst="rect">
            <a:avLst/>
          </a:prstGeom>
          <a:noFill/>
        </p:spPr>
        <p:txBody>
          <a:bodyPr wrap="square">
            <a:spAutoFit/>
          </a:bodyPr>
          <a:lstStyle/>
          <a:p>
            <a:pPr algn="l"/>
            <a:r>
              <a:rPr sz="1400" b="0" i="1">
                <a:solidFill>
                  <a:srgbClr val="383838"/>
                </a:solidFill>
                <a:latin typeface="Calibri"/>
              </a:rPr>
              <a:t>Replicating the Emergency Department Dementia Algorithm on simulated EHR data (N=100,000 ED visits)</a:t>
            </a:r>
          </a:p>
        </p:txBody>
      </p:sp>
      <p:sp>
        <p:nvSpPr>
          <p:cNvPr id="9" name="Rectangle 8"/>
          <p:cNvSpPr/>
          <p:nvPr/>
        </p:nvSpPr>
        <p:spPr>
          <a:xfrm>
            <a:off x="777240" y="2907792"/>
            <a:ext cx="10607040"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3063240"/>
            <a:ext cx="2084831" cy="160020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3127248"/>
            <a:ext cx="1874519" cy="256032"/>
          </a:xfrm>
          <a:prstGeom prst="rect">
            <a:avLst/>
          </a:prstGeom>
          <a:noFill/>
        </p:spPr>
        <p:txBody>
          <a:bodyPr wrap="square">
            <a:spAutoFit/>
          </a:bodyPr>
          <a:lstStyle/>
          <a:p>
            <a:pPr algn="l"/>
            <a:r>
              <a:rPr sz="1000" b="1" i="0">
                <a:solidFill>
                  <a:srgbClr val="2B6C7C"/>
                </a:solidFill>
                <a:latin typeface="Calibri"/>
              </a:rPr>
              <a:t>Step 1</a:t>
            </a:r>
          </a:p>
        </p:txBody>
      </p:sp>
      <p:sp>
        <p:nvSpPr>
          <p:cNvPr id="12" name="TextBox 11"/>
          <p:cNvSpPr txBox="1"/>
          <p:nvPr/>
        </p:nvSpPr>
        <p:spPr>
          <a:xfrm>
            <a:off x="905256" y="3383280"/>
            <a:ext cx="1874519" cy="566928"/>
          </a:xfrm>
          <a:prstGeom prst="rect">
            <a:avLst/>
          </a:prstGeom>
          <a:noFill/>
        </p:spPr>
        <p:txBody>
          <a:bodyPr wrap="square">
            <a:spAutoFit/>
          </a:bodyPr>
          <a:lstStyle/>
          <a:p>
            <a:pPr algn="l"/>
            <a:r>
              <a:rPr sz="1200" b="1" i="0">
                <a:solidFill>
                  <a:srgbClr val="1E4050"/>
                </a:solidFill>
                <a:latin typeface="Calibri"/>
              </a:rPr>
              <a:t>Data Exploration
&amp; Cleaning</a:t>
            </a:r>
          </a:p>
        </p:txBody>
      </p:sp>
      <p:sp>
        <p:nvSpPr>
          <p:cNvPr id="13" name="Rectangle 12"/>
          <p:cNvSpPr/>
          <p:nvPr/>
        </p:nvSpPr>
        <p:spPr>
          <a:xfrm>
            <a:off x="3008376" y="3063240"/>
            <a:ext cx="2084831" cy="160020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36392" y="3127248"/>
            <a:ext cx="1874519" cy="256032"/>
          </a:xfrm>
          <a:prstGeom prst="rect">
            <a:avLst/>
          </a:prstGeom>
          <a:noFill/>
        </p:spPr>
        <p:txBody>
          <a:bodyPr wrap="square">
            <a:spAutoFit/>
          </a:bodyPr>
          <a:lstStyle/>
          <a:p>
            <a:pPr algn="l"/>
            <a:r>
              <a:rPr sz="1000" b="1" i="0">
                <a:solidFill>
                  <a:srgbClr val="2B6C7C"/>
                </a:solidFill>
                <a:latin typeface="Calibri"/>
              </a:rPr>
              <a:t>Step 2</a:t>
            </a:r>
          </a:p>
        </p:txBody>
      </p:sp>
      <p:sp>
        <p:nvSpPr>
          <p:cNvPr id="15" name="TextBox 14"/>
          <p:cNvSpPr txBox="1"/>
          <p:nvPr/>
        </p:nvSpPr>
        <p:spPr>
          <a:xfrm>
            <a:off x="3136392" y="3383280"/>
            <a:ext cx="1874519" cy="566928"/>
          </a:xfrm>
          <a:prstGeom prst="rect">
            <a:avLst/>
          </a:prstGeom>
          <a:noFill/>
        </p:spPr>
        <p:txBody>
          <a:bodyPr wrap="square">
            <a:spAutoFit/>
          </a:bodyPr>
          <a:lstStyle/>
          <a:p>
            <a:pPr algn="l"/>
            <a:r>
              <a:rPr sz="1200" b="1" i="0">
                <a:solidFill>
                  <a:srgbClr val="1E4050"/>
                </a:solidFill>
                <a:latin typeface="Calibri"/>
              </a:rPr>
              <a:t>Table 1 +
Train/Test Split</a:t>
            </a:r>
          </a:p>
        </p:txBody>
      </p:sp>
      <p:sp>
        <p:nvSpPr>
          <p:cNvPr id="16" name="Rectangle 15"/>
          <p:cNvSpPr/>
          <p:nvPr/>
        </p:nvSpPr>
        <p:spPr>
          <a:xfrm>
            <a:off x="5239512" y="3063240"/>
            <a:ext cx="2084831" cy="160020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67527" y="3127248"/>
            <a:ext cx="1874519" cy="256032"/>
          </a:xfrm>
          <a:prstGeom prst="rect">
            <a:avLst/>
          </a:prstGeom>
          <a:noFill/>
        </p:spPr>
        <p:txBody>
          <a:bodyPr wrap="square">
            <a:spAutoFit/>
          </a:bodyPr>
          <a:lstStyle/>
          <a:p>
            <a:pPr algn="l"/>
            <a:r>
              <a:rPr sz="1000" b="1" i="0">
                <a:solidFill>
                  <a:srgbClr val="2B6C7C"/>
                </a:solidFill>
                <a:latin typeface="Calibri"/>
              </a:rPr>
              <a:t>Step 3</a:t>
            </a:r>
          </a:p>
        </p:txBody>
      </p:sp>
      <p:sp>
        <p:nvSpPr>
          <p:cNvPr id="18" name="TextBox 17"/>
          <p:cNvSpPr txBox="1"/>
          <p:nvPr/>
        </p:nvSpPr>
        <p:spPr>
          <a:xfrm>
            <a:off x="5367527" y="3383280"/>
            <a:ext cx="1874519" cy="566928"/>
          </a:xfrm>
          <a:prstGeom prst="rect">
            <a:avLst/>
          </a:prstGeom>
          <a:noFill/>
        </p:spPr>
        <p:txBody>
          <a:bodyPr wrap="square">
            <a:spAutoFit/>
          </a:bodyPr>
          <a:lstStyle/>
          <a:p>
            <a:pPr algn="l"/>
            <a:r>
              <a:rPr sz="1200" b="1" i="0">
                <a:solidFill>
                  <a:srgbClr val="1E4050"/>
                </a:solidFill>
                <a:latin typeface="Calibri"/>
              </a:rPr>
              <a:t>Preprocessing
Pipeline</a:t>
            </a:r>
          </a:p>
        </p:txBody>
      </p:sp>
      <p:sp>
        <p:nvSpPr>
          <p:cNvPr id="19" name="Rectangle 18"/>
          <p:cNvSpPr/>
          <p:nvPr/>
        </p:nvSpPr>
        <p:spPr>
          <a:xfrm>
            <a:off x="7470648" y="3063240"/>
            <a:ext cx="2084831" cy="160020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98664" y="3127248"/>
            <a:ext cx="1874519" cy="256032"/>
          </a:xfrm>
          <a:prstGeom prst="rect">
            <a:avLst/>
          </a:prstGeom>
          <a:noFill/>
        </p:spPr>
        <p:txBody>
          <a:bodyPr wrap="square">
            <a:spAutoFit/>
          </a:bodyPr>
          <a:lstStyle/>
          <a:p>
            <a:pPr algn="l"/>
            <a:r>
              <a:rPr sz="1000" b="1" i="0">
                <a:solidFill>
                  <a:srgbClr val="2B6C7C"/>
                </a:solidFill>
                <a:latin typeface="Calibri"/>
              </a:rPr>
              <a:t>Step 4</a:t>
            </a:r>
          </a:p>
        </p:txBody>
      </p:sp>
      <p:sp>
        <p:nvSpPr>
          <p:cNvPr id="21" name="TextBox 20"/>
          <p:cNvSpPr txBox="1"/>
          <p:nvPr/>
        </p:nvSpPr>
        <p:spPr>
          <a:xfrm>
            <a:off x="7598664" y="3383280"/>
            <a:ext cx="1874519" cy="566928"/>
          </a:xfrm>
          <a:prstGeom prst="rect">
            <a:avLst/>
          </a:prstGeom>
          <a:noFill/>
        </p:spPr>
        <p:txBody>
          <a:bodyPr wrap="square">
            <a:spAutoFit/>
          </a:bodyPr>
          <a:lstStyle/>
          <a:p>
            <a:pPr algn="l"/>
            <a:r>
              <a:rPr sz="1200" b="1" i="0">
                <a:solidFill>
                  <a:srgbClr val="1E4050"/>
                </a:solidFill>
                <a:latin typeface="Calibri"/>
              </a:rPr>
              <a:t>XGBoost
Model</a:t>
            </a:r>
          </a:p>
        </p:txBody>
      </p:sp>
      <p:sp>
        <p:nvSpPr>
          <p:cNvPr id="22" name="Rectangle 21"/>
          <p:cNvSpPr/>
          <p:nvPr/>
        </p:nvSpPr>
        <p:spPr>
          <a:xfrm>
            <a:off x="9701784" y="3063240"/>
            <a:ext cx="2084831" cy="160020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29800" y="3127248"/>
            <a:ext cx="1874519" cy="256032"/>
          </a:xfrm>
          <a:prstGeom prst="rect">
            <a:avLst/>
          </a:prstGeom>
          <a:noFill/>
        </p:spPr>
        <p:txBody>
          <a:bodyPr wrap="square">
            <a:spAutoFit/>
          </a:bodyPr>
          <a:lstStyle/>
          <a:p>
            <a:pPr algn="l"/>
            <a:r>
              <a:rPr sz="1000" b="1" i="0">
                <a:solidFill>
                  <a:srgbClr val="2B6C7C"/>
                </a:solidFill>
                <a:latin typeface="Calibri"/>
              </a:rPr>
              <a:t>Step 5</a:t>
            </a:r>
          </a:p>
        </p:txBody>
      </p:sp>
      <p:sp>
        <p:nvSpPr>
          <p:cNvPr id="24" name="TextBox 23"/>
          <p:cNvSpPr txBox="1"/>
          <p:nvPr/>
        </p:nvSpPr>
        <p:spPr>
          <a:xfrm>
            <a:off x="9829800" y="3383280"/>
            <a:ext cx="1874519" cy="566928"/>
          </a:xfrm>
          <a:prstGeom prst="rect">
            <a:avLst/>
          </a:prstGeom>
          <a:noFill/>
        </p:spPr>
        <p:txBody>
          <a:bodyPr wrap="square">
            <a:spAutoFit/>
          </a:bodyPr>
          <a:lstStyle/>
          <a:p>
            <a:pPr algn="l"/>
            <a:r>
              <a:rPr sz="1200" b="1" i="0">
                <a:solidFill>
                  <a:srgbClr val="1E4050"/>
                </a:solidFill>
                <a:latin typeface="Calibri"/>
              </a:rPr>
              <a:t>Evaluation
&amp; Results</a:t>
            </a:r>
          </a:p>
        </p:txBody>
      </p:sp>
      <p:sp>
        <p:nvSpPr>
          <p:cNvPr id="25" name="TextBox 24"/>
          <p:cNvSpPr txBox="1"/>
          <p:nvPr/>
        </p:nvSpPr>
        <p:spPr>
          <a:xfrm>
            <a:off x="777240" y="4828032"/>
            <a:ext cx="10607040" cy="274320"/>
          </a:xfrm>
          <a:prstGeom prst="rect">
            <a:avLst/>
          </a:prstGeom>
          <a:noFill/>
        </p:spPr>
        <p:txBody>
          <a:bodyPr wrap="square">
            <a:spAutoFit/>
          </a:bodyPr>
          <a:lstStyle/>
          <a:p>
            <a:pPr algn="l"/>
            <a:r>
              <a:rPr sz="1200" b="0" i="1">
                <a:solidFill>
                  <a:srgbClr val="727272"/>
                </a:solidFill>
                <a:latin typeface="Calibri"/>
              </a:rPr>
              <a:t>Code available on GitHub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Q2 / Step 1</a:t>
            </a:r>
          </a:p>
        </p:txBody>
      </p:sp>
      <p:sp>
        <p:nvSpPr>
          <p:cNvPr id="5" name="TextBox 4"/>
          <p:cNvSpPr txBox="1"/>
          <p:nvPr/>
        </p:nvSpPr>
        <p:spPr>
          <a:xfrm>
            <a:off x="457200" y="164592"/>
            <a:ext cx="10789920" cy="621792"/>
          </a:xfrm>
          <a:prstGeom prst="rect">
            <a:avLst/>
          </a:prstGeom>
          <a:noFill/>
        </p:spPr>
        <p:txBody>
          <a:bodyPr wrap="square">
            <a:spAutoFit/>
          </a:bodyPr>
          <a:lstStyle/>
          <a:p>
            <a:pPr algn="l"/>
            <a:r>
              <a:rPr sz="3000" b="1" i="0">
                <a:solidFill>
                  <a:srgbClr val="1E4050"/>
                </a:solidFill>
                <a:latin typeface="Calibri"/>
              </a:rPr>
              <a:t>Step 1 - Data Exploration &amp; Cleaning</a:t>
            </a:r>
          </a:p>
        </p:txBody>
      </p:sp>
      <p:sp>
        <p:nvSpPr>
          <p:cNvPr id="6" name="Rectangle 5"/>
          <p:cNvSpPr/>
          <p:nvPr/>
        </p:nvSpPr>
        <p:spPr>
          <a:xfrm>
            <a:off x="457200" y="841248"/>
            <a:ext cx="11274552"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932688"/>
            <a:ext cx="2560320" cy="274320"/>
          </a:xfrm>
          <a:prstGeom prst="rect">
            <a:avLst/>
          </a:prstGeom>
          <a:noFill/>
        </p:spPr>
        <p:txBody>
          <a:bodyPr wrap="square">
            <a:spAutoFit/>
          </a:bodyPr>
          <a:lstStyle/>
          <a:p>
            <a:pPr algn="l"/>
            <a:r>
              <a:rPr sz="1200" b="1" i="0">
                <a:solidFill>
                  <a:srgbClr val="727272"/>
                </a:solidFill>
                <a:latin typeface="Calibri"/>
              </a:rPr>
              <a:t>Dataset</a:t>
            </a:r>
          </a:p>
        </p:txBody>
      </p:sp>
      <p:sp>
        <p:nvSpPr>
          <p:cNvPr id="8" name="TextBox 7"/>
          <p:cNvSpPr txBox="1"/>
          <p:nvPr/>
        </p:nvSpPr>
        <p:spPr>
          <a:xfrm>
            <a:off x="457200" y="1261872"/>
            <a:ext cx="1280160" cy="292608"/>
          </a:xfrm>
          <a:prstGeom prst="rect">
            <a:avLst/>
          </a:prstGeom>
          <a:noFill/>
        </p:spPr>
        <p:txBody>
          <a:bodyPr wrap="square">
            <a:spAutoFit/>
          </a:bodyPr>
          <a:lstStyle/>
          <a:p>
            <a:pPr algn="l"/>
            <a:r>
              <a:rPr sz="1600" b="1" i="0">
                <a:solidFill>
                  <a:srgbClr val="1E4050"/>
                </a:solidFill>
                <a:latin typeface="Calibri"/>
              </a:rPr>
              <a:t>100,000</a:t>
            </a:r>
          </a:p>
        </p:txBody>
      </p:sp>
      <p:sp>
        <p:nvSpPr>
          <p:cNvPr id="9" name="TextBox 8"/>
          <p:cNvSpPr txBox="1"/>
          <p:nvPr/>
        </p:nvSpPr>
        <p:spPr>
          <a:xfrm>
            <a:off x="457200" y="1536192"/>
            <a:ext cx="2286000" cy="256032"/>
          </a:xfrm>
          <a:prstGeom prst="rect">
            <a:avLst/>
          </a:prstGeom>
          <a:noFill/>
        </p:spPr>
        <p:txBody>
          <a:bodyPr wrap="square">
            <a:spAutoFit/>
          </a:bodyPr>
          <a:lstStyle/>
          <a:p>
            <a:pPr algn="l"/>
            <a:r>
              <a:rPr sz="1000" b="0" i="0">
                <a:solidFill>
                  <a:srgbClr val="727272"/>
                </a:solidFill>
                <a:latin typeface="Calibri"/>
              </a:rPr>
              <a:t>ED visits</a:t>
            </a:r>
          </a:p>
        </p:txBody>
      </p:sp>
      <p:sp>
        <p:nvSpPr>
          <p:cNvPr id="10" name="TextBox 9"/>
          <p:cNvSpPr txBox="1"/>
          <p:nvPr/>
        </p:nvSpPr>
        <p:spPr>
          <a:xfrm>
            <a:off x="457200" y="1792224"/>
            <a:ext cx="1280160" cy="292608"/>
          </a:xfrm>
          <a:prstGeom prst="rect">
            <a:avLst/>
          </a:prstGeom>
          <a:noFill/>
        </p:spPr>
        <p:txBody>
          <a:bodyPr wrap="square">
            <a:spAutoFit/>
          </a:bodyPr>
          <a:lstStyle/>
          <a:p>
            <a:pPr algn="l"/>
            <a:r>
              <a:rPr sz="1600" b="1" i="0">
                <a:solidFill>
                  <a:srgbClr val="1E4050"/>
                </a:solidFill>
                <a:latin typeface="Calibri"/>
              </a:rPr>
              <a:t>26</a:t>
            </a:r>
          </a:p>
        </p:txBody>
      </p:sp>
      <p:sp>
        <p:nvSpPr>
          <p:cNvPr id="11" name="TextBox 10"/>
          <p:cNvSpPr txBox="1"/>
          <p:nvPr/>
        </p:nvSpPr>
        <p:spPr>
          <a:xfrm>
            <a:off x="457200" y="2066543"/>
            <a:ext cx="2286000" cy="256032"/>
          </a:xfrm>
          <a:prstGeom prst="rect">
            <a:avLst/>
          </a:prstGeom>
          <a:noFill/>
        </p:spPr>
        <p:txBody>
          <a:bodyPr wrap="square">
            <a:spAutoFit/>
          </a:bodyPr>
          <a:lstStyle/>
          <a:p>
            <a:pPr algn="l"/>
            <a:r>
              <a:rPr sz="1000" b="0" i="0">
                <a:solidFill>
                  <a:srgbClr val="727272"/>
                </a:solidFill>
                <a:latin typeface="Calibri"/>
              </a:rPr>
              <a:t>features</a:t>
            </a:r>
          </a:p>
        </p:txBody>
      </p:sp>
      <p:sp>
        <p:nvSpPr>
          <p:cNvPr id="12" name="TextBox 11"/>
          <p:cNvSpPr txBox="1"/>
          <p:nvPr/>
        </p:nvSpPr>
        <p:spPr>
          <a:xfrm>
            <a:off x="457200" y="2322576"/>
            <a:ext cx="1280160" cy="338554"/>
          </a:xfrm>
          <a:prstGeom prst="rect">
            <a:avLst/>
          </a:prstGeom>
          <a:noFill/>
        </p:spPr>
        <p:txBody>
          <a:bodyPr wrap="square">
            <a:spAutoFit/>
          </a:bodyPr>
          <a:lstStyle/>
          <a:p>
            <a:pPr algn="l"/>
            <a:r>
              <a:rPr sz="1600" b="1" i="0" dirty="0">
                <a:solidFill>
                  <a:srgbClr val="1E4050"/>
                </a:solidFill>
                <a:latin typeface="Calibri"/>
              </a:rPr>
              <a:t>53,851</a:t>
            </a:r>
          </a:p>
        </p:txBody>
      </p:sp>
      <p:sp>
        <p:nvSpPr>
          <p:cNvPr id="13" name="TextBox 12"/>
          <p:cNvSpPr txBox="1"/>
          <p:nvPr/>
        </p:nvSpPr>
        <p:spPr>
          <a:xfrm>
            <a:off x="457200" y="2596896"/>
            <a:ext cx="2286000" cy="256032"/>
          </a:xfrm>
          <a:prstGeom prst="rect">
            <a:avLst/>
          </a:prstGeom>
          <a:noFill/>
        </p:spPr>
        <p:txBody>
          <a:bodyPr wrap="square">
            <a:spAutoFit/>
          </a:bodyPr>
          <a:lstStyle/>
          <a:p>
            <a:pPr algn="l"/>
            <a:r>
              <a:rPr sz="1000" b="0" i="0">
                <a:solidFill>
                  <a:srgbClr val="727272"/>
                </a:solidFill>
                <a:latin typeface="Calibri"/>
              </a:rPr>
              <a:t>unique patients</a:t>
            </a:r>
          </a:p>
        </p:txBody>
      </p:sp>
      <p:sp>
        <p:nvSpPr>
          <p:cNvPr id="14" name="TextBox 13"/>
          <p:cNvSpPr txBox="1"/>
          <p:nvPr/>
        </p:nvSpPr>
        <p:spPr>
          <a:xfrm>
            <a:off x="457200" y="2852927"/>
            <a:ext cx="1280160" cy="292608"/>
          </a:xfrm>
          <a:prstGeom prst="rect">
            <a:avLst/>
          </a:prstGeom>
          <a:noFill/>
        </p:spPr>
        <p:txBody>
          <a:bodyPr wrap="square">
            <a:spAutoFit/>
          </a:bodyPr>
          <a:lstStyle/>
          <a:p>
            <a:pPr algn="l"/>
            <a:r>
              <a:rPr sz="1600" b="1" i="0">
                <a:solidFill>
                  <a:srgbClr val="1E4050"/>
                </a:solidFill>
                <a:latin typeface="Calibri"/>
              </a:rPr>
              <a:t>21,641</a:t>
            </a:r>
          </a:p>
        </p:txBody>
      </p:sp>
      <p:sp>
        <p:nvSpPr>
          <p:cNvPr id="15" name="TextBox 14"/>
          <p:cNvSpPr txBox="1"/>
          <p:nvPr/>
        </p:nvSpPr>
        <p:spPr>
          <a:xfrm>
            <a:off x="457200" y="3127248"/>
            <a:ext cx="2286000" cy="256032"/>
          </a:xfrm>
          <a:prstGeom prst="rect">
            <a:avLst/>
          </a:prstGeom>
          <a:noFill/>
        </p:spPr>
        <p:txBody>
          <a:bodyPr wrap="square">
            <a:spAutoFit/>
          </a:bodyPr>
          <a:lstStyle/>
          <a:p>
            <a:pPr algn="l"/>
            <a:r>
              <a:rPr sz="1000" b="0" i="0">
                <a:solidFill>
                  <a:srgbClr val="727272"/>
                </a:solidFill>
                <a:latin typeface="Calibri"/>
              </a:rPr>
              <a:t>dementia+ (21.6%)</a:t>
            </a:r>
          </a:p>
        </p:txBody>
      </p:sp>
      <p:sp>
        <p:nvSpPr>
          <p:cNvPr id="16" name="TextBox 15"/>
          <p:cNvSpPr txBox="1"/>
          <p:nvPr/>
        </p:nvSpPr>
        <p:spPr>
          <a:xfrm>
            <a:off x="457200" y="3383279"/>
            <a:ext cx="1280160" cy="292608"/>
          </a:xfrm>
          <a:prstGeom prst="rect">
            <a:avLst/>
          </a:prstGeom>
          <a:noFill/>
        </p:spPr>
        <p:txBody>
          <a:bodyPr wrap="square">
            <a:spAutoFit/>
          </a:bodyPr>
          <a:lstStyle/>
          <a:p>
            <a:pPr algn="l"/>
            <a:r>
              <a:rPr sz="1600" b="1" i="0">
                <a:solidFill>
                  <a:srgbClr val="1E4050"/>
                </a:solidFill>
                <a:latin typeface="Calibri"/>
              </a:rPr>
              <a:t>78,359</a:t>
            </a:r>
          </a:p>
        </p:txBody>
      </p:sp>
      <p:sp>
        <p:nvSpPr>
          <p:cNvPr id="17" name="TextBox 16"/>
          <p:cNvSpPr txBox="1"/>
          <p:nvPr/>
        </p:nvSpPr>
        <p:spPr>
          <a:xfrm>
            <a:off x="457200" y="3657600"/>
            <a:ext cx="2286000" cy="256032"/>
          </a:xfrm>
          <a:prstGeom prst="rect">
            <a:avLst/>
          </a:prstGeom>
          <a:noFill/>
        </p:spPr>
        <p:txBody>
          <a:bodyPr wrap="square">
            <a:spAutoFit/>
          </a:bodyPr>
          <a:lstStyle/>
          <a:p>
            <a:pPr algn="l"/>
            <a:r>
              <a:rPr sz="1000" b="0" i="0">
                <a:solidFill>
                  <a:srgbClr val="727272"/>
                </a:solidFill>
                <a:latin typeface="Calibri"/>
              </a:rPr>
              <a:t>dementia- (78.4%)</a:t>
            </a:r>
          </a:p>
        </p:txBody>
      </p:sp>
      <p:sp>
        <p:nvSpPr>
          <p:cNvPr id="18" name="Rectangle 17"/>
          <p:cNvSpPr/>
          <p:nvPr/>
        </p:nvSpPr>
        <p:spPr>
          <a:xfrm>
            <a:off x="3017520" y="914400"/>
            <a:ext cx="4114800" cy="3246120"/>
          </a:xfrm>
          <a:prstGeom prst="rect">
            <a:avLst/>
          </a:prstGeom>
          <a:solidFill>
            <a:srgbClr val="F3F3F1"/>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0" y="987552"/>
            <a:ext cx="3749039" cy="274320"/>
          </a:xfrm>
          <a:prstGeom prst="rect">
            <a:avLst/>
          </a:prstGeom>
          <a:noFill/>
        </p:spPr>
        <p:txBody>
          <a:bodyPr wrap="square">
            <a:spAutoFit/>
          </a:bodyPr>
          <a:lstStyle/>
          <a:p>
            <a:pPr algn="l"/>
            <a:r>
              <a:rPr sz="1200" b="1" i="0">
                <a:solidFill>
                  <a:srgbClr val="1E4050"/>
                </a:solidFill>
                <a:latin typeface="Calibri"/>
              </a:rPr>
              <a:t>Data issues found</a:t>
            </a:r>
          </a:p>
        </p:txBody>
      </p:sp>
      <p:sp>
        <p:nvSpPr>
          <p:cNvPr id="20" name="Rectangle 19"/>
          <p:cNvSpPr/>
          <p:nvPr/>
        </p:nvSpPr>
        <p:spPr>
          <a:xfrm>
            <a:off x="3154680" y="1389888"/>
            <a:ext cx="201168" cy="20116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54680" y="1389888"/>
            <a:ext cx="201168" cy="201168"/>
          </a:xfrm>
          <a:prstGeom prst="rect">
            <a:avLst/>
          </a:prstGeom>
          <a:noFill/>
        </p:spPr>
        <p:txBody>
          <a:bodyPr wrap="square">
            <a:spAutoFit/>
          </a:bodyPr>
          <a:lstStyle/>
          <a:p>
            <a:pPr algn="ctr"/>
            <a:r>
              <a:rPr sz="1000" b="1" i="0">
                <a:solidFill>
                  <a:srgbClr val="FFFFFF"/>
                </a:solidFill>
                <a:latin typeface="Calibri"/>
              </a:rPr>
              <a:t>1</a:t>
            </a:r>
          </a:p>
        </p:txBody>
      </p:sp>
      <p:sp>
        <p:nvSpPr>
          <p:cNvPr id="22" name="TextBox 21"/>
          <p:cNvSpPr txBox="1"/>
          <p:nvPr/>
        </p:nvSpPr>
        <p:spPr>
          <a:xfrm>
            <a:off x="3401568" y="1371600"/>
            <a:ext cx="3547872" cy="219456"/>
          </a:xfrm>
          <a:prstGeom prst="rect">
            <a:avLst/>
          </a:prstGeom>
          <a:noFill/>
        </p:spPr>
        <p:txBody>
          <a:bodyPr wrap="square">
            <a:spAutoFit/>
          </a:bodyPr>
          <a:lstStyle/>
          <a:p>
            <a:pPr algn="l"/>
            <a:r>
              <a:rPr sz="1100" b="1" i="0">
                <a:solidFill>
                  <a:srgbClr val="7A4A15"/>
                </a:solidFill>
                <a:latin typeface="Calibri"/>
              </a:rPr>
              <a:t>age</a:t>
            </a:r>
          </a:p>
        </p:txBody>
      </p:sp>
      <p:sp>
        <p:nvSpPr>
          <p:cNvPr id="23" name="TextBox 22"/>
          <p:cNvSpPr txBox="1"/>
          <p:nvPr/>
        </p:nvSpPr>
        <p:spPr>
          <a:xfrm>
            <a:off x="3401568" y="1591056"/>
            <a:ext cx="3547872" cy="402336"/>
          </a:xfrm>
          <a:prstGeom prst="rect">
            <a:avLst/>
          </a:prstGeom>
          <a:noFill/>
        </p:spPr>
        <p:txBody>
          <a:bodyPr wrap="square">
            <a:spAutoFit/>
          </a:bodyPr>
          <a:lstStyle/>
          <a:p>
            <a:pPr algn="l"/>
            <a:r>
              <a:rPr sz="1050" b="0" i="0">
                <a:solidFill>
                  <a:srgbClr val="383838"/>
                </a:solidFill>
                <a:latin typeface="Calibri"/>
              </a:rPr>
              <a:t>Object dtype - pd.to_numeric(errors='coerce')</a:t>
            </a:r>
          </a:p>
        </p:txBody>
      </p:sp>
      <p:sp>
        <p:nvSpPr>
          <p:cNvPr id="24" name="Rectangle 23"/>
          <p:cNvSpPr/>
          <p:nvPr/>
        </p:nvSpPr>
        <p:spPr>
          <a:xfrm>
            <a:off x="3154680" y="2075688"/>
            <a:ext cx="201168" cy="20116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154680" y="2075688"/>
            <a:ext cx="201168" cy="201168"/>
          </a:xfrm>
          <a:prstGeom prst="rect">
            <a:avLst/>
          </a:prstGeom>
          <a:noFill/>
        </p:spPr>
        <p:txBody>
          <a:bodyPr wrap="square">
            <a:spAutoFit/>
          </a:bodyPr>
          <a:lstStyle/>
          <a:p>
            <a:pPr algn="ctr"/>
            <a:r>
              <a:rPr sz="1000" b="1" i="0">
                <a:solidFill>
                  <a:srgbClr val="FFFFFF"/>
                </a:solidFill>
                <a:latin typeface="Calibri"/>
              </a:rPr>
              <a:t>2</a:t>
            </a:r>
          </a:p>
        </p:txBody>
      </p:sp>
      <p:sp>
        <p:nvSpPr>
          <p:cNvPr id="26" name="TextBox 25"/>
          <p:cNvSpPr txBox="1"/>
          <p:nvPr/>
        </p:nvSpPr>
        <p:spPr>
          <a:xfrm>
            <a:off x="3401568" y="2057400"/>
            <a:ext cx="3547872" cy="219456"/>
          </a:xfrm>
          <a:prstGeom prst="rect">
            <a:avLst/>
          </a:prstGeom>
          <a:noFill/>
        </p:spPr>
        <p:txBody>
          <a:bodyPr wrap="square">
            <a:spAutoFit/>
          </a:bodyPr>
          <a:lstStyle/>
          <a:p>
            <a:pPr algn="l"/>
            <a:r>
              <a:rPr sz="1100" b="1" i="0">
                <a:solidFill>
                  <a:srgbClr val="7A4A15"/>
                </a:solidFill>
                <a:latin typeface="Calibri"/>
              </a:rPr>
              <a:t>AUTONOMICDRUGS</a:t>
            </a:r>
          </a:p>
        </p:txBody>
      </p:sp>
      <p:sp>
        <p:nvSpPr>
          <p:cNvPr id="27" name="TextBox 26"/>
          <p:cNvSpPr txBox="1"/>
          <p:nvPr/>
        </p:nvSpPr>
        <p:spPr>
          <a:xfrm>
            <a:off x="3401568" y="2276856"/>
            <a:ext cx="3547872" cy="402336"/>
          </a:xfrm>
          <a:prstGeom prst="rect">
            <a:avLst/>
          </a:prstGeom>
          <a:noFill/>
        </p:spPr>
        <p:txBody>
          <a:bodyPr wrap="square">
            <a:spAutoFit/>
          </a:bodyPr>
          <a:lstStyle/>
          <a:p>
            <a:pPr algn="l"/>
            <a:r>
              <a:rPr sz="1050" b="0" i="0">
                <a:solidFill>
                  <a:srgbClr val="383838"/>
                </a:solidFill>
                <a:latin typeface="Calibri"/>
              </a:rPr>
              <a:t>Mixed Yes/No strings - .replace({'Yes':1,'No':0})</a:t>
            </a:r>
          </a:p>
        </p:txBody>
      </p:sp>
      <p:sp>
        <p:nvSpPr>
          <p:cNvPr id="28" name="Rectangle 27"/>
          <p:cNvSpPr/>
          <p:nvPr/>
        </p:nvSpPr>
        <p:spPr>
          <a:xfrm>
            <a:off x="3154680" y="2761488"/>
            <a:ext cx="201168" cy="20116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54680" y="2761488"/>
            <a:ext cx="201168" cy="201168"/>
          </a:xfrm>
          <a:prstGeom prst="rect">
            <a:avLst/>
          </a:prstGeom>
          <a:noFill/>
        </p:spPr>
        <p:txBody>
          <a:bodyPr wrap="square">
            <a:spAutoFit/>
          </a:bodyPr>
          <a:lstStyle/>
          <a:p>
            <a:pPr algn="ctr"/>
            <a:r>
              <a:rPr sz="1000" b="1" i="0">
                <a:solidFill>
                  <a:srgbClr val="FFFFFF"/>
                </a:solidFill>
                <a:latin typeface="Calibri"/>
              </a:rPr>
              <a:t>3</a:t>
            </a:r>
          </a:p>
        </p:txBody>
      </p:sp>
      <p:sp>
        <p:nvSpPr>
          <p:cNvPr id="30" name="TextBox 29"/>
          <p:cNvSpPr txBox="1"/>
          <p:nvPr/>
        </p:nvSpPr>
        <p:spPr>
          <a:xfrm>
            <a:off x="3401568" y="2743200"/>
            <a:ext cx="3547872" cy="219456"/>
          </a:xfrm>
          <a:prstGeom prst="rect">
            <a:avLst/>
          </a:prstGeom>
          <a:noFill/>
        </p:spPr>
        <p:txBody>
          <a:bodyPr wrap="square">
            <a:spAutoFit/>
          </a:bodyPr>
          <a:lstStyle/>
          <a:p>
            <a:pPr algn="l"/>
            <a:r>
              <a:rPr sz="1100" b="1" i="0">
                <a:solidFill>
                  <a:srgbClr val="7A4A15"/>
                </a:solidFill>
                <a:latin typeface="Calibri"/>
              </a:rPr>
              <a:t>sex / race / insurance</a:t>
            </a:r>
          </a:p>
        </p:txBody>
      </p:sp>
      <p:sp>
        <p:nvSpPr>
          <p:cNvPr id="31" name="TextBox 30"/>
          <p:cNvSpPr txBox="1"/>
          <p:nvPr/>
        </p:nvSpPr>
        <p:spPr>
          <a:xfrm>
            <a:off x="3401568" y="2962656"/>
            <a:ext cx="3547872" cy="402336"/>
          </a:xfrm>
          <a:prstGeom prst="rect">
            <a:avLst/>
          </a:prstGeom>
          <a:noFill/>
        </p:spPr>
        <p:txBody>
          <a:bodyPr wrap="square">
            <a:spAutoFit/>
          </a:bodyPr>
          <a:lstStyle/>
          <a:p>
            <a:pPr algn="l"/>
            <a:r>
              <a:rPr sz="1050" b="0" i="0">
                <a:solidFill>
                  <a:srgbClr val="383838"/>
                </a:solidFill>
                <a:latin typeface="Calibri"/>
              </a:rPr>
              <a:t>Inconsistent caps - .str.strip().str.title()</a:t>
            </a:r>
          </a:p>
        </p:txBody>
      </p:sp>
      <p:sp>
        <p:nvSpPr>
          <p:cNvPr id="32" name="Rectangle 31"/>
          <p:cNvSpPr/>
          <p:nvPr/>
        </p:nvSpPr>
        <p:spPr>
          <a:xfrm>
            <a:off x="3154680" y="3447288"/>
            <a:ext cx="201168" cy="20116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54680" y="3447288"/>
            <a:ext cx="201168" cy="201168"/>
          </a:xfrm>
          <a:prstGeom prst="rect">
            <a:avLst/>
          </a:prstGeom>
          <a:noFill/>
        </p:spPr>
        <p:txBody>
          <a:bodyPr wrap="square">
            <a:spAutoFit/>
          </a:bodyPr>
          <a:lstStyle/>
          <a:p>
            <a:pPr algn="ctr"/>
            <a:r>
              <a:rPr sz="1000" b="1" i="0">
                <a:solidFill>
                  <a:srgbClr val="FFFFFF"/>
                </a:solidFill>
                <a:latin typeface="Calibri"/>
              </a:rPr>
              <a:t>4</a:t>
            </a:r>
          </a:p>
        </p:txBody>
      </p:sp>
      <p:sp>
        <p:nvSpPr>
          <p:cNvPr id="34" name="TextBox 33"/>
          <p:cNvSpPr txBox="1"/>
          <p:nvPr/>
        </p:nvSpPr>
        <p:spPr>
          <a:xfrm>
            <a:off x="3401568" y="3429000"/>
            <a:ext cx="3547872" cy="219456"/>
          </a:xfrm>
          <a:prstGeom prst="rect">
            <a:avLst/>
          </a:prstGeom>
          <a:noFill/>
        </p:spPr>
        <p:txBody>
          <a:bodyPr wrap="square">
            <a:spAutoFit/>
          </a:bodyPr>
          <a:lstStyle/>
          <a:p>
            <a:pPr algn="l"/>
            <a:r>
              <a:rPr sz="1100" b="1" i="0">
                <a:solidFill>
                  <a:srgbClr val="7A4A15"/>
                </a:solidFill>
                <a:latin typeface="Calibri"/>
              </a:rPr>
              <a:t>Lab features</a:t>
            </a:r>
          </a:p>
        </p:txBody>
      </p:sp>
      <p:sp>
        <p:nvSpPr>
          <p:cNvPr id="35" name="TextBox 34"/>
          <p:cNvSpPr txBox="1"/>
          <p:nvPr/>
        </p:nvSpPr>
        <p:spPr>
          <a:xfrm>
            <a:off x="3401568" y="3648456"/>
            <a:ext cx="3547872" cy="402336"/>
          </a:xfrm>
          <a:prstGeom prst="rect">
            <a:avLst/>
          </a:prstGeom>
          <a:noFill/>
        </p:spPr>
        <p:txBody>
          <a:bodyPr wrap="square">
            <a:spAutoFit/>
          </a:bodyPr>
          <a:lstStyle/>
          <a:p>
            <a:pPr algn="l"/>
            <a:r>
              <a:rPr sz="1050" b="0" i="0">
                <a:solidFill>
                  <a:srgbClr val="383838"/>
                </a:solidFill>
                <a:latin typeface="Calibri"/>
              </a:rPr>
              <a:t>Up to 30% missing - imputed inside pipeline</a:t>
            </a:r>
          </a:p>
        </p:txBody>
      </p:sp>
      <p:sp>
        <p:nvSpPr>
          <p:cNvPr id="36" name="Rectangle 35"/>
          <p:cNvSpPr/>
          <p:nvPr/>
        </p:nvSpPr>
        <p:spPr>
          <a:xfrm>
            <a:off x="3017520" y="4279392"/>
            <a:ext cx="4114800" cy="1508760"/>
          </a:xfrm>
          <a:prstGeom prst="rect">
            <a:avLst/>
          </a:prstGeom>
          <a:solidFill>
            <a:srgbClr val="E4F2EB"/>
          </a:solidFill>
          <a:ln w="10160">
            <a:solidFill>
              <a:srgbClr val="2462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00400" y="4352544"/>
            <a:ext cx="3749039" cy="274320"/>
          </a:xfrm>
          <a:prstGeom prst="rect">
            <a:avLst/>
          </a:prstGeom>
          <a:noFill/>
        </p:spPr>
        <p:txBody>
          <a:bodyPr wrap="square">
            <a:spAutoFit/>
          </a:bodyPr>
          <a:lstStyle/>
          <a:p>
            <a:pPr algn="l"/>
            <a:r>
              <a:rPr sz="1200" b="1" i="0">
                <a:solidFill>
                  <a:srgbClr val="246245"/>
                </a:solidFill>
                <a:latin typeface="Calibri"/>
              </a:rPr>
              <a:t>Key design decision</a:t>
            </a:r>
          </a:p>
        </p:txBody>
      </p:sp>
      <p:sp>
        <p:nvSpPr>
          <p:cNvPr id="38" name="TextBox 37"/>
          <p:cNvSpPr txBox="1"/>
          <p:nvPr/>
        </p:nvSpPr>
        <p:spPr>
          <a:xfrm>
            <a:off x="3200400" y="4663440"/>
            <a:ext cx="3822191" cy="1051560"/>
          </a:xfrm>
          <a:prstGeom prst="rect">
            <a:avLst/>
          </a:prstGeom>
          <a:noFill/>
        </p:spPr>
        <p:txBody>
          <a:bodyPr wrap="square">
            <a:spAutoFit/>
          </a:bodyPr>
          <a:lstStyle/>
          <a:p>
            <a:pPr algn="l"/>
            <a:r>
              <a:rPr sz="1100" b="0" i="0">
                <a:solidFill>
                  <a:srgbClr val="383838"/>
                </a:solidFill>
                <a:latin typeface="Calibri"/>
              </a:rPr>
              <a:t>Treat as cross-sectional. Each ED visit = one prediction opportunity. Longitudinal history already encoded in lookback features (n_prior_ed_visits_24mo, n_prior_hosps_24mo). No time-series modeling needed.</a:t>
            </a:r>
          </a:p>
        </p:txBody>
      </p:sp>
      <p:sp>
        <p:nvSpPr>
          <p:cNvPr id="39" name="TextBox 38"/>
          <p:cNvSpPr txBox="1"/>
          <p:nvPr/>
        </p:nvSpPr>
        <p:spPr>
          <a:xfrm>
            <a:off x="7360920" y="932688"/>
            <a:ext cx="4389120" cy="274320"/>
          </a:xfrm>
          <a:prstGeom prst="rect">
            <a:avLst/>
          </a:prstGeom>
          <a:noFill/>
        </p:spPr>
        <p:txBody>
          <a:bodyPr wrap="square">
            <a:spAutoFit/>
          </a:bodyPr>
          <a:lstStyle/>
          <a:p>
            <a:pPr algn="l"/>
            <a:r>
              <a:rPr sz="1200" b="1" i="0">
                <a:solidFill>
                  <a:srgbClr val="727272"/>
                </a:solidFill>
                <a:latin typeface="Calibri"/>
              </a:rPr>
              <a:t>Missingness</a:t>
            </a:r>
          </a:p>
        </p:txBody>
      </p:sp>
      <p:sp>
        <p:nvSpPr>
          <p:cNvPr id="40" name="TextBox 39"/>
          <p:cNvSpPr txBox="1"/>
          <p:nvPr/>
        </p:nvSpPr>
        <p:spPr>
          <a:xfrm>
            <a:off x="7360920" y="1298448"/>
            <a:ext cx="2011680" cy="274320"/>
          </a:xfrm>
          <a:prstGeom prst="rect">
            <a:avLst/>
          </a:prstGeom>
          <a:noFill/>
        </p:spPr>
        <p:txBody>
          <a:bodyPr wrap="square">
            <a:spAutoFit/>
          </a:bodyPr>
          <a:lstStyle/>
          <a:p>
            <a:pPr algn="l"/>
            <a:r>
              <a:rPr sz="1000" b="0" i="0">
                <a:solidFill>
                  <a:srgbClr val="383838"/>
                </a:solidFill>
                <a:latin typeface="Calibri"/>
              </a:rPr>
              <a:t>LEUKOCYTES UA</a:t>
            </a:r>
          </a:p>
        </p:txBody>
      </p:sp>
      <p:sp>
        <p:nvSpPr>
          <p:cNvPr id="41" name="Rectangle 40"/>
          <p:cNvSpPr/>
          <p:nvPr/>
        </p:nvSpPr>
        <p:spPr>
          <a:xfrm>
            <a:off x="9509760" y="1344168"/>
            <a:ext cx="1828800" cy="201168"/>
          </a:xfrm>
          <a:prstGeom prst="rect">
            <a:avLst/>
          </a:prstGeom>
          <a:solidFill>
            <a:srgbClr val="7A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430000" y="1298448"/>
            <a:ext cx="530352" cy="274320"/>
          </a:xfrm>
          <a:prstGeom prst="rect">
            <a:avLst/>
          </a:prstGeom>
          <a:noFill/>
        </p:spPr>
        <p:txBody>
          <a:bodyPr wrap="square">
            <a:spAutoFit/>
          </a:bodyPr>
          <a:lstStyle/>
          <a:p>
            <a:pPr algn="l"/>
            <a:r>
              <a:rPr sz="1000" b="1" i="0">
                <a:solidFill>
                  <a:srgbClr val="7A2222"/>
                </a:solidFill>
                <a:latin typeface="Calibri"/>
              </a:rPr>
              <a:t>30.0%</a:t>
            </a:r>
          </a:p>
        </p:txBody>
      </p:sp>
      <p:sp>
        <p:nvSpPr>
          <p:cNvPr id="43" name="TextBox 42"/>
          <p:cNvSpPr txBox="1"/>
          <p:nvPr/>
        </p:nvSpPr>
        <p:spPr>
          <a:xfrm>
            <a:off x="7360920" y="1828800"/>
            <a:ext cx="2011680" cy="274320"/>
          </a:xfrm>
          <a:prstGeom prst="rect">
            <a:avLst/>
          </a:prstGeom>
          <a:noFill/>
        </p:spPr>
        <p:txBody>
          <a:bodyPr wrap="square">
            <a:spAutoFit/>
          </a:bodyPr>
          <a:lstStyle/>
          <a:p>
            <a:pPr algn="l"/>
            <a:r>
              <a:rPr sz="1000" b="0" i="0">
                <a:solidFill>
                  <a:srgbClr val="383838"/>
                </a:solidFill>
                <a:latin typeface="Calibri"/>
              </a:rPr>
              <a:t>MPV_min</a:t>
            </a:r>
          </a:p>
        </p:txBody>
      </p:sp>
      <p:sp>
        <p:nvSpPr>
          <p:cNvPr id="44" name="Rectangle 43"/>
          <p:cNvSpPr/>
          <p:nvPr/>
        </p:nvSpPr>
        <p:spPr>
          <a:xfrm>
            <a:off x="9509760" y="1874519"/>
            <a:ext cx="1517904" cy="201168"/>
          </a:xfrm>
          <a:prstGeom prst="rect">
            <a:avLst/>
          </a:prstGeom>
          <a:solidFill>
            <a:srgbClr val="7A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430000" y="1828800"/>
            <a:ext cx="530352" cy="274320"/>
          </a:xfrm>
          <a:prstGeom prst="rect">
            <a:avLst/>
          </a:prstGeom>
          <a:noFill/>
        </p:spPr>
        <p:txBody>
          <a:bodyPr wrap="square">
            <a:spAutoFit/>
          </a:bodyPr>
          <a:lstStyle/>
          <a:p>
            <a:pPr algn="l"/>
            <a:r>
              <a:rPr sz="1000" b="1" i="0">
                <a:solidFill>
                  <a:srgbClr val="7A2222"/>
                </a:solidFill>
                <a:latin typeface="Calibri"/>
              </a:rPr>
              <a:t>24.9%</a:t>
            </a:r>
          </a:p>
        </p:txBody>
      </p:sp>
      <p:sp>
        <p:nvSpPr>
          <p:cNvPr id="46" name="TextBox 45"/>
          <p:cNvSpPr txBox="1"/>
          <p:nvPr/>
        </p:nvSpPr>
        <p:spPr>
          <a:xfrm>
            <a:off x="7360920" y="2359152"/>
            <a:ext cx="2011680" cy="274320"/>
          </a:xfrm>
          <a:prstGeom prst="rect">
            <a:avLst/>
          </a:prstGeom>
          <a:noFill/>
        </p:spPr>
        <p:txBody>
          <a:bodyPr wrap="square">
            <a:spAutoFit/>
          </a:bodyPr>
          <a:lstStyle/>
          <a:p>
            <a:pPr algn="l"/>
            <a:r>
              <a:rPr sz="1000" b="0" i="0">
                <a:solidFill>
                  <a:srgbClr val="383838"/>
                </a:solidFill>
                <a:latin typeface="Calibri"/>
              </a:rPr>
              <a:t>proc_otherproc</a:t>
            </a:r>
          </a:p>
        </p:txBody>
      </p:sp>
      <p:sp>
        <p:nvSpPr>
          <p:cNvPr id="47" name="Rectangle 46"/>
          <p:cNvSpPr/>
          <p:nvPr/>
        </p:nvSpPr>
        <p:spPr>
          <a:xfrm>
            <a:off x="9509760" y="2404872"/>
            <a:ext cx="1115568" cy="20116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430000" y="2359152"/>
            <a:ext cx="530352" cy="274320"/>
          </a:xfrm>
          <a:prstGeom prst="rect">
            <a:avLst/>
          </a:prstGeom>
          <a:noFill/>
        </p:spPr>
        <p:txBody>
          <a:bodyPr wrap="square">
            <a:spAutoFit/>
          </a:bodyPr>
          <a:lstStyle/>
          <a:p>
            <a:pPr algn="l"/>
            <a:r>
              <a:rPr sz="1000" b="1" i="0">
                <a:solidFill>
                  <a:srgbClr val="7A4A15"/>
                </a:solidFill>
                <a:latin typeface="Calibri"/>
              </a:rPr>
              <a:t>18.3%</a:t>
            </a:r>
          </a:p>
        </p:txBody>
      </p:sp>
      <p:sp>
        <p:nvSpPr>
          <p:cNvPr id="49" name="TextBox 48"/>
          <p:cNvSpPr txBox="1"/>
          <p:nvPr/>
        </p:nvSpPr>
        <p:spPr>
          <a:xfrm>
            <a:off x="7360920" y="2889503"/>
            <a:ext cx="2011680" cy="274320"/>
          </a:xfrm>
          <a:prstGeom prst="rect">
            <a:avLst/>
          </a:prstGeom>
          <a:noFill/>
        </p:spPr>
        <p:txBody>
          <a:bodyPr wrap="square">
            <a:spAutoFit/>
          </a:bodyPr>
          <a:lstStyle/>
          <a:p>
            <a:pPr algn="l"/>
            <a:r>
              <a:rPr sz="1000" b="0" i="0">
                <a:solidFill>
                  <a:srgbClr val="383838"/>
                </a:solidFill>
                <a:latin typeface="Calibri"/>
              </a:rPr>
              <a:t>n_geri_any</a:t>
            </a:r>
          </a:p>
        </p:txBody>
      </p:sp>
      <p:sp>
        <p:nvSpPr>
          <p:cNvPr id="50" name="Rectangle 49"/>
          <p:cNvSpPr/>
          <p:nvPr/>
        </p:nvSpPr>
        <p:spPr>
          <a:xfrm>
            <a:off x="9509760" y="2935223"/>
            <a:ext cx="737616" cy="201168"/>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1430000" y="2889503"/>
            <a:ext cx="530352" cy="274320"/>
          </a:xfrm>
          <a:prstGeom prst="rect">
            <a:avLst/>
          </a:prstGeom>
          <a:noFill/>
        </p:spPr>
        <p:txBody>
          <a:bodyPr wrap="square">
            <a:spAutoFit/>
          </a:bodyPr>
          <a:lstStyle/>
          <a:p>
            <a:pPr algn="l"/>
            <a:r>
              <a:rPr sz="1000" b="1" i="0">
                <a:solidFill>
                  <a:srgbClr val="7A4A15"/>
                </a:solidFill>
                <a:latin typeface="Calibri"/>
              </a:rPr>
              <a:t>12.1%</a:t>
            </a:r>
          </a:p>
        </p:txBody>
      </p:sp>
      <p:sp>
        <p:nvSpPr>
          <p:cNvPr id="52" name="TextBox 51"/>
          <p:cNvSpPr txBox="1"/>
          <p:nvPr/>
        </p:nvSpPr>
        <p:spPr>
          <a:xfrm>
            <a:off x="7360920" y="3419856"/>
            <a:ext cx="2011680" cy="274320"/>
          </a:xfrm>
          <a:prstGeom prst="rect">
            <a:avLst/>
          </a:prstGeom>
          <a:noFill/>
        </p:spPr>
        <p:txBody>
          <a:bodyPr wrap="square">
            <a:spAutoFit/>
          </a:bodyPr>
          <a:lstStyle/>
          <a:p>
            <a:pPr algn="l"/>
            <a:r>
              <a:rPr sz="1000" b="0" i="0">
                <a:solidFill>
                  <a:srgbClr val="383838"/>
                </a:solidFill>
                <a:latin typeface="Calibri"/>
              </a:rPr>
              <a:t>previousdispo_na</a:t>
            </a:r>
          </a:p>
        </p:txBody>
      </p:sp>
      <p:sp>
        <p:nvSpPr>
          <p:cNvPr id="53" name="Rectangle 52"/>
          <p:cNvSpPr/>
          <p:nvPr/>
        </p:nvSpPr>
        <p:spPr>
          <a:xfrm>
            <a:off x="9509760" y="3465575"/>
            <a:ext cx="316992"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1430000" y="3419856"/>
            <a:ext cx="530352" cy="274320"/>
          </a:xfrm>
          <a:prstGeom prst="rect">
            <a:avLst/>
          </a:prstGeom>
          <a:noFill/>
        </p:spPr>
        <p:txBody>
          <a:bodyPr wrap="square">
            <a:spAutoFit/>
          </a:bodyPr>
          <a:lstStyle/>
          <a:p>
            <a:pPr algn="l"/>
            <a:r>
              <a:rPr sz="1000" b="1" i="0">
                <a:solidFill>
                  <a:srgbClr val="2B6C7C"/>
                </a:solidFill>
                <a:latin typeface="Calibri"/>
              </a:rPr>
              <a:t>5.2%</a:t>
            </a:r>
          </a:p>
        </p:txBody>
      </p:sp>
      <p:sp>
        <p:nvSpPr>
          <p:cNvPr id="55" name="TextBox 54"/>
          <p:cNvSpPr txBox="1"/>
          <p:nvPr/>
        </p:nvSpPr>
        <p:spPr>
          <a:xfrm>
            <a:off x="7360920" y="3950208"/>
            <a:ext cx="2011680" cy="274320"/>
          </a:xfrm>
          <a:prstGeom prst="rect">
            <a:avLst/>
          </a:prstGeom>
          <a:noFill/>
        </p:spPr>
        <p:txBody>
          <a:bodyPr wrap="square">
            <a:spAutoFit/>
          </a:bodyPr>
          <a:lstStyle/>
          <a:p>
            <a:pPr algn="l"/>
            <a:r>
              <a:rPr sz="1000" b="0" i="0">
                <a:solidFill>
                  <a:srgbClr val="383838"/>
                </a:solidFill>
                <a:latin typeface="Calibri"/>
              </a:rPr>
              <a:t>age</a:t>
            </a:r>
          </a:p>
        </p:txBody>
      </p:sp>
      <p:sp>
        <p:nvSpPr>
          <p:cNvPr id="56" name="Rectangle 55"/>
          <p:cNvSpPr/>
          <p:nvPr/>
        </p:nvSpPr>
        <p:spPr>
          <a:xfrm>
            <a:off x="9509760" y="3995928"/>
            <a:ext cx="54864" cy="201168"/>
          </a:xfrm>
          <a:prstGeom prst="rect">
            <a:avLst/>
          </a:prstGeom>
          <a:solidFill>
            <a:srgbClr val="727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1430000" y="3950208"/>
            <a:ext cx="530352" cy="274320"/>
          </a:xfrm>
          <a:prstGeom prst="rect">
            <a:avLst/>
          </a:prstGeom>
          <a:noFill/>
        </p:spPr>
        <p:txBody>
          <a:bodyPr wrap="square">
            <a:spAutoFit/>
          </a:bodyPr>
          <a:lstStyle/>
          <a:p>
            <a:pPr algn="l"/>
            <a:r>
              <a:rPr sz="1000" b="1" i="0">
                <a:solidFill>
                  <a:srgbClr val="727272"/>
                </a:solidFill>
                <a:latin typeface="Calibri"/>
              </a:rPr>
              <a:t>0.8%</a:t>
            </a:r>
          </a:p>
        </p:txBody>
      </p:sp>
      <p:sp>
        <p:nvSpPr>
          <p:cNvPr id="58" name="TextBox 57"/>
          <p:cNvSpPr txBox="1"/>
          <p:nvPr/>
        </p:nvSpPr>
        <p:spPr>
          <a:xfrm>
            <a:off x="7360920" y="4480559"/>
            <a:ext cx="2011680" cy="274320"/>
          </a:xfrm>
          <a:prstGeom prst="rect">
            <a:avLst/>
          </a:prstGeom>
          <a:noFill/>
        </p:spPr>
        <p:txBody>
          <a:bodyPr wrap="square">
            <a:spAutoFit/>
          </a:bodyPr>
          <a:lstStyle/>
          <a:p>
            <a:pPr algn="l"/>
            <a:r>
              <a:rPr sz="1000" b="0" i="0">
                <a:solidFill>
                  <a:srgbClr val="383838"/>
                </a:solidFill>
                <a:latin typeface="Calibri"/>
              </a:rPr>
              <a:t>AUTONOMICDRUGS</a:t>
            </a:r>
          </a:p>
        </p:txBody>
      </p:sp>
      <p:sp>
        <p:nvSpPr>
          <p:cNvPr id="59" name="Rectangle 58"/>
          <p:cNvSpPr/>
          <p:nvPr/>
        </p:nvSpPr>
        <p:spPr>
          <a:xfrm>
            <a:off x="9509760" y="4526279"/>
            <a:ext cx="54864" cy="201168"/>
          </a:xfrm>
          <a:prstGeom prst="rect">
            <a:avLst/>
          </a:prstGeom>
          <a:solidFill>
            <a:srgbClr val="727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1430000" y="4480559"/>
            <a:ext cx="530352" cy="274320"/>
          </a:xfrm>
          <a:prstGeom prst="rect">
            <a:avLst/>
          </a:prstGeom>
          <a:noFill/>
        </p:spPr>
        <p:txBody>
          <a:bodyPr wrap="square">
            <a:spAutoFit/>
          </a:bodyPr>
          <a:lstStyle/>
          <a:p>
            <a:pPr algn="l"/>
            <a:r>
              <a:rPr sz="1000" b="1" i="0">
                <a:solidFill>
                  <a:srgbClr val="727272"/>
                </a:solidFill>
                <a:latin typeface="Calibri"/>
              </a:rPr>
              <a:t>0.4%</a:t>
            </a:r>
          </a:p>
        </p:txBody>
      </p:sp>
      <p:sp>
        <p:nvSpPr>
          <p:cNvPr id="61" name="TextBox 60"/>
          <p:cNvSpPr txBox="1"/>
          <p:nvPr/>
        </p:nvSpPr>
        <p:spPr>
          <a:xfrm>
            <a:off x="7360920" y="5029200"/>
            <a:ext cx="4389120" cy="228600"/>
          </a:xfrm>
          <a:prstGeom prst="rect">
            <a:avLst/>
          </a:prstGeom>
          <a:noFill/>
        </p:spPr>
        <p:txBody>
          <a:bodyPr wrap="square">
            <a:spAutoFit/>
          </a:bodyPr>
          <a:lstStyle/>
          <a:p>
            <a:pPr algn="l"/>
            <a:r>
              <a:rPr sz="900" b="0" i="1">
                <a:solidFill>
                  <a:srgbClr val="727272"/>
                </a:solidFill>
                <a:latin typeface="Calibri"/>
              </a:rPr>
              <a:t>red &gt;20%  /  amber &gt;5%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Q2 / Step 2</a:t>
            </a:r>
          </a:p>
        </p:txBody>
      </p:sp>
      <p:sp>
        <p:nvSpPr>
          <p:cNvPr id="5" name="TextBox 4"/>
          <p:cNvSpPr txBox="1"/>
          <p:nvPr/>
        </p:nvSpPr>
        <p:spPr>
          <a:xfrm>
            <a:off x="457200" y="164592"/>
            <a:ext cx="10789920" cy="621792"/>
          </a:xfrm>
          <a:prstGeom prst="rect">
            <a:avLst/>
          </a:prstGeom>
          <a:noFill/>
        </p:spPr>
        <p:txBody>
          <a:bodyPr wrap="square">
            <a:spAutoFit/>
          </a:bodyPr>
          <a:lstStyle/>
          <a:p>
            <a:pPr algn="l"/>
            <a:r>
              <a:rPr sz="3000" b="1" i="0">
                <a:solidFill>
                  <a:srgbClr val="1E4050"/>
                </a:solidFill>
                <a:latin typeface="Calibri"/>
              </a:rPr>
              <a:t>Step 2 - Table 1: Baseline Characteristics</a:t>
            </a:r>
          </a:p>
        </p:txBody>
      </p:sp>
      <p:sp>
        <p:nvSpPr>
          <p:cNvPr id="6" name="Rectangle 5"/>
          <p:cNvSpPr/>
          <p:nvPr/>
        </p:nvSpPr>
        <p:spPr>
          <a:xfrm>
            <a:off x="457200" y="841248"/>
            <a:ext cx="11274552"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896112"/>
            <a:ext cx="11338560" cy="228600"/>
          </a:xfrm>
          <a:prstGeom prst="rect">
            <a:avLst/>
          </a:prstGeom>
          <a:noFill/>
        </p:spPr>
        <p:txBody>
          <a:bodyPr wrap="square">
            <a:spAutoFit/>
          </a:bodyPr>
          <a:lstStyle/>
          <a:p>
            <a:pPr algn="l"/>
            <a:r>
              <a:rPr sz="950" b="0" i="1">
                <a:solidFill>
                  <a:srgbClr val="727272"/>
                </a:solidFill>
                <a:latin typeface="Calibri"/>
              </a:rPr>
              <a:t>Table 1A  -  Dementia+ vs Dementia-  (Mann-Whitney for continuous, chi-square for categorical)</a:t>
            </a:r>
          </a:p>
        </p:txBody>
      </p:sp>
      <p:sp>
        <p:nvSpPr>
          <p:cNvPr id="8" name="Rectangle 7"/>
          <p:cNvSpPr/>
          <p:nvPr/>
        </p:nvSpPr>
        <p:spPr>
          <a:xfrm>
            <a:off x="457200" y="1161288"/>
            <a:ext cx="2660904" cy="347472"/>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179576"/>
            <a:ext cx="2569464" cy="310896"/>
          </a:xfrm>
          <a:prstGeom prst="rect">
            <a:avLst/>
          </a:prstGeom>
          <a:noFill/>
        </p:spPr>
        <p:txBody>
          <a:bodyPr wrap="square">
            <a:spAutoFit/>
          </a:bodyPr>
          <a:lstStyle/>
          <a:p>
            <a:pPr algn="l"/>
            <a:r>
              <a:rPr sz="950" b="1" i="0">
                <a:solidFill>
                  <a:srgbClr val="FFFFFF"/>
                </a:solidFill>
                <a:latin typeface="Calibri"/>
              </a:rPr>
              <a:t>Characteristic</a:t>
            </a:r>
          </a:p>
        </p:txBody>
      </p:sp>
      <p:sp>
        <p:nvSpPr>
          <p:cNvPr id="10" name="Rectangle 9"/>
          <p:cNvSpPr/>
          <p:nvPr/>
        </p:nvSpPr>
        <p:spPr>
          <a:xfrm>
            <a:off x="3246120" y="1161288"/>
            <a:ext cx="1901952" cy="347472"/>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19272" y="1179576"/>
            <a:ext cx="1810512" cy="310896"/>
          </a:xfrm>
          <a:prstGeom prst="rect">
            <a:avLst/>
          </a:prstGeom>
          <a:noFill/>
        </p:spPr>
        <p:txBody>
          <a:bodyPr wrap="square">
            <a:spAutoFit/>
          </a:bodyPr>
          <a:lstStyle/>
          <a:p>
            <a:pPr algn="l"/>
            <a:r>
              <a:rPr sz="950" b="1" i="0">
                <a:solidFill>
                  <a:srgbClr val="FFFFFF"/>
                </a:solidFill>
                <a:latin typeface="Calibri"/>
              </a:rPr>
              <a:t>Overall
(N=100,000)</a:t>
            </a:r>
          </a:p>
        </p:txBody>
      </p:sp>
      <p:sp>
        <p:nvSpPr>
          <p:cNvPr id="12" name="Rectangle 11"/>
          <p:cNvSpPr/>
          <p:nvPr/>
        </p:nvSpPr>
        <p:spPr>
          <a:xfrm>
            <a:off x="5303520" y="1161288"/>
            <a:ext cx="1865376" cy="347472"/>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76672" y="1179576"/>
            <a:ext cx="1773936" cy="310896"/>
          </a:xfrm>
          <a:prstGeom prst="rect">
            <a:avLst/>
          </a:prstGeom>
          <a:noFill/>
        </p:spPr>
        <p:txBody>
          <a:bodyPr wrap="square">
            <a:spAutoFit/>
          </a:bodyPr>
          <a:lstStyle/>
          <a:p>
            <a:pPr algn="l"/>
            <a:r>
              <a:rPr sz="950" b="1" i="0">
                <a:solidFill>
                  <a:srgbClr val="FFFFFF"/>
                </a:solidFill>
                <a:latin typeface="Calibri"/>
              </a:rPr>
              <a:t>Dementia+
(N=21,641)</a:t>
            </a:r>
          </a:p>
        </p:txBody>
      </p:sp>
      <p:sp>
        <p:nvSpPr>
          <p:cNvPr id="14" name="Rectangle 13"/>
          <p:cNvSpPr/>
          <p:nvPr/>
        </p:nvSpPr>
        <p:spPr>
          <a:xfrm>
            <a:off x="7315200" y="1161288"/>
            <a:ext cx="1865376" cy="347472"/>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88352" y="1179576"/>
            <a:ext cx="1773936" cy="310896"/>
          </a:xfrm>
          <a:prstGeom prst="rect">
            <a:avLst/>
          </a:prstGeom>
          <a:noFill/>
        </p:spPr>
        <p:txBody>
          <a:bodyPr wrap="square">
            <a:spAutoFit/>
          </a:bodyPr>
          <a:lstStyle/>
          <a:p>
            <a:pPr algn="l"/>
            <a:r>
              <a:rPr sz="950" b="1" i="0">
                <a:solidFill>
                  <a:srgbClr val="FFFFFF"/>
                </a:solidFill>
                <a:latin typeface="Calibri"/>
              </a:rPr>
              <a:t>Dementia-
(N=78,359)</a:t>
            </a:r>
          </a:p>
        </p:txBody>
      </p:sp>
      <p:sp>
        <p:nvSpPr>
          <p:cNvPr id="16" name="Rectangle 15"/>
          <p:cNvSpPr/>
          <p:nvPr/>
        </p:nvSpPr>
        <p:spPr>
          <a:xfrm>
            <a:off x="9326880" y="1161288"/>
            <a:ext cx="1792224" cy="347472"/>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00032" y="1179576"/>
            <a:ext cx="1700784" cy="310896"/>
          </a:xfrm>
          <a:prstGeom prst="rect">
            <a:avLst/>
          </a:prstGeom>
          <a:noFill/>
        </p:spPr>
        <p:txBody>
          <a:bodyPr wrap="square">
            <a:spAutoFit/>
          </a:bodyPr>
          <a:lstStyle/>
          <a:p>
            <a:pPr algn="l"/>
            <a:r>
              <a:rPr sz="950" b="1" i="0">
                <a:solidFill>
                  <a:srgbClr val="FFFFFF"/>
                </a:solidFill>
                <a:latin typeface="Calibri"/>
              </a:rPr>
              <a:t>p-value</a:t>
            </a:r>
          </a:p>
        </p:txBody>
      </p:sp>
      <p:sp>
        <p:nvSpPr>
          <p:cNvPr id="18" name="Rectangle 17"/>
          <p:cNvSpPr/>
          <p:nvPr/>
        </p:nvSpPr>
        <p:spPr>
          <a:xfrm>
            <a:off x="457200" y="1536192"/>
            <a:ext cx="266090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0352" y="1554480"/>
            <a:ext cx="2569464" cy="246888"/>
          </a:xfrm>
          <a:prstGeom prst="rect">
            <a:avLst/>
          </a:prstGeom>
          <a:noFill/>
        </p:spPr>
        <p:txBody>
          <a:bodyPr wrap="square">
            <a:spAutoFit/>
          </a:bodyPr>
          <a:lstStyle/>
          <a:p>
            <a:pPr algn="l"/>
            <a:r>
              <a:rPr sz="950" b="1" i="0">
                <a:solidFill>
                  <a:srgbClr val="1E4050"/>
                </a:solidFill>
                <a:latin typeface="Calibri"/>
              </a:rPr>
              <a:t>Age - median (IQR)</a:t>
            </a:r>
          </a:p>
        </p:txBody>
      </p:sp>
      <p:sp>
        <p:nvSpPr>
          <p:cNvPr id="20" name="Rectangle 19"/>
          <p:cNvSpPr/>
          <p:nvPr/>
        </p:nvSpPr>
        <p:spPr>
          <a:xfrm>
            <a:off x="3246120" y="1536192"/>
            <a:ext cx="1901952"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19272" y="1554480"/>
            <a:ext cx="1810512" cy="246888"/>
          </a:xfrm>
          <a:prstGeom prst="rect">
            <a:avLst/>
          </a:prstGeom>
          <a:noFill/>
        </p:spPr>
        <p:txBody>
          <a:bodyPr wrap="square">
            <a:spAutoFit/>
          </a:bodyPr>
          <a:lstStyle/>
          <a:p>
            <a:pPr algn="l"/>
            <a:r>
              <a:rPr sz="950" b="0" i="0">
                <a:solidFill>
                  <a:srgbClr val="383838"/>
                </a:solidFill>
                <a:latin typeface="Calibri"/>
              </a:rPr>
              <a:t>74.0 (66.6-81.4)</a:t>
            </a:r>
          </a:p>
        </p:txBody>
      </p:sp>
      <p:sp>
        <p:nvSpPr>
          <p:cNvPr id="22" name="Rectangle 21"/>
          <p:cNvSpPr/>
          <p:nvPr/>
        </p:nvSpPr>
        <p:spPr>
          <a:xfrm>
            <a:off x="5303520" y="1536192"/>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76672" y="1554480"/>
            <a:ext cx="1773936" cy="246888"/>
          </a:xfrm>
          <a:prstGeom prst="rect">
            <a:avLst/>
          </a:prstGeom>
          <a:noFill/>
        </p:spPr>
        <p:txBody>
          <a:bodyPr wrap="square">
            <a:spAutoFit/>
          </a:bodyPr>
          <a:lstStyle/>
          <a:p>
            <a:pPr algn="l"/>
            <a:r>
              <a:rPr sz="950" b="0" i="0">
                <a:solidFill>
                  <a:srgbClr val="383838"/>
                </a:solidFill>
                <a:latin typeface="Calibri"/>
              </a:rPr>
              <a:t>77.8 (70.6-85.1)</a:t>
            </a:r>
          </a:p>
        </p:txBody>
      </p:sp>
      <p:sp>
        <p:nvSpPr>
          <p:cNvPr id="24" name="Rectangle 23"/>
          <p:cNvSpPr/>
          <p:nvPr/>
        </p:nvSpPr>
        <p:spPr>
          <a:xfrm>
            <a:off x="7315200" y="1536192"/>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88352" y="1554480"/>
            <a:ext cx="1773936" cy="246888"/>
          </a:xfrm>
          <a:prstGeom prst="rect">
            <a:avLst/>
          </a:prstGeom>
          <a:noFill/>
        </p:spPr>
        <p:txBody>
          <a:bodyPr wrap="square">
            <a:spAutoFit/>
          </a:bodyPr>
          <a:lstStyle/>
          <a:p>
            <a:pPr algn="l"/>
            <a:r>
              <a:rPr sz="950" b="0" i="0">
                <a:solidFill>
                  <a:srgbClr val="383838"/>
                </a:solidFill>
                <a:latin typeface="Calibri"/>
              </a:rPr>
              <a:t>72.9 (65.6-80.3)</a:t>
            </a:r>
          </a:p>
        </p:txBody>
      </p:sp>
      <p:sp>
        <p:nvSpPr>
          <p:cNvPr id="26" name="Rectangle 25"/>
          <p:cNvSpPr/>
          <p:nvPr/>
        </p:nvSpPr>
        <p:spPr>
          <a:xfrm>
            <a:off x="9326880" y="1536192"/>
            <a:ext cx="179222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00032" y="1554480"/>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28" name="Rectangle 27"/>
          <p:cNvSpPr/>
          <p:nvPr/>
        </p:nvSpPr>
        <p:spPr>
          <a:xfrm>
            <a:off x="457200" y="1828800"/>
            <a:ext cx="266090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 y="1847088"/>
            <a:ext cx="2569464" cy="246888"/>
          </a:xfrm>
          <a:prstGeom prst="rect">
            <a:avLst/>
          </a:prstGeom>
          <a:noFill/>
        </p:spPr>
        <p:txBody>
          <a:bodyPr wrap="square">
            <a:spAutoFit/>
          </a:bodyPr>
          <a:lstStyle/>
          <a:p>
            <a:pPr algn="l"/>
            <a:r>
              <a:rPr sz="950" b="1" i="0">
                <a:solidFill>
                  <a:srgbClr val="1E4050"/>
                </a:solidFill>
                <a:latin typeface="Calibri"/>
              </a:rPr>
              <a:t>Female sex</a:t>
            </a:r>
          </a:p>
        </p:txBody>
      </p:sp>
      <p:sp>
        <p:nvSpPr>
          <p:cNvPr id="30" name="Rectangle 29"/>
          <p:cNvSpPr/>
          <p:nvPr/>
        </p:nvSpPr>
        <p:spPr>
          <a:xfrm>
            <a:off x="3246120" y="1828800"/>
            <a:ext cx="1901952"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19272" y="1847088"/>
            <a:ext cx="1810512" cy="246888"/>
          </a:xfrm>
          <a:prstGeom prst="rect">
            <a:avLst/>
          </a:prstGeom>
          <a:noFill/>
        </p:spPr>
        <p:txBody>
          <a:bodyPr wrap="square">
            <a:spAutoFit/>
          </a:bodyPr>
          <a:lstStyle/>
          <a:p>
            <a:pPr algn="l"/>
            <a:r>
              <a:rPr sz="950" b="0" i="0">
                <a:solidFill>
                  <a:srgbClr val="383838"/>
                </a:solidFill>
                <a:latin typeface="Calibri"/>
              </a:rPr>
              <a:t>48,164 (48.2%)</a:t>
            </a:r>
          </a:p>
        </p:txBody>
      </p:sp>
      <p:sp>
        <p:nvSpPr>
          <p:cNvPr id="32" name="Rectangle 31"/>
          <p:cNvSpPr/>
          <p:nvPr/>
        </p:nvSpPr>
        <p:spPr>
          <a:xfrm>
            <a:off x="5303520" y="1828800"/>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76672" y="1847088"/>
            <a:ext cx="1773936" cy="246888"/>
          </a:xfrm>
          <a:prstGeom prst="rect">
            <a:avLst/>
          </a:prstGeom>
          <a:noFill/>
        </p:spPr>
        <p:txBody>
          <a:bodyPr wrap="square">
            <a:spAutoFit/>
          </a:bodyPr>
          <a:lstStyle/>
          <a:p>
            <a:pPr algn="l"/>
            <a:r>
              <a:rPr sz="950" b="0" i="0">
                <a:solidFill>
                  <a:srgbClr val="383838"/>
                </a:solidFill>
                <a:latin typeface="Calibri"/>
              </a:rPr>
              <a:t>10,491 (48.5%)</a:t>
            </a:r>
          </a:p>
        </p:txBody>
      </p:sp>
      <p:sp>
        <p:nvSpPr>
          <p:cNvPr id="34" name="Rectangle 33"/>
          <p:cNvSpPr/>
          <p:nvPr/>
        </p:nvSpPr>
        <p:spPr>
          <a:xfrm>
            <a:off x="7315200" y="1828800"/>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88352" y="1847088"/>
            <a:ext cx="1773936" cy="246888"/>
          </a:xfrm>
          <a:prstGeom prst="rect">
            <a:avLst/>
          </a:prstGeom>
          <a:noFill/>
        </p:spPr>
        <p:txBody>
          <a:bodyPr wrap="square">
            <a:spAutoFit/>
          </a:bodyPr>
          <a:lstStyle/>
          <a:p>
            <a:pPr algn="l"/>
            <a:r>
              <a:rPr sz="950" b="0" i="0">
                <a:solidFill>
                  <a:srgbClr val="383838"/>
                </a:solidFill>
                <a:latin typeface="Calibri"/>
              </a:rPr>
              <a:t>37,673 (48.1%)</a:t>
            </a:r>
          </a:p>
        </p:txBody>
      </p:sp>
      <p:sp>
        <p:nvSpPr>
          <p:cNvPr id="36" name="Rectangle 35"/>
          <p:cNvSpPr/>
          <p:nvPr/>
        </p:nvSpPr>
        <p:spPr>
          <a:xfrm>
            <a:off x="9326880" y="1828800"/>
            <a:ext cx="179222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400032" y="1847088"/>
            <a:ext cx="1700784" cy="246888"/>
          </a:xfrm>
          <a:prstGeom prst="rect">
            <a:avLst/>
          </a:prstGeom>
          <a:noFill/>
        </p:spPr>
        <p:txBody>
          <a:bodyPr wrap="square">
            <a:spAutoFit/>
          </a:bodyPr>
          <a:lstStyle/>
          <a:p>
            <a:pPr algn="l"/>
            <a:r>
              <a:rPr sz="950" b="0" i="0">
                <a:solidFill>
                  <a:srgbClr val="2B6C7C"/>
                </a:solidFill>
                <a:latin typeface="Calibri"/>
              </a:rPr>
              <a:t>0.301</a:t>
            </a:r>
          </a:p>
        </p:txBody>
      </p:sp>
      <p:sp>
        <p:nvSpPr>
          <p:cNvPr id="38" name="Rectangle 37"/>
          <p:cNvSpPr/>
          <p:nvPr/>
        </p:nvSpPr>
        <p:spPr>
          <a:xfrm>
            <a:off x="457200" y="2121408"/>
            <a:ext cx="266090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0352" y="2139696"/>
            <a:ext cx="2569464" cy="246888"/>
          </a:xfrm>
          <a:prstGeom prst="rect">
            <a:avLst/>
          </a:prstGeom>
          <a:noFill/>
        </p:spPr>
        <p:txBody>
          <a:bodyPr wrap="square">
            <a:spAutoFit/>
          </a:bodyPr>
          <a:lstStyle/>
          <a:p>
            <a:pPr algn="l"/>
            <a:r>
              <a:rPr sz="950" b="1" i="0">
                <a:solidFill>
                  <a:srgbClr val="1E4050"/>
                </a:solidFill>
                <a:latin typeface="Calibri"/>
              </a:rPr>
              <a:t>Medicare insurance</a:t>
            </a:r>
          </a:p>
        </p:txBody>
      </p:sp>
      <p:sp>
        <p:nvSpPr>
          <p:cNvPr id="40" name="Rectangle 39"/>
          <p:cNvSpPr/>
          <p:nvPr/>
        </p:nvSpPr>
        <p:spPr>
          <a:xfrm>
            <a:off x="3246120" y="2121408"/>
            <a:ext cx="1901952"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319272" y="2139696"/>
            <a:ext cx="1810512" cy="246888"/>
          </a:xfrm>
          <a:prstGeom prst="rect">
            <a:avLst/>
          </a:prstGeom>
          <a:noFill/>
        </p:spPr>
        <p:txBody>
          <a:bodyPr wrap="square">
            <a:spAutoFit/>
          </a:bodyPr>
          <a:lstStyle/>
          <a:p>
            <a:pPr algn="l"/>
            <a:r>
              <a:rPr sz="950" b="0" i="0">
                <a:solidFill>
                  <a:srgbClr val="383838"/>
                </a:solidFill>
                <a:latin typeface="Calibri"/>
              </a:rPr>
              <a:t>38,303 (38.3%)</a:t>
            </a:r>
          </a:p>
        </p:txBody>
      </p:sp>
      <p:sp>
        <p:nvSpPr>
          <p:cNvPr id="42" name="Rectangle 41"/>
          <p:cNvSpPr/>
          <p:nvPr/>
        </p:nvSpPr>
        <p:spPr>
          <a:xfrm>
            <a:off x="5303520" y="2121408"/>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376672" y="2139696"/>
            <a:ext cx="1773936" cy="246888"/>
          </a:xfrm>
          <a:prstGeom prst="rect">
            <a:avLst/>
          </a:prstGeom>
          <a:noFill/>
        </p:spPr>
        <p:txBody>
          <a:bodyPr wrap="square">
            <a:spAutoFit/>
          </a:bodyPr>
          <a:lstStyle/>
          <a:p>
            <a:pPr algn="l"/>
            <a:r>
              <a:rPr sz="950" b="0" i="0">
                <a:solidFill>
                  <a:srgbClr val="383838"/>
                </a:solidFill>
                <a:latin typeface="Calibri"/>
              </a:rPr>
              <a:t>8,288 (38.3%)</a:t>
            </a:r>
          </a:p>
        </p:txBody>
      </p:sp>
      <p:sp>
        <p:nvSpPr>
          <p:cNvPr id="44" name="Rectangle 43"/>
          <p:cNvSpPr/>
          <p:nvPr/>
        </p:nvSpPr>
        <p:spPr>
          <a:xfrm>
            <a:off x="7315200" y="2121408"/>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88352" y="2139696"/>
            <a:ext cx="1773936" cy="246888"/>
          </a:xfrm>
          <a:prstGeom prst="rect">
            <a:avLst/>
          </a:prstGeom>
          <a:noFill/>
        </p:spPr>
        <p:txBody>
          <a:bodyPr wrap="square">
            <a:spAutoFit/>
          </a:bodyPr>
          <a:lstStyle/>
          <a:p>
            <a:pPr algn="l"/>
            <a:r>
              <a:rPr sz="950" b="0" i="0">
                <a:solidFill>
                  <a:srgbClr val="383838"/>
                </a:solidFill>
                <a:latin typeface="Calibri"/>
              </a:rPr>
              <a:t>30,015 (38.3%)</a:t>
            </a:r>
          </a:p>
        </p:txBody>
      </p:sp>
      <p:sp>
        <p:nvSpPr>
          <p:cNvPr id="46" name="Rectangle 45"/>
          <p:cNvSpPr/>
          <p:nvPr/>
        </p:nvSpPr>
        <p:spPr>
          <a:xfrm>
            <a:off x="9326880" y="2121408"/>
            <a:ext cx="179222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400032" y="2139696"/>
            <a:ext cx="1700784" cy="246888"/>
          </a:xfrm>
          <a:prstGeom prst="rect">
            <a:avLst/>
          </a:prstGeom>
          <a:noFill/>
        </p:spPr>
        <p:txBody>
          <a:bodyPr wrap="square">
            <a:spAutoFit/>
          </a:bodyPr>
          <a:lstStyle/>
          <a:p>
            <a:pPr algn="l"/>
            <a:r>
              <a:rPr sz="950" b="0" i="0">
                <a:solidFill>
                  <a:srgbClr val="2B6C7C"/>
                </a:solidFill>
                <a:latin typeface="Calibri"/>
              </a:rPr>
              <a:t>0.992</a:t>
            </a:r>
          </a:p>
        </p:txBody>
      </p:sp>
      <p:sp>
        <p:nvSpPr>
          <p:cNvPr id="48" name="Rectangle 47"/>
          <p:cNvSpPr/>
          <p:nvPr/>
        </p:nvSpPr>
        <p:spPr>
          <a:xfrm>
            <a:off x="457200" y="2414015"/>
            <a:ext cx="266090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30352" y="2432304"/>
            <a:ext cx="2569464" cy="246888"/>
          </a:xfrm>
          <a:prstGeom prst="rect">
            <a:avLst/>
          </a:prstGeom>
          <a:noFill/>
        </p:spPr>
        <p:txBody>
          <a:bodyPr wrap="square">
            <a:spAutoFit/>
          </a:bodyPr>
          <a:lstStyle/>
          <a:p>
            <a:pPr algn="l"/>
            <a:r>
              <a:rPr sz="950" b="1" i="0">
                <a:solidFill>
                  <a:srgbClr val="1E4050"/>
                </a:solidFill>
                <a:latin typeface="Calibri"/>
              </a:rPr>
              <a:t>Prior ED visits 24mo</a:t>
            </a:r>
          </a:p>
        </p:txBody>
      </p:sp>
      <p:sp>
        <p:nvSpPr>
          <p:cNvPr id="50" name="Rectangle 49"/>
          <p:cNvSpPr/>
          <p:nvPr/>
        </p:nvSpPr>
        <p:spPr>
          <a:xfrm>
            <a:off x="3246120" y="2414015"/>
            <a:ext cx="1901952"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319272" y="2432304"/>
            <a:ext cx="1810512" cy="246888"/>
          </a:xfrm>
          <a:prstGeom prst="rect">
            <a:avLst/>
          </a:prstGeom>
          <a:noFill/>
        </p:spPr>
        <p:txBody>
          <a:bodyPr wrap="square">
            <a:spAutoFit/>
          </a:bodyPr>
          <a:lstStyle/>
          <a:p>
            <a:pPr algn="l"/>
            <a:r>
              <a:rPr sz="950" b="0" i="0">
                <a:solidFill>
                  <a:srgbClr val="383838"/>
                </a:solidFill>
                <a:latin typeface="Calibri"/>
              </a:rPr>
              <a:t>3.0 (2.0-4.0)</a:t>
            </a:r>
          </a:p>
        </p:txBody>
      </p:sp>
      <p:sp>
        <p:nvSpPr>
          <p:cNvPr id="52" name="Rectangle 51"/>
          <p:cNvSpPr/>
          <p:nvPr/>
        </p:nvSpPr>
        <p:spPr>
          <a:xfrm>
            <a:off x="5303520" y="2414015"/>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376672" y="2432304"/>
            <a:ext cx="1773936" cy="246888"/>
          </a:xfrm>
          <a:prstGeom prst="rect">
            <a:avLst/>
          </a:prstGeom>
          <a:noFill/>
        </p:spPr>
        <p:txBody>
          <a:bodyPr wrap="square">
            <a:spAutoFit/>
          </a:bodyPr>
          <a:lstStyle/>
          <a:p>
            <a:pPr algn="l"/>
            <a:r>
              <a:rPr sz="950" b="0" i="0">
                <a:solidFill>
                  <a:srgbClr val="383838"/>
                </a:solidFill>
                <a:latin typeface="Calibri"/>
              </a:rPr>
              <a:t>3.0 (2.0-4.0)</a:t>
            </a:r>
          </a:p>
        </p:txBody>
      </p:sp>
      <p:sp>
        <p:nvSpPr>
          <p:cNvPr id="54" name="Rectangle 53"/>
          <p:cNvSpPr/>
          <p:nvPr/>
        </p:nvSpPr>
        <p:spPr>
          <a:xfrm>
            <a:off x="7315200" y="2414015"/>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388352" y="2432304"/>
            <a:ext cx="1773936" cy="246888"/>
          </a:xfrm>
          <a:prstGeom prst="rect">
            <a:avLst/>
          </a:prstGeom>
          <a:noFill/>
        </p:spPr>
        <p:txBody>
          <a:bodyPr wrap="square">
            <a:spAutoFit/>
          </a:bodyPr>
          <a:lstStyle/>
          <a:p>
            <a:pPr algn="l"/>
            <a:r>
              <a:rPr sz="950" b="0" i="0">
                <a:solidFill>
                  <a:srgbClr val="383838"/>
                </a:solidFill>
                <a:latin typeface="Calibri"/>
              </a:rPr>
              <a:t>3.0 (2.0-4.0)</a:t>
            </a:r>
          </a:p>
        </p:txBody>
      </p:sp>
      <p:sp>
        <p:nvSpPr>
          <p:cNvPr id="56" name="Rectangle 55"/>
          <p:cNvSpPr/>
          <p:nvPr/>
        </p:nvSpPr>
        <p:spPr>
          <a:xfrm>
            <a:off x="9326880" y="2414015"/>
            <a:ext cx="179222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400032" y="2432304"/>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58" name="Rectangle 57"/>
          <p:cNvSpPr/>
          <p:nvPr/>
        </p:nvSpPr>
        <p:spPr>
          <a:xfrm>
            <a:off x="457200" y="2706624"/>
            <a:ext cx="266090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30352" y="2724912"/>
            <a:ext cx="2569464" cy="246888"/>
          </a:xfrm>
          <a:prstGeom prst="rect">
            <a:avLst/>
          </a:prstGeom>
          <a:noFill/>
        </p:spPr>
        <p:txBody>
          <a:bodyPr wrap="square">
            <a:spAutoFit/>
          </a:bodyPr>
          <a:lstStyle/>
          <a:p>
            <a:pPr algn="l"/>
            <a:r>
              <a:rPr sz="950" b="1" i="0">
                <a:solidFill>
                  <a:srgbClr val="1E4050"/>
                </a:solidFill>
                <a:latin typeface="Calibri"/>
              </a:rPr>
              <a:t>Prior hosps 24mo</a:t>
            </a:r>
          </a:p>
        </p:txBody>
      </p:sp>
      <p:sp>
        <p:nvSpPr>
          <p:cNvPr id="60" name="Rectangle 59"/>
          <p:cNvSpPr/>
          <p:nvPr/>
        </p:nvSpPr>
        <p:spPr>
          <a:xfrm>
            <a:off x="3246120" y="2706624"/>
            <a:ext cx="1901952"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319272" y="2724912"/>
            <a:ext cx="1810512" cy="246888"/>
          </a:xfrm>
          <a:prstGeom prst="rect">
            <a:avLst/>
          </a:prstGeom>
          <a:noFill/>
        </p:spPr>
        <p:txBody>
          <a:bodyPr wrap="square">
            <a:spAutoFit/>
          </a:bodyPr>
          <a:lstStyle/>
          <a:p>
            <a:pPr algn="l"/>
            <a:r>
              <a:rPr sz="950" b="0" i="0">
                <a:solidFill>
                  <a:srgbClr val="383838"/>
                </a:solidFill>
                <a:latin typeface="Calibri"/>
              </a:rPr>
              <a:t>2.0 (1.0-3.0)</a:t>
            </a:r>
          </a:p>
        </p:txBody>
      </p:sp>
      <p:sp>
        <p:nvSpPr>
          <p:cNvPr id="62" name="Rectangle 61"/>
          <p:cNvSpPr/>
          <p:nvPr/>
        </p:nvSpPr>
        <p:spPr>
          <a:xfrm>
            <a:off x="5303520" y="2706624"/>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376672" y="2724912"/>
            <a:ext cx="1773936" cy="246888"/>
          </a:xfrm>
          <a:prstGeom prst="rect">
            <a:avLst/>
          </a:prstGeom>
          <a:noFill/>
        </p:spPr>
        <p:txBody>
          <a:bodyPr wrap="square">
            <a:spAutoFit/>
          </a:bodyPr>
          <a:lstStyle/>
          <a:p>
            <a:pPr algn="l"/>
            <a:r>
              <a:rPr sz="950" b="0" i="0">
                <a:solidFill>
                  <a:srgbClr val="383838"/>
                </a:solidFill>
                <a:latin typeface="Calibri"/>
              </a:rPr>
              <a:t>2.0 (1.0-3.0)</a:t>
            </a:r>
          </a:p>
        </p:txBody>
      </p:sp>
      <p:sp>
        <p:nvSpPr>
          <p:cNvPr id="64" name="Rectangle 63"/>
          <p:cNvSpPr/>
          <p:nvPr/>
        </p:nvSpPr>
        <p:spPr>
          <a:xfrm>
            <a:off x="7315200" y="2706624"/>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388352" y="2724912"/>
            <a:ext cx="1773936" cy="246888"/>
          </a:xfrm>
          <a:prstGeom prst="rect">
            <a:avLst/>
          </a:prstGeom>
          <a:noFill/>
        </p:spPr>
        <p:txBody>
          <a:bodyPr wrap="square">
            <a:spAutoFit/>
          </a:bodyPr>
          <a:lstStyle/>
          <a:p>
            <a:pPr algn="l"/>
            <a:r>
              <a:rPr sz="950" b="0" i="0">
                <a:solidFill>
                  <a:srgbClr val="383838"/>
                </a:solidFill>
                <a:latin typeface="Calibri"/>
              </a:rPr>
              <a:t>2.0 (1.0-3.0)</a:t>
            </a:r>
          </a:p>
        </p:txBody>
      </p:sp>
      <p:sp>
        <p:nvSpPr>
          <p:cNvPr id="66" name="Rectangle 65"/>
          <p:cNvSpPr/>
          <p:nvPr/>
        </p:nvSpPr>
        <p:spPr>
          <a:xfrm>
            <a:off x="9326880" y="2706624"/>
            <a:ext cx="179222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400032" y="2724912"/>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68" name="Rectangle 67"/>
          <p:cNvSpPr/>
          <p:nvPr/>
        </p:nvSpPr>
        <p:spPr>
          <a:xfrm>
            <a:off x="457200" y="2999232"/>
            <a:ext cx="266090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30352" y="3017520"/>
            <a:ext cx="2569464" cy="246888"/>
          </a:xfrm>
          <a:prstGeom prst="rect">
            <a:avLst/>
          </a:prstGeom>
          <a:noFill/>
        </p:spPr>
        <p:txBody>
          <a:bodyPr wrap="square">
            <a:spAutoFit/>
          </a:bodyPr>
          <a:lstStyle/>
          <a:p>
            <a:pPr algn="l"/>
            <a:r>
              <a:rPr sz="950" b="1" i="0">
                <a:solidFill>
                  <a:srgbClr val="1E4050"/>
                </a:solidFill>
                <a:latin typeface="Calibri"/>
              </a:rPr>
              <a:t>Any dementia drug Rx</a:t>
            </a:r>
          </a:p>
        </p:txBody>
      </p:sp>
      <p:sp>
        <p:nvSpPr>
          <p:cNvPr id="70" name="Rectangle 69"/>
          <p:cNvSpPr/>
          <p:nvPr/>
        </p:nvSpPr>
        <p:spPr>
          <a:xfrm>
            <a:off x="3246120" y="2999232"/>
            <a:ext cx="1901952"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319272" y="3017520"/>
            <a:ext cx="1810512" cy="246888"/>
          </a:xfrm>
          <a:prstGeom prst="rect">
            <a:avLst/>
          </a:prstGeom>
          <a:noFill/>
        </p:spPr>
        <p:txBody>
          <a:bodyPr wrap="square">
            <a:spAutoFit/>
          </a:bodyPr>
          <a:lstStyle/>
          <a:p>
            <a:pPr algn="l"/>
            <a:r>
              <a:rPr sz="950" b="0" i="0">
                <a:solidFill>
                  <a:srgbClr val="383838"/>
                </a:solidFill>
                <a:latin typeface="Calibri"/>
              </a:rPr>
              <a:t>37,378 (37.4%)</a:t>
            </a:r>
          </a:p>
        </p:txBody>
      </p:sp>
      <p:sp>
        <p:nvSpPr>
          <p:cNvPr id="72" name="Rectangle 71"/>
          <p:cNvSpPr/>
          <p:nvPr/>
        </p:nvSpPr>
        <p:spPr>
          <a:xfrm>
            <a:off x="5303520" y="2999232"/>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376672" y="3017520"/>
            <a:ext cx="1773936" cy="246888"/>
          </a:xfrm>
          <a:prstGeom prst="rect">
            <a:avLst/>
          </a:prstGeom>
          <a:noFill/>
        </p:spPr>
        <p:txBody>
          <a:bodyPr wrap="square">
            <a:spAutoFit/>
          </a:bodyPr>
          <a:lstStyle/>
          <a:p>
            <a:pPr algn="l"/>
            <a:r>
              <a:rPr sz="950" b="0" i="0">
                <a:solidFill>
                  <a:srgbClr val="383838"/>
                </a:solidFill>
                <a:latin typeface="Calibri"/>
              </a:rPr>
              <a:t>10,419 (48.1%)</a:t>
            </a:r>
          </a:p>
        </p:txBody>
      </p:sp>
      <p:sp>
        <p:nvSpPr>
          <p:cNvPr id="74" name="Rectangle 73"/>
          <p:cNvSpPr/>
          <p:nvPr/>
        </p:nvSpPr>
        <p:spPr>
          <a:xfrm>
            <a:off x="7315200" y="2999232"/>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388352" y="3017520"/>
            <a:ext cx="1773936" cy="246888"/>
          </a:xfrm>
          <a:prstGeom prst="rect">
            <a:avLst/>
          </a:prstGeom>
          <a:noFill/>
        </p:spPr>
        <p:txBody>
          <a:bodyPr wrap="square">
            <a:spAutoFit/>
          </a:bodyPr>
          <a:lstStyle/>
          <a:p>
            <a:pPr algn="l"/>
            <a:r>
              <a:rPr sz="950" b="0" i="0">
                <a:solidFill>
                  <a:srgbClr val="383838"/>
                </a:solidFill>
                <a:latin typeface="Calibri"/>
              </a:rPr>
              <a:t>26,959 (34.4%)</a:t>
            </a:r>
          </a:p>
        </p:txBody>
      </p:sp>
      <p:sp>
        <p:nvSpPr>
          <p:cNvPr id="76" name="Rectangle 75"/>
          <p:cNvSpPr/>
          <p:nvPr/>
        </p:nvSpPr>
        <p:spPr>
          <a:xfrm>
            <a:off x="9326880" y="2999232"/>
            <a:ext cx="179222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400032" y="3017520"/>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78" name="Rectangle 77"/>
          <p:cNvSpPr/>
          <p:nvPr/>
        </p:nvSpPr>
        <p:spPr>
          <a:xfrm>
            <a:off x="457200" y="3291839"/>
            <a:ext cx="266090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30352" y="3310128"/>
            <a:ext cx="2569464" cy="246888"/>
          </a:xfrm>
          <a:prstGeom prst="rect">
            <a:avLst/>
          </a:prstGeom>
          <a:noFill/>
        </p:spPr>
        <p:txBody>
          <a:bodyPr wrap="square">
            <a:spAutoFit/>
          </a:bodyPr>
          <a:lstStyle/>
          <a:p>
            <a:pPr algn="l"/>
            <a:r>
              <a:rPr sz="950" b="1" i="0">
                <a:solidFill>
                  <a:srgbClr val="1E4050"/>
                </a:solidFill>
                <a:latin typeface="Calibri"/>
              </a:rPr>
              <a:t>Hx Parkinson's</a:t>
            </a:r>
          </a:p>
        </p:txBody>
      </p:sp>
      <p:sp>
        <p:nvSpPr>
          <p:cNvPr id="80" name="Rectangle 79"/>
          <p:cNvSpPr/>
          <p:nvPr/>
        </p:nvSpPr>
        <p:spPr>
          <a:xfrm>
            <a:off x="3246120" y="3291839"/>
            <a:ext cx="1901952"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319272" y="3310128"/>
            <a:ext cx="1810512" cy="246888"/>
          </a:xfrm>
          <a:prstGeom prst="rect">
            <a:avLst/>
          </a:prstGeom>
          <a:noFill/>
        </p:spPr>
        <p:txBody>
          <a:bodyPr wrap="square">
            <a:spAutoFit/>
          </a:bodyPr>
          <a:lstStyle/>
          <a:p>
            <a:pPr algn="l"/>
            <a:r>
              <a:rPr sz="950" b="0" i="0">
                <a:solidFill>
                  <a:srgbClr val="383838"/>
                </a:solidFill>
                <a:latin typeface="Calibri"/>
              </a:rPr>
              <a:t>7,532 (7.5%)</a:t>
            </a:r>
          </a:p>
        </p:txBody>
      </p:sp>
      <p:sp>
        <p:nvSpPr>
          <p:cNvPr id="82" name="Rectangle 81"/>
          <p:cNvSpPr/>
          <p:nvPr/>
        </p:nvSpPr>
        <p:spPr>
          <a:xfrm>
            <a:off x="5303520" y="3291839"/>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376672" y="3310128"/>
            <a:ext cx="1773936" cy="246888"/>
          </a:xfrm>
          <a:prstGeom prst="rect">
            <a:avLst/>
          </a:prstGeom>
          <a:noFill/>
        </p:spPr>
        <p:txBody>
          <a:bodyPr wrap="square">
            <a:spAutoFit/>
          </a:bodyPr>
          <a:lstStyle/>
          <a:p>
            <a:pPr algn="l"/>
            <a:r>
              <a:rPr sz="950" b="0" i="0">
                <a:solidFill>
                  <a:srgbClr val="383838"/>
                </a:solidFill>
                <a:latin typeface="Calibri"/>
              </a:rPr>
              <a:t>2,322 (10.7%)</a:t>
            </a:r>
          </a:p>
        </p:txBody>
      </p:sp>
      <p:sp>
        <p:nvSpPr>
          <p:cNvPr id="84" name="Rectangle 83"/>
          <p:cNvSpPr/>
          <p:nvPr/>
        </p:nvSpPr>
        <p:spPr>
          <a:xfrm>
            <a:off x="7315200" y="3291839"/>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388352" y="3310128"/>
            <a:ext cx="1773936" cy="246888"/>
          </a:xfrm>
          <a:prstGeom prst="rect">
            <a:avLst/>
          </a:prstGeom>
          <a:noFill/>
        </p:spPr>
        <p:txBody>
          <a:bodyPr wrap="square">
            <a:spAutoFit/>
          </a:bodyPr>
          <a:lstStyle/>
          <a:p>
            <a:pPr algn="l"/>
            <a:r>
              <a:rPr sz="950" b="0" i="0">
                <a:solidFill>
                  <a:srgbClr val="383838"/>
                </a:solidFill>
                <a:latin typeface="Calibri"/>
              </a:rPr>
              <a:t>5,210 (6.6%)</a:t>
            </a:r>
          </a:p>
        </p:txBody>
      </p:sp>
      <p:sp>
        <p:nvSpPr>
          <p:cNvPr id="86" name="Rectangle 85"/>
          <p:cNvSpPr/>
          <p:nvPr/>
        </p:nvSpPr>
        <p:spPr>
          <a:xfrm>
            <a:off x="9326880" y="3291839"/>
            <a:ext cx="179222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400032" y="3310128"/>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88" name="Rectangle 87"/>
          <p:cNvSpPr/>
          <p:nvPr/>
        </p:nvSpPr>
        <p:spPr>
          <a:xfrm>
            <a:off x="457200" y="3584448"/>
            <a:ext cx="266090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30352" y="3602736"/>
            <a:ext cx="2569464" cy="246888"/>
          </a:xfrm>
          <a:prstGeom prst="rect">
            <a:avLst/>
          </a:prstGeom>
          <a:noFill/>
        </p:spPr>
        <p:txBody>
          <a:bodyPr wrap="square">
            <a:spAutoFit/>
          </a:bodyPr>
          <a:lstStyle/>
          <a:p>
            <a:pPr algn="l"/>
            <a:r>
              <a:rPr sz="950" b="1" i="0">
                <a:solidFill>
                  <a:srgbClr val="1E4050"/>
                </a:solidFill>
                <a:latin typeface="Calibri"/>
              </a:rPr>
              <a:t>Hx falls (ICD)</a:t>
            </a:r>
          </a:p>
        </p:txBody>
      </p:sp>
      <p:sp>
        <p:nvSpPr>
          <p:cNvPr id="90" name="Rectangle 89"/>
          <p:cNvSpPr/>
          <p:nvPr/>
        </p:nvSpPr>
        <p:spPr>
          <a:xfrm>
            <a:off x="3246120" y="3584448"/>
            <a:ext cx="1901952"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319272" y="3602736"/>
            <a:ext cx="1810512" cy="246888"/>
          </a:xfrm>
          <a:prstGeom prst="rect">
            <a:avLst/>
          </a:prstGeom>
          <a:noFill/>
        </p:spPr>
        <p:txBody>
          <a:bodyPr wrap="square">
            <a:spAutoFit/>
          </a:bodyPr>
          <a:lstStyle/>
          <a:p>
            <a:pPr algn="l"/>
            <a:r>
              <a:rPr sz="950" b="0" i="0">
                <a:solidFill>
                  <a:srgbClr val="383838"/>
                </a:solidFill>
                <a:latin typeface="Calibri"/>
              </a:rPr>
              <a:t>13,428 (13.4%)</a:t>
            </a:r>
          </a:p>
        </p:txBody>
      </p:sp>
      <p:sp>
        <p:nvSpPr>
          <p:cNvPr id="92" name="Rectangle 91"/>
          <p:cNvSpPr/>
          <p:nvPr/>
        </p:nvSpPr>
        <p:spPr>
          <a:xfrm>
            <a:off x="5303520" y="3584448"/>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376672" y="3602736"/>
            <a:ext cx="1773936" cy="246888"/>
          </a:xfrm>
          <a:prstGeom prst="rect">
            <a:avLst/>
          </a:prstGeom>
          <a:noFill/>
        </p:spPr>
        <p:txBody>
          <a:bodyPr wrap="square">
            <a:spAutoFit/>
          </a:bodyPr>
          <a:lstStyle/>
          <a:p>
            <a:pPr algn="l"/>
            <a:r>
              <a:rPr sz="950" b="0" i="0">
                <a:solidFill>
                  <a:srgbClr val="383838"/>
                </a:solidFill>
                <a:latin typeface="Calibri"/>
              </a:rPr>
              <a:t>3,550 (16.4%)</a:t>
            </a:r>
          </a:p>
        </p:txBody>
      </p:sp>
      <p:sp>
        <p:nvSpPr>
          <p:cNvPr id="94" name="Rectangle 93"/>
          <p:cNvSpPr/>
          <p:nvPr/>
        </p:nvSpPr>
        <p:spPr>
          <a:xfrm>
            <a:off x="7315200" y="3584448"/>
            <a:ext cx="1865376"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388352" y="3602736"/>
            <a:ext cx="1773936" cy="246888"/>
          </a:xfrm>
          <a:prstGeom prst="rect">
            <a:avLst/>
          </a:prstGeom>
          <a:noFill/>
        </p:spPr>
        <p:txBody>
          <a:bodyPr wrap="square">
            <a:spAutoFit/>
          </a:bodyPr>
          <a:lstStyle/>
          <a:p>
            <a:pPr algn="l"/>
            <a:r>
              <a:rPr sz="950" b="0" i="0">
                <a:solidFill>
                  <a:srgbClr val="383838"/>
                </a:solidFill>
                <a:latin typeface="Calibri"/>
              </a:rPr>
              <a:t>9,878 (12.6%)</a:t>
            </a:r>
          </a:p>
        </p:txBody>
      </p:sp>
      <p:sp>
        <p:nvSpPr>
          <p:cNvPr id="96" name="Rectangle 95"/>
          <p:cNvSpPr/>
          <p:nvPr/>
        </p:nvSpPr>
        <p:spPr>
          <a:xfrm>
            <a:off x="9326880" y="3584448"/>
            <a:ext cx="1792224" cy="2834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400032" y="3602736"/>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98" name="Rectangle 97"/>
          <p:cNvSpPr/>
          <p:nvPr/>
        </p:nvSpPr>
        <p:spPr>
          <a:xfrm>
            <a:off x="457200" y="3877056"/>
            <a:ext cx="266090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530352" y="3895344"/>
            <a:ext cx="2569464" cy="246888"/>
          </a:xfrm>
          <a:prstGeom prst="rect">
            <a:avLst/>
          </a:prstGeom>
          <a:noFill/>
        </p:spPr>
        <p:txBody>
          <a:bodyPr wrap="square">
            <a:spAutoFit/>
          </a:bodyPr>
          <a:lstStyle/>
          <a:p>
            <a:pPr algn="l"/>
            <a:r>
              <a:rPr sz="950" b="1" i="0">
                <a:solidFill>
                  <a:srgbClr val="1E4050"/>
                </a:solidFill>
                <a:latin typeface="Calibri"/>
              </a:rPr>
              <a:t>Elixhauser score</a:t>
            </a:r>
          </a:p>
        </p:txBody>
      </p:sp>
      <p:sp>
        <p:nvSpPr>
          <p:cNvPr id="100" name="Rectangle 99"/>
          <p:cNvSpPr/>
          <p:nvPr/>
        </p:nvSpPr>
        <p:spPr>
          <a:xfrm>
            <a:off x="3246120" y="3877056"/>
            <a:ext cx="1901952"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3319272" y="3895344"/>
            <a:ext cx="1810512" cy="246888"/>
          </a:xfrm>
          <a:prstGeom prst="rect">
            <a:avLst/>
          </a:prstGeom>
          <a:noFill/>
        </p:spPr>
        <p:txBody>
          <a:bodyPr wrap="square">
            <a:spAutoFit/>
          </a:bodyPr>
          <a:lstStyle/>
          <a:p>
            <a:pPr algn="l"/>
            <a:r>
              <a:rPr sz="950" b="0" i="0">
                <a:solidFill>
                  <a:srgbClr val="383838"/>
                </a:solidFill>
                <a:latin typeface="Calibri"/>
              </a:rPr>
              <a:t>5.0 (3.0-6.0)</a:t>
            </a:r>
          </a:p>
        </p:txBody>
      </p:sp>
      <p:sp>
        <p:nvSpPr>
          <p:cNvPr id="102" name="Rectangle 101"/>
          <p:cNvSpPr/>
          <p:nvPr/>
        </p:nvSpPr>
        <p:spPr>
          <a:xfrm>
            <a:off x="5303520" y="3877056"/>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376672" y="3895344"/>
            <a:ext cx="1773936" cy="246888"/>
          </a:xfrm>
          <a:prstGeom prst="rect">
            <a:avLst/>
          </a:prstGeom>
          <a:noFill/>
        </p:spPr>
        <p:txBody>
          <a:bodyPr wrap="square">
            <a:spAutoFit/>
          </a:bodyPr>
          <a:lstStyle/>
          <a:p>
            <a:pPr algn="l"/>
            <a:r>
              <a:rPr sz="950" b="0" i="0">
                <a:solidFill>
                  <a:srgbClr val="383838"/>
                </a:solidFill>
                <a:latin typeface="Calibri"/>
              </a:rPr>
              <a:t>5.0 (4.0-7.0)</a:t>
            </a:r>
          </a:p>
        </p:txBody>
      </p:sp>
      <p:sp>
        <p:nvSpPr>
          <p:cNvPr id="104" name="Rectangle 103"/>
          <p:cNvSpPr/>
          <p:nvPr/>
        </p:nvSpPr>
        <p:spPr>
          <a:xfrm>
            <a:off x="7315200" y="3877056"/>
            <a:ext cx="1865376"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7388352" y="3895344"/>
            <a:ext cx="1773936" cy="246888"/>
          </a:xfrm>
          <a:prstGeom prst="rect">
            <a:avLst/>
          </a:prstGeom>
          <a:noFill/>
        </p:spPr>
        <p:txBody>
          <a:bodyPr wrap="square">
            <a:spAutoFit/>
          </a:bodyPr>
          <a:lstStyle/>
          <a:p>
            <a:pPr algn="l"/>
            <a:r>
              <a:rPr sz="950" b="0" i="0">
                <a:solidFill>
                  <a:srgbClr val="383838"/>
                </a:solidFill>
                <a:latin typeface="Calibri"/>
              </a:rPr>
              <a:t>5.0 (3.0-6.0)</a:t>
            </a:r>
          </a:p>
        </p:txBody>
      </p:sp>
      <p:sp>
        <p:nvSpPr>
          <p:cNvPr id="106" name="Rectangle 105"/>
          <p:cNvSpPr/>
          <p:nvPr/>
        </p:nvSpPr>
        <p:spPr>
          <a:xfrm>
            <a:off x="9326880" y="3890348"/>
            <a:ext cx="1792224" cy="28346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9400032" y="3895344"/>
            <a:ext cx="1700784" cy="246888"/>
          </a:xfrm>
          <a:prstGeom prst="rect">
            <a:avLst/>
          </a:prstGeom>
          <a:noFill/>
        </p:spPr>
        <p:txBody>
          <a:bodyPr wrap="square">
            <a:spAutoFit/>
          </a:bodyPr>
          <a:lstStyle/>
          <a:p>
            <a:pPr algn="l"/>
            <a:r>
              <a:rPr sz="950" b="0" i="0">
                <a:solidFill>
                  <a:srgbClr val="2B6C7C"/>
                </a:solidFill>
                <a:latin typeface="Calibri"/>
              </a:rPr>
              <a:t>&lt;0.001</a:t>
            </a:r>
          </a:p>
        </p:txBody>
      </p:sp>
      <p:sp>
        <p:nvSpPr>
          <p:cNvPr id="108" name="TextBox 107"/>
          <p:cNvSpPr txBox="1"/>
          <p:nvPr/>
        </p:nvSpPr>
        <p:spPr>
          <a:xfrm>
            <a:off x="457200" y="4315968"/>
            <a:ext cx="11338560" cy="228600"/>
          </a:xfrm>
          <a:prstGeom prst="rect">
            <a:avLst/>
          </a:prstGeom>
          <a:noFill/>
        </p:spPr>
        <p:txBody>
          <a:bodyPr wrap="square">
            <a:spAutoFit/>
          </a:bodyPr>
          <a:lstStyle/>
          <a:p>
            <a:pPr algn="l"/>
            <a:r>
              <a:rPr sz="950" b="0" i="1">
                <a:solidFill>
                  <a:srgbClr val="727272"/>
                </a:solidFill>
                <a:latin typeface="Calibri"/>
              </a:rPr>
              <a:t>Table 1B  -  Train / Test split  (mirrors Cohen et al. 2025 Table 1 format)</a:t>
            </a:r>
            <a:r>
              <a:rPr sz="1600" b="1" i="0" baseline="30000">
                <a:solidFill>
                  <a:srgbClr val="2B6C7C"/>
                </a:solidFill>
                <a:latin typeface="Calibri"/>
              </a:rPr>
              <a:t>⁶</a:t>
            </a:r>
          </a:p>
        </p:txBody>
      </p:sp>
      <p:sp>
        <p:nvSpPr>
          <p:cNvPr id="109" name="Rectangle 108"/>
          <p:cNvSpPr/>
          <p:nvPr/>
        </p:nvSpPr>
        <p:spPr>
          <a:xfrm>
            <a:off x="457200" y="4572000"/>
            <a:ext cx="334670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30352" y="4590288"/>
            <a:ext cx="3255264" cy="292608"/>
          </a:xfrm>
          <a:prstGeom prst="rect">
            <a:avLst/>
          </a:prstGeom>
          <a:noFill/>
        </p:spPr>
        <p:txBody>
          <a:bodyPr wrap="square">
            <a:spAutoFit/>
          </a:bodyPr>
          <a:lstStyle/>
          <a:p>
            <a:pPr algn="l"/>
            <a:r>
              <a:rPr sz="950" b="1" i="0">
                <a:solidFill>
                  <a:srgbClr val="FFFFFF"/>
                </a:solidFill>
                <a:latin typeface="Calibri"/>
              </a:rPr>
              <a:t>Characteristic</a:t>
            </a:r>
          </a:p>
        </p:txBody>
      </p:sp>
      <p:sp>
        <p:nvSpPr>
          <p:cNvPr id="111" name="Rectangle 110"/>
          <p:cNvSpPr/>
          <p:nvPr/>
        </p:nvSpPr>
        <p:spPr>
          <a:xfrm>
            <a:off x="3931920" y="4572000"/>
            <a:ext cx="298094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4005072" y="4590288"/>
            <a:ext cx="2889503" cy="292608"/>
          </a:xfrm>
          <a:prstGeom prst="rect">
            <a:avLst/>
          </a:prstGeom>
          <a:noFill/>
        </p:spPr>
        <p:txBody>
          <a:bodyPr wrap="square">
            <a:spAutoFit/>
          </a:bodyPr>
          <a:lstStyle/>
          <a:p>
            <a:pPr algn="l"/>
            <a:r>
              <a:rPr sz="950" b="1" i="0">
                <a:solidFill>
                  <a:srgbClr val="FFFFFF"/>
                </a:solidFill>
                <a:latin typeface="Calibri"/>
              </a:rPr>
              <a:t>Overall
(N=100,000)</a:t>
            </a:r>
          </a:p>
        </p:txBody>
      </p:sp>
      <p:sp>
        <p:nvSpPr>
          <p:cNvPr id="113" name="Rectangle 112"/>
          <p:cNvSpPr/>
          <p:nvPr/>
        </p:nvSpPr>
        <p:spPr>
          <a:xfrm>
            <a:off x="7040880" y="4572000"/>
            <a:ext cx="243230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7114032" y="4590288"/>
            <a:ext cx="2340864" cy="292608"/>
          </a:xfrm>
          <a:prstGeom prst="rect">
            <a:avLst/>
          </a:prstGeom>
          <a:noFill/>
        </p:spPr>
        <p:txBody>
          <a:bodyPr wrap="square">
            <a:spAutoFit/>
          </a:bodyPr>
          <a:lstStyle/>
          <a:p>
            <a:pPr algn="l"/>
            <a:r>
              <a:rPr sz="950" b="1" i="0">
                <a:solidFill>
                  <a:srgbClr val="FFFFFF"/>
                </a:solidFill>
                <a:latin typeface="Calibri"/>
              </a:rPr>
              <a:t>Train
(N=80,065)</a:t>
            </a:r>
          </a:p>
        </p:txBody>
      </p:sp>
      <p:sp>
        <p:nvSpPr>
          <p:cNvPr id="115" name="Rectangle 114"/>
          <p:cNvSpPr/>
          <p:nvPr/>
        </p:nvSpPr>
        <p:spPr>
          <a:xfrm>
            <a:off x="9601200" y="4572000"/>
            <a:ext cx="2432304" cy="32918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9674352" y="4590288"/>
            <a:ext cx="2340864" cy="292608"/>
          </a:xfrm>
          <a:prstGeom prst="rect">
            <a:avLst/>
          </a:prstGeom>
          <a:noFill/>
        </p:spPr>
        <p:txBody>
          <a:bodyPr wrap="square">
            <a:spAutoFit/>
          </a:bodyPr>
          <a:lstStyle/>
          <a:p>
            <a:pPr algn="l"/>
            <a:r>
              <a:rPr sz="950" b="1" i="0">
                <a:solidFill>
                  <a:srgbClr val="FFFFFF"/>
                </a:solidFill>
                <a:latin typeface="Calibri"/>
              </a:rPr>
              <a:t>Test
(N=19,935)</a:t>
            </a:r>
          </a:p>
        </p:txBody>
      </p:sp>
      <p:sp>
        <p:nvSpPr>
          <p:cNvPr id="117" name="Rectangle 116"/>
          <p:cNvSpPr/>
          <p:nvPr/>
        </p:nvSpPr>
        <p:spPr>
          <a:xfrm>
            <a:off x="457200" y="4928616"/>
            <a:ext cx="33467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30352" y="4946904"/>
            <a:ext cx="3255264" cy="237744"/>
          </a:xfrm>
          <a:prstGeom prst="rect">
            <a:avLst/>
          </a:prstGeom>
          <a:noFill/>
        </p:spPr>
        <p:txBody>
          <a:bodyPr wrap="square">
            <a:spAutoFit/>
          </a:bodyPr>
          <a:lstStyle/>
          <a:p>
            <a:pPr algn="l"/>
            <a:r>
              <a:rPr sz="1000" b="1" i="0">
                <a:solidFill>
                  <a:srgbClr val="1E4050"/>
                </a:solidFill>
                <a:latin typeface="Calibri"/>
              </a:rPr>
              <a:t>Age - median (IQR)</a:t>
            </a:r>
          </a:p>
        </p:txBody>
      </p:sp>
      <p:sp>
        <p:nvSpPr>
          <p:cNvPr id="119" name="Rectangle 118"/>
          <p:cNvSpPr/>
          <p:nvPr/>
        </p:nvSpPr>
        <p:spPr>
          <a:xfrm>
            <a:off x="3931920" y="4928616"/>
            <a:ext cx="298094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4005072" y="4946904"/>
            <a:ext cx="2889503" cy="237744"/>
          </a:xfrm>
          <a:prstGeom prst="rect">
            <a:avLst/>
          </a:prstGeom>
          <a:noFill/>
        </p:spPr>
        <p:txBody>
          <a:bodyPr wrap="square">
            <a:spAutoFit/>
          </a:bodyPr>
          <a:lstStyle/>
          <a:p>
            <a:pPr algn="l"/>
            <a:r>
              <a:rPr sz="1000" b="0" i="0">
                <a:solidFill>
                  <a:srgbClr val="383838"/>
                </a:solidFill>
                <a:latin typeface="Calibri"/>
              </a:rPr>
              <a:t>74.0 (66.6-81.4)</a:t>
            </a:r>
          </a:p>
        </p:txBody>
      </p:sp>
      <p:sp>
        <p:nvSpPr>
          <p:cNvPr id="121" name="Rectangle 120"/>
          <p:cNvSpPr/>
          <p:nvPr/>
        </p:nvSpPr>
        <p:spPr>
          <a:xfrm>
            <a:off x="7040880" y="4928616"/>
            <a:ext cx="24323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7114032" y="4946904"/>
            <a:ext cx="2340864" cy="237744"/>
          </a:xfrm>
          <a:prstGeom prst="rect">
            <a:avLst/>
          </a:prstGeom>
          <a:noFill/>
        </p:spPr>
        <p:txBody>
          <a:bodyPr wrap="square">
            <a:spAutoFit/>
          </a:bodyPr>
          <a:lstStyle/>
          <a:p>
            <a:pPr algn="l"/>
            <a:r>
              <a:rPr sz="1000" b="0" i="0">
                <a:solidFill>
                  <a:srgbClr val="383838"/>
                </a:solidFill>
                <a:latin typeface="Calibri"/>
              </a:rPr>
              <a:t>74.0 (66.6-81.4)</a:t>
            </a:r>
          </a:p>
        </p:txBody>
      </p:sp>
      <p:sp>
        <p:nvSpPr>
          <p:cNvPr id="123" name="Rectangle 122"/>
          <p:cNvSpPr/>
          <p:nvPr/>
        </p:nvSpPr>
        <p:spPr>
          <a:xfrm>
            <a:off x="9601200" y="4928616"/>
            <a:ext cx="24323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674352" y="4946904"/>
            <a:ext cx="2340864" cy="237744"/>
          </a:xfrm>
          <a:prstGeom prst="rect">
            <a:avLst/>
          </a:prstGeom>
          <a:noFill/>
        </p:spPr>
        <p:txBody>
          <a:bodyPr wrap="square">
            <a:spAutoFit/>
          </a:bodyPr>
          <a:lstStyle/>
          <a:p>
            <a:pPr algn="l"/>
            <a:r>
              <a:rPr sz="1000" b="0" i="0">
                <a:solidFill>
                  <a:srgbClr val="383838"/>
                </a:solidFill>
                <a:latin typeface="Calibri"/>
              </a:rPr>
              <a:t>73.8 (66.3-81.1)</a:t>
            </a:r>
          </a:p>
        </p:txBody>
      </p:sp>
      <p:sp>
        <p:nvSpPr>
          <p:cNvPr id="125" name="Rectangle 124"/>
          <p:cNvSpPr/>
          <p:nvPr/>
        </p:nvSpPr>
        <p:spPr>
          <a:xfrm>
            <a:off x="457200" y="5212079"/>
            <a:ext cx="334670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530352" y="5230368"/>
            <a:ext cx="3255264" cy="237744"/>
          </a:xfrm>
          <a:prstGeom prst="rect">
            <a:avLst/>
          </a:prstGeom>
          <a:noFill/>
        </p:spPr>
        <p:txBody>
          <a:bodyPr wrap="square">
            <a:spAutoFit/>
          </a:bodyPr>
          <a:lstStyle/>
          <a:p>
            <a:pPr algn="l"/>
            <a:r>
              <a:rPr sz="1000" b="1" i="0">
                <a:solidFill>
                  <a:srgbClr val="1E4050"/>
                </a:solidFill>
                <a:latin typeface="Calibri"/>
              </a:rPr>
              <a:t>Female sex</a:t>
            </a:r>
          </a:p>
        </p:txBody>
      </p:sp>
      <p:sp>
        <p:nvSpPr>
          <p:cNvPr id="127" name="Rectangle 126"/>
          <p:cNvSpPr/>
          <p:nvPr/>
        </p:nvSpPr>
        <p:spPr>
          <a:xfrm>
            <a:off x="3931920" y="5212079"/>
            <a:ext cx="298094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4005072" y="5230368"/>
            <a:ext cx="2889503" cy="237744"/>
          </a:xfrm>
          <a:prstGeom prst="rect">
            <a:avLst/>
          </a:prstGeom>
          <a:noFill/>
        </p:spPr>
        <p:txBody>
          <a:bodyPr wrap="square">
            <a:spAutoFit/>
          </a:bodyPr>
          <a:lstStyle/>
          <a:p>
            <a:pPr algn="l"/>
            <a:r>
              <a:rPr sz="1000" b="0" i="0">
                <a:solidFill>
                  <a:srgbClr val="383838"/>
                </a:solidFill>
                <a:latin typeface="Calibri"/>
              </a:rPr>
              <a:t>48,164 (48.2%)</a:t>
            </a:r>
          </a:p>
        </p:txBody>
      </p:sp>
      <p:sp>
        <p:nvSpPr>
          <p:cNvPr id="129" name="Rectangle 128"/>
          <p:cNvSpPr/>
          <p:nvPr/>
        </p:nvSpPr>
        <p:spPr>
          <a:xfrm>
            <a:off x="7040880" y="5212079"/>
            <a:ext cx="243230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7114032" y="5230368"/>
            <a:ext cx="2340864" cy="237744"/>
          </a:xfrm>
          <a:prstGeom prst="rect">
            <a:avLst/>
          </a:prstGeom>
          <a:noFill/>
        </p:spPr>
        <p:txBody>
          <a:bodyPr wrap="square">
            <a:spAutoFit/>
          </a:bodyPr>
          <a:lstStyle/>
          <a:p>
            <a:pPr algn="l"/>
            <a:r>
              <a:rPr sz="1000" b="0" i="0">
                <a:solidFill>
                  <a:srgbClr val="383838"/>
                </a:solidFill>
                <a:latin typeface="Calibri"/>
              </a:rPr>
              <a:t>38,539 (48.1%)</a:t>
            </a:r>
          </a:p>
        </p:txBody>
      </p:sp>
      <p:sp>
        <p:nvSpPr>
          <p:cNvPr id="131" name="Rectangle 130"/>
          <p:cNvSpPr/>
          <p:nvPr/>
        </p:nvSpPr>
        <p:spPr>
          <a:xfrm>
            <a:off x="9601200" y="5212079"/>
            <a:ext cx="243230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9674352" y="5230368"/>
            <a:ext cx="2340864" cy="237744"/>
          </a:xfrm>
          <a:prstGeom prst="rect">
            <a:avLst/>
          </a:prstGeom>
          <a:noFill/>
        </p:spPr>
        <p:txBody>
          <a:bodyPr wrap="square">
            <a:spAutoFit/>
          </a:bodyPr>
          <a:lstStyle/>
          <a:p>
            <a:pPr algn="l"/>
            <a:r>
              <a:rPr sz="1000" b="0" i="0">
                <a:solidFill>
                  <a:srgbClr val="383838"/>
                </a:solidFill>
                <a:latin typeface="Calibri"/>
              </a:rPr>
              <a:t>9,625 (48.3%)</a:t>
            </a:r>
          </a:p>
        </p:txBody>
      </p:sp>
      <p:sp>
        <p:nvSpPr>
          <p:cNvPr id="133" name="Rectangle 132"/>
          <p:cNvSpPr/>
          <p:nvPr/>
        </p:nvSpPr>
        <p:spPr>
          <a:xfrm>
            <a:off x="457200" y="5495544"/>
            <a:ext cx="33467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530352" y="5513832"/>
            <a:ext cx="3255264" cy="237744"/>
          </a:xfrm>
          <a:prstGeom prst="rect">
            <a:avLst/>
          </a:prstGeom>
          <a:noFill/>
        </p:spPr>
        <p:txBody>
          <a:bodyPr wrap="square">
            <a:spAutoFit/>
          </a:bodyPr>
          <a:lstStyle/>
          <a:p>
            <a:pPr algn="l"/>
            <a:r>
              <a:rPr sz="1000" b="1" i="0">
                <a:solidFill>
                  <a:srgbClr val="1E4050"/>
                </a:solidFill>
                <a:latin typeface="Calibri"/>
              </a:rPr>
              <a:t>Medicare insurance</a:t>
            </a:r>
          </a:p>
        </p:txBody>
      </p:sp>
      <p:sp>
        <p:nvSpPr>
          <p:cNvPr id="135" name="Rectangle 134"/>
          <p:cNvSpPr/>
          <p:nvPr/>
        </p:nvSpPr>
        <p:spPr>
          <a:xfrm>
            <a:off x="3931920" y="5495544"/>
            <a:ext cx="298094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4005072" y="5513832"/>
            <a:ext cx="2889503" cy="237744"/>
          </a:xfrm>
          <a:prstGeom prst="rect">
            <a:avLst/>
          </a:prstGeom>
          <a:noFill/>
        </p:spPr>
        <p:txBody>
          <a:bodyPr wrap="square">
            <a:spAutoFit/>
          </a:bodyPr>
          <a:lstStyle/>
          <a:p>
            <a:pPr algn="l"/>
            <a:r>
              <a:rPr sz="1000" b="0" i="0">
                <a:solidFill>
                  <a:srgbClr val="383838"/>
                </a:solidFill>
                <a:latin typeface="Calibri"/>
              </a:rPr>
              <a:t>38,303 (38.3%)</a:t>
            </a:r>
          </a:p>
        </p:txBody>
      </p:sp>
      <p:sp>
        <p:nvSpPr>
          <p:cNvPr id="137" name="Rectangle 136"/>
          <p:cNvSpPr/>
          <p:nvPr/>
        </p:nvSpPr>
        <p:spPr>
          <a:xfrm>
            <a:off x="7040880" y="5495544"/>
            <a:ext cx="24323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7114032" y="5513832"/>
            <a:ext cx="2340864" cy="237744"/>
          </a:xfrm>
          <a:prstGeom prst="rect">
            <a:avLst/>
          </a:prstGeom>
          <a:noFill/>
        </p:spPr>
        <p:txBody>
          <a:bodyPr wrap="square">
            <a:spAutoFit/>
          </a:bodyPr>
          <a:lstStyle/>
          <a:p>
            <a:pPr algn="l"/>
            <a:r>
              <a:rPr sz="1000" b="0" i="0">
                <a:solidFill>
                  <a:srgbClr val="383838"/>
                </a:solidFill>
                <a:latin typeface="Calibri"/>
              </a:rPr>
              <a:t>30,668 (38.3%)</a:t>
            </a:r>
          </a:p>
        </p:txBody>
      </p:sp>
      <p:sp>
        <p:nvSpPr>
          <p:cNvPr id="139" name="Rectangle 138"/>
          <p:cNvSpPr/>
          <p:nvPr/>
        </p:nvSpPr>
        <p:spPr>
          <a:xfrm>
            <a:off x="9601200" y="5495544"/>
            <a:ext cx="24323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9674352" y="5513832"/>
            <a:ext cx="2340864" cy="237744"/>
          </a:xfrm>
          <a:prstGeom prst="rect">
            <a:avLst/>
          </a:prstGeom>
          <a:noFill/>
        </p:spPr>
        <p:txBody>
          <a:bodyPr wrap="square">
            <a:spAutoFit/>
          </a:bodyPr>
          <a:lstStyle/>
          <a:p>
            <a:pPr algn="l"/>
            <a:r>
              <a:rPr sz="1000" b="0" i="0">
                <a:solidFill>
                  <a:srgbClr val="383838"/>
                </a:solidFill>
                <a:latin typeface="Calibri"/>
              </a:rPr>
              <a:t>7,635 (38.3%)</a:t>
            </a:r>
          </a:p>
        </p:txBody>
      </p:sp>
      <p:sp>
        <p:nvSpPr>
          <p:cNvPr id="141" name="Rectangle 140"/>
          <p:cNvSpPr/>
          <p:nvPr/>
        </p:nvSpPr>
        <p:spPr>
          <a:xfrm>
            <a:off x="457200" y="5779007"/>
            <a:ext cx="334670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30352" y="5797296"/>
            <a:ext cx="3255264" cy="237744"/>
          </a:xfrm>
          <a:prstGeom prst="rect">
            <a:avLst/>
          </a:prstGeom>
          <a:noFill/>
        </p:spPr>
        <p:txBody>
          <a:bodyPr wrap="square">
            <a:spAutoFit/>
          </a:bodyPr>
          <a:lstStyle/>
          <a:p>
            <a:pPr algn="l"/>
            <a:r>
              <a:rPr sz="1000" b="1" i="0">
                <a:solidFill>
                  <a:srgbClr val="1E4050"/>
                </a:solidFill>
                <a:latin typeface="Calibri"/>
              </a:rPr>
              <a:t>Prior ED visits 24mo</a:t>
            </a:r>
          </a:p>
        </p:txBody>
      </p:sp>
      <p:sp>
        <p:nvSpPr>
          <p:cNvPr id="143" name="Rectangle 142"/>
          <p:cNvSpPr/>
          <p:nvPr/>
        </p:nvSpPr>
        <p:spPr>
          <a:xfrm>
            <a:off x="3931920" y="5779007"/>
            <a:ext cx="298094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4005072" y="5797296"/>
            <a:ext cx="2889503" cy="237744"/>
          </a:xfrm>
          <a:prstGeom prst="rect">
            <a:avLst/>
          </a:prstGeom>
          <a:noFill/>
        </p:spPr>
        <p:txBody>
          <a:bodyPr wrap="square">
            <a:spAutoFit/>
          </a:bodyPr>
          <a:lstStyle/>
          <a:p>
            <a:pPr algn="l"/>
            <a:r>
              <a:rPr sz="1000" b="0" i="0">
                <a:solidFill>
                  <a:srgbClr val="383838"/>
                </a:solidFill>
                <a:latin typeface="Calibri"/>
              </a:rPr>
              <a:t>3.0 (2.0-4.0)</a:t>
            </a:r>
          </a:p>
        </p:txBody>
      </p:sp>
      <p:sp>
        <p:nvSpPr>
          <p:cNvPr id="145" name="Rectangle 144"/>
          <p:cNvSpPr/>
          <p:nvPr/>
        </p:nvSpPr>
        <p:spPr>
          <a:xfrm>
            <a:off x="7040880" y="5779007"/>
            <a:ext cx="243230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7114032" y="5797296"/>
            <a:ext cx="2340864" cy="237744"/>
          </a:xfrm>
          <a:prstGeom prst="rect">
            <a:avLst/>
          </a:prstGeom>
          <a:noFill/>
        </p:spPr>
        <p:txBody>
          <a:bodyPr wrap="square">
            <a:spAutoFit/>
          </a:bodyPr>
          <a:lstStyle/>
          <a:p>
            <a:pPr algn="l"/>
            <a:r>
              <a:rPr sz="1000" b="0" i="0">
                <a:solidFill>
                  <a:srgbClr val="383838"/>
                </a:solidFill>
                <a:latin typeface="Calibri"/>
              </a:rPr>
              <a:t>3.0 (2.0-4.0)</a:t>
            </a:r>
          </a:p>
        </p:txBody>
      </p:sp>
      <p:sp>
        <p:nvSpPr>
          <p:cNvPr id="147" name="Rectangle 146"/>
          <p:cNvSpPr/>
          <p:nvPr/>
        </p:nvSpPr>
        <p:spPr>
          <a:xfrm>
            <a:off x="9601200" y="5779007"/>
            <a:ext cx="2432304"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9674352" y="5797296"/>
            <a:ext cx="2340864" cy="237744"/>
          </a:xfrm>
          <a:prstGeom prst="rect">
            <a:avLst/>
          </a:prstGeom>
          <a:noFill/>
        </p:spPr>
        <p:txBody>
          <a:bodyPr wrap="square">
            <a:spAutoFit/>
          </a:bodyPr>
          <a:lstStyle/>
          <a:p>
            <a:pPr algn="l"/>
            <a:r>
              <a:rPr sz="1000" b="0" i="0">
                <a:solidFill>
                  <a:srgbClr val="383838"/>
                </a:solidFill>
                <a:latin typeface="Calibri"/>
              </a:rPr>
              <a:t>1.0 (0-3)</a:t>
            </a:r>
          </a:p>
        </p:txBody>
      </p:sp>
      <p:sp>
        <p:nvSpPr>
          <p:cNvPr id="149" name="Rectangle 148"/>
          <p:cNvSpPr/>
          <p:nvPr/>
        </p:nvSpPr>
        <p:spPr>
          <a:xfrm>
            <a:off x="457200" y="6062472"/>
            <a:ext cx="33467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530352" y="6080760"/>
            <a:ext cx="3255264" cy="237744"/>
          </a:xfrm>
          <a:prstGeom prst="rect">
            <a:avLst/>
          </a:prstGeom>
          <a:noFill/>
        </p:spPr>
        <p:txBody>
          <a:bodyPr wrap="square">
            <a:spAutoFit/>
          </a:bodyPr>
          <a:lstStyle/>
          <a:p>
            <a:pPr algn="l"/>
            <a:r>
              <a:rPr sz="1000" b="1" i="0">
                <a:solidFill>
                  <a:srgbClr val="1E4050"/>
                </a:solidFill>
                <a:latin typeface="Calibri"/>
              </a:rPr>
              <a:t>Dementia prevalence</a:t>
            </a:r>
          </a:p>
        </p:txBody>
      </p:sp>
      <p:sp>
        <p:nvSpPr>
          <p:cNvPr id="151" name="Rectangle 150"/>
          <p:cNvSpPr/>
          <p:nvPr/>
        </p:nvSpPr>
        <p:spPr>
          <a:xfrm>
            <a:off x="3931920" y="6062472"/>
            <a:ext cx="298094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4005072" y="6080760"/>
            <a:ext cx="2889503" cy="237744"/>
          </a:xfrm>
          <a:prstGeom prst="rect">
            <a:avLst/>
          </a:prstGeom>
          <a:noFill/>
        </p:spPr>
        <p:txBody>
          <a:bodyPr wrap="square">
            <a:spAutoFit/>
          </a:bodyPr>
          <a:lstStyle/>
          <a:p>
            <a:pPr algn="l"/>
            <a:r>
              <a:rPr sz="1000" b="0" i="0">
                <a:solidFill>
                  <a:srgbClr val="383838"/>
                </a:solidFill>
                <a:latin typeface="Calibri"/>
              </a:rPr>
              <a:t>21.6%</a:t>
            </a:r>
          </a:p>
        </p:txBody>
      </p:sp>
      <p:sp>
        <p:nvSpPr>
          <p:cNvPr id="153" name="Rectangle 152"/>
          <p:cNvSpPr/>
          <p:nvPr/>
        </p:nvSpPr>
        <p:spPr>
          <a:xfrm>
            <a:off x="7040880" y="6062472"/>
            <a:ext cx="24323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7114032" y="6080760"/>
            <a:ext cx="2340864" cy="237744"/>
          </a:xfrm>
          <a:prstGeom prst="rect">
            <a:avLst/>
          </a:prstGeom>
          <a:noFill/>
        </p:spPr>
        <p:txBody>
          <a:bodyPr wrap="square">
            <a:spAutoFit/>
          </a:bodyPr>
          <a:lstStyle/>
          <a:p>
            <a:pPr algn="l"/>
            <a:r>
              <a:rPr sz="1000" b="0" i="0">
                <a:solidFill>
                  <a:srgbClr val="383838"/>
                </a:solidFill>
                <a:latin typeface="Calibri"/>
              </a:rPr>
              <a:t>21.7%</a:t>
            </a:r>
          </a:p>
        </p:txBody>
      </p:sp>
      <p:sp>
        <p:nvSpPr>
          <p:cNvPr id="155" name="Rectangle 154"/>
          <p:cNvSpPr/>
          <p:nvPr/>
        </p:nvSpPr>
        <p:spPr>
          <a:xfrm>
            <a:off x="9601200" y="6062472"/>
            <a:ext cx="2432304" cy="274320"/>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9674352" y="6080760"/>
            <a:ext cx="2340864" cy="237744"/>
          </a:xfrm>
          <a:prstGeom prst="rect">
            <a:avLst/>
          </a:prstGeom>
          <a:noFill/>
        </p:spPr>
        <p:txBody>
          <a:bodyPr wrap="square">
            <a:spAutoFit/>
          </a:bodyPr>
          <a:lstStyle/>
          <a:p>
            <a:pPr algn="l"/>
            <a:r>
              <a:rPr sz="1000" b="0" i="0">
                <a:solidFill>
                  <a:srgbClr val="383838"/>
                </a:solidFill>
                <a:latin typeface="Calibri"/>
              </a:rPr>
              <a:t>21.5%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Q2 / Steps 3-4</a:t>
            </a:r>
          </a:p>
        </p:txBody>
      </p:sp>
      <p:sp>
        <p:nvSpPr>
          <p:cNvPr id="5" name="TextBox 4"/>
          <p:cNvSpPr txBox="1"/>
          <p:nvPr/>
        </p:nvSpPr>
        <p:spPr>
          <a:xfrm>
            <a:off x="457200" y="164592"/>
            <a:ext cx="10789920" cy="621792"/>
          </a:xfrm>
          <a:prstGeom prst="rect">
            <a:avLst/>
          </a:prstGeom>
          <a:noFill/>
        </p:spPr>
        <p:txBody>
          <a:bodyPr wrap="square">
            <a:spAutoFit/>
          </a:bodyPr>
          <a:lstStyle/>
          <a:p>
            <a:pPr algn="l"/>
            <a:r>
              <a:rPr sz="3000" b="1" i="0">
                <a:solidFill>
                  <a:srgbClr val="1E4050"/>
                </a:solidFill>
                <a:latin typeface="Calibri"/>
              </a:rPr>
              <a:t>Steps 3-4 - Split, Pipeline &amp; XGBoost</a:t>
            </a:r>
          </a:p>
        </p:txBody>
      </p:sp>
      <p:sp>
        <p:nvSpPr>
          <p:cNvPr id="6" name="Rectangle 5"/>
          <p:cNvSpPr/>
          <p:nvPr/>
        </p:nvSpPr>
        <p:spPr>
          <a:xfrm>
            <a:off x="457200" y="841248"/>
            <a:ext cx="11274552"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32688"/>
            <a:ext cx="5394960" cy="2633472"/>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932688"/>
            <a:ext cx="54864" cy="2633472"/>
          </a:xfrm>
          <a:prstGeom prst="rect">
            <a:avLst/>
          </a:prstGeom>
          <a:solidFill>
            <a:srgbClr val="7A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005840"/>
            <a:ext cx="5029200" cy="274320"/>
          </a:xfrm>
          <a:prstGeom prst="rect">
            <a:avLst/>
          </a:prstGeom>
          <a:noFill/>
        </p:spPr>
        <p:txBody>
          <a:bodyPr wrap="square">
            <a:spAutoFit/>
          </a:bodyPr>
          <a:lstStyle/>
          <a:p>
            <a:pPr algn="l"/>
            <a:r>
              <a:rPr sz="1300" b="1" i="0">
                <a:solidFill>
                  <a:srgbClr val="7A2222"/>
                </a:solidFill>
                <a:latin typeface="Calibri"/>
              </a:rPr>
              <a:t>Split by patient ID - not by row</a:t>
            </a:r>
          </a:p>
        </p:txBody>
      </p:sp>
      <p:sp>
        <p:nvSpPr>
          <p:cNvPr id="10" name="TextBox 9"/>
          <p:cNvSpPr txBox="1"/>
          <p:nvPr/>
        </p:nvSpPr>
        <p:spPr>
          <a:xfrm>
            <a:off x="667512" y="1316736"/>
            <a:ext cx="5029200" cy="658368"/>
          </a:xfrm>
          <a:prstGeom prst="rect">
            <a:avLst/>
          </a:prstGeom>
          <a:noFill/>
        </p:spPr>
        <p:txBody>
          <a:bodyPr wrap="square">
            <a:spAutoFit/>
          </a:bodyPr>
          <a:lstStyle/>
          <a:p>
            <a:pPr algn="l"/>
            <a:r>
              <a:rPr sz="1200" b="0" i="0">
                <a:solidFill>
                  <a:srgbClr val="383838"/>
                </a:solidFill>
                <a:latin typeface="Calibri"/>
              </a:rPr>
              <a:t>Patients have multiple visits. Row-level splitting leaks the same patient into both train and test - model sees patients it already knows, inflating AUC.</a:t>
            </a:r>
          </a:p>
        </p:txBody>
      </p:sp>
      <p:sp>
        <p:nvSpPr>
          <p:cNvPr id="11" name="Rectangle 10"/>
          <p:cNvSpPr/>
          <p:nvPr/>
        </p:nvSpPr>
        <p:spPr>
          <a:xfrm>
            <a:off x="667512" y="2066543"/>
            <a:ext cx="621792" cy="274320"/>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2084831"/>
            <a:ext cx="603504" cy="246888"/>
          </a:xfrm>
          <a:prstGeom prst="rect">
            <a:avLst/>
          </a:prstGeom>
          <a:noFill/>
        </p:spPr>
        <p:txBody>
          <a:bodyPr wrap="square">
            <a:spAutoFit/>
          </a:bodyPr>
          <a:lstStyle/>
          <a:p>
            <a:pPr algn="ctr"/>
            <a:r>
              <a:rPr sz="1000" b="1" i="0">
                <a:solidFill>
                  <a:srgbClr val="FFFFFF"/>
                </a:solidFill>
                <a:latin typeface="Calibri"/>
              </a:rPr>
              <a:t>Train</a:t>
            </a:r>
          </a:p>
        </p:txBody>
      </p:sp>
      <p:sp>
        <p:nvSpPr>
          <p:cNvPr id="13" name="TextBox 12"/>
          <p:cNvSpPr txBox="1"/>
          <p:nvPr/>
        </p:nvSpPr>
        <p:spPr>
          <a:xfrm>
            <a:off x="1353312" y="2084831"/>
            <a:ext cx="4297680" cy="246888"/>
          </a:xfrm>
          <a:prstGeom prst="rect">
            <a:avLst/>
          </a:prstGeom>
          <a:noFill/>
        </p:spPr>
        <p:txBody>
          <a:bodyPr wrap="square">
            <a:spAutoFit/>
          </a:bodyPr>
          <a:lstStyle/>
          <a:p>
            <a:pPr algn="l"/>
            <a:r>
              <a:rPr sz="1100" b="0" i="0">
                <a:solidFill>
                  <a:srgbClr val="383838"/>
                </a:solidFill>
                <a:latin typeface="Calibri"/>
              </a:rPr>
              <a:t>80,065 visits / 43,080 patients / 21.7% prevalence</a:t>
            </a:r>
          </a:p>
        </p:txBody>
      </p:sp>
      <p:sp>
        <p:nvSpPr>
          <p:cNvPr id="14" name="Rectangle 13"/>
          <p:cNvSpPr/>
          <p:nvPr/>
        </p:nvSpPr>
        <p:spPr>
          <a:xfrm>
            <a:off x="667512" y="2414015"/>
            <a:ext cx="621792" cy="274320"/>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432303"/>
            <a:ext cx="603504" cy="246888"/>
          </a:xfrm>
          <a:prstGeom prst="rect">
            <a:avLst/>
          </a:prstGeom>
          <a:noFill/>
        </p:spPr>
        <p:txBody>
          <a:bodyPr wrap="square">
            <a:spAutoFit/>
          </a:bodyPr>
          <a:lstStyle/>
          <a:p>
            <a:pPr algn="ctr"/>
            <a:r>
              <a:rPr sz="1000" b="1" i="0">
                <a:solidFill>
                  <a:srgbClr val="FFFFFF"/>
                </a:solidFill>
                <a:latin typeface="Calibri"/>
              </a:rPr>
              <a:t>Test</a:t>
            </a:r>
          </a:p>
        </p:txBody>
      </p:sp>
      <p:sp>
        <p:nvSpPr>
          <p:cNvPr id="16" name="TextBox 15"/>
          <p:cNvSpPr txBox="1"/>
          <p:nvPr/>
        </p:nvSpPr>
        <p:spPr>
          <a:xfrm>
            <a:off x="1353312" y="2432303"/>
            <a:ext cx="4297680" cy="246888"/>
          </a:xfrm>
          <a:prstGeom prst="rect">
            <a:avLst/>
          </a:prstGeom>
          <a:noFill/>
        </p:spPr>
        <p:txBody>
          <a:bodyPr wrap="square">
            <a:spAutoFit/>
          </a:bodyPr>
          <a:lstStyle/>
          <a:p>
            <a:pPr algn="l"/>
            <a:r>
              <a:rPr sz="1100" b="0" i="0">
                <a:solidFill>
                  <a:srgbClr val="383838"/>
                </a:solidFill>
                <a:latin typeface="Calibri"/>
              </a:rPr>
              <a:t>19,935 visits / 10,771 patients / 21.5% prevalence</a:t>
            </a:r>
          </a:p>
        </p:txBody>
      </p:sp>
      <p:sp>
        <p:nvSpPr>
          <p:cNvPr id="17" name="Rectangle 16"/>
          <p:cNvSpPr/>
          <p:nvPr/>
        </p:nvSpPr>
        <p:spPr>
          <a:xfrm>
            <a:off x="457200" y="3703320"/>
            <a:ext cx="5394960" cy="2377440"/>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703320"/>
            <a:ext cx="54864" cy="2377440"/>
          </a:xfrm>
          <a:prstGeom prst="rect">
            <a:avLst/>
          </a:prstGeom>
          <a:solidFill>
            <a:srgbClr val="7A4A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776472"/>
            <a:ext cx="5029200" cy="274320"/>
          </a:xfrm>
          <a:prstGeom prst="rect">
            <a:avLst/>
          </a:prstGeom>
          <a:noFill/>
        </p:spPr>
        <p:txBody>
          <a:bodyPr wrap="square">
            <a:spAutoFit/>
          </a:bodyPr>
          <a:lstStyle/>
          <a:p>
            <a:pPr algn="l"/>
            <a:r>
              <a:rPr sz="1300" b="1" i="0">
                <a:solidFill>
                  <a:srgbClr val="7A4A15"/>
                </a:solidFill>
                <a:latin typeface="Calibri"/>
              </a:rPr>
              <a:t>Class imbalance correction</a:t>
            </a:r>
          </a:p>
        </p:txBody>
      </p:sp>
      <p:sp>
        <p:nvSpPr>
          <p:cNvPr id="20" name="TextBox 19"/>
          <p:cNvSpPr txBox="1"/>
          <p:nvPr/>
        </p:nvSpPr>
        <p:spPr>
          <a:xfrm>
            <a:off x="667512" y="4096512"/>
            <a:ext cx="5029200" cy="621792"/>
          </a:xfrm>
          <a:prstGeom prst="rect">
            <a:avLst/>
          </a:prstGeom>
          <a:noFill/>
        </p:spPr>
        <p:txBody>
          <a:bodyPr wrap="square">
            <a:spAutoFit/>
          </a:bodyPr>
          <a:lstStyle/>
          <a:p>
            <a:pPr algn="l"/>
            <a:r>
              <a:rPr sz="1200" b="0" i="0">
                <a:solidFill>
                  <a:srgbClr val="383838"/>
                </a:solidFill>
                <a:latin typeface="Calibri"/>
              </a:rPr>
              <a:t>78% no-dementia vs 22% dementia. Without correction the model predicts everyone negative, achieving 78% accuracy but catching almost no real cases.</a:t>
            </a:r>
          </a:p>
        </p:txBody>
      </p:sp>
      <p:sp>
        <p:nvSpPr>
          <p:cNvPr id="21" name="TextBox 20"/>
          <p:cNvSpPr txBox="1"/>
          <p:nvPr/>
        </p:nvSpPr>
        <p:spPr>
          <a:xfrm>
            <a:off x="667512" y="4773168"/>
            <a:ext cx="5029200" cy="256032"/>
          </a:xfrm>
          <a:prstGeom prst="rect">
            <a:avLst/>
          </a:prstGeom>
          <a:noFill/>
        </p:spPr>
        <p:txBody>
          <a:bodyPr wrap="square">
            <a:spAutoFit/>
          </a:bodyPr>
          <a:lstStyle/>
          <a:p>
            <a:pPr algn="l"/>
            <a:r>
              <a:rPr sz="1200" b="1" i="0">
                <a:solidFill>
                  <a:srgbClr val="7A4A15"/>
                </a:solidFill>
                <a:latin typeface="Courier New"/>
              </a:rPr>
              <a:t>scale_pos_weight = 78,359 / 21,641 = 3.61</a:t>
            </a:r>
          </a:p>
        </p:txBody>
      </p:sp>
      <p:sp>
        <p:nvSpPr>
          <p:cNvPr id="22" name="TextBox 21"/>
          <p:cNvSpPr txBox="1"/>
          <p:nvPr/>
        </p:nvSpPr>
        <p:spPr>
          <a:xfrm>
            <a:off x="667512" y="5056632"/>
            <a:ext cx="5029200" cy="237744"/>
          </a:xfrm>
          <a:prstGeom prst="rect">
            <a:avLst/>
          </a:prstGeom>
          <a:noFill/>
        </p:spPr>
        <p:txBody>
          <a:bodyPr wrap="square">
            <a:spAutoFit/>
          </a:bodyPr>
          <a:lstStyle/>
          <a:p>
            <a:pPr algn="l"/>
            <a:r>
              <a:rPr sz="1100" b="0" i="0">
                <a:solidFill>
                  <a:srgbClr val="727272"/>
                </a:solidFill>
                <a:latin typeface="Calibri"/>
              </a:rPr>
              <a:t>Each dementia case weighted 3.61x more during training</a:t>
            </a:r>
          </a:p>
        </p:txBody>
      </p:sp>
      <p:sp>
        <p:nvSpPr>
          <p:cNvPr id="23" name="Rectangle 22"/>
          <p:cNvSpPr/>
          <p:nvPr/>
        </p:nvSpPr>
        <p:spPr>
          <a:xfrm>
            <a:off x="6080760" y="932688"/>
            <a:ext cx="5669280" cy="5148072"/>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1005840"/>
            <a:ext cx="5303520" cy="274320"/>
          </a:xfrm>
          <a:prstGeom prst="rect">
            <a:avLst/>
          </a:prstGeom>
          <a:noFill/>
        </p:spPr>
        <p:txBody>
          <a:bodyPr wrap="square">
            <a:spAutoFit/>
          </a:bodyPr>
          <a:lstStyle/>
          <a:p>
            <a:pPr algn="l"/>
            <a:r>
              <a:rPr sz="1300" b="1" i="0">
                <a:solidFill>
                  <a:srgbClr val="1E4050"/>
                </a:solidFill>
                <a:latin typeface="Calibri"/>
              </a:rPr>
              <a:t>sklearn Pipeline - 3 key decisions</a:t>
            </a:r>
          </a:p>
        </p:txBody>
      </p:sp>
      <p:sp>
        <p:nvSpPr>
          <p:cNvPr id="25" name="Rectangle 24"/>
          <p:cNvSpPr/>
          <p:nvPr/>
        </p:nvSpPr>
        <p:spPr>
          <a:xfrm>
            <a:off x="6080760" y="1389888"/>
            <a:ext cx="54864" cy="1005840"/>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91072" y="1426464"/>
            <a:ext cx="5257800" cy="256032"/>
          </a:xfrm>
          <a:prstGeom prst="rect">
            <a:avLst/>
          </a:prstGeom>
          <a:noFill/>
        </p:spPr>
        <p:txBody>
          <a:bodyPr wrap="square">
            <a:spAutoFit/>
          </a:bodyPr>
          <a:lstStyle/>
          <a:p>
            <a:pPr algn="l"/>
            <a:r>
              <a:rPr sz="1200" b="1" i="0">
                <a:solidFill>
                  <a:srgbClr val="2B6C7C"/>
                </a:solidFill>
                <a:latin typeface="Calibri"/>
              </a:rPr>
              <a:t>1  Numeric imputation</a:t>
            </a:r>
          </a:p>
        </p:txBody>
      </p:sp>
      <p:sp>
        <p:nvSpPr>
          <p:cNvPr id="27" name="TextBox 26"/>
          <p:cNvSpPr txBox="1"/>
          <p:nvPr/>
        </p:nvSpPr>
        <p:spPr>
          <a:xfrm>
            <a:off x="6291072" y="1719072"/>
            <a:ext cx="5257800" cy="694944"/>
          </a:xfrm>
          <a:prstGeom prst="rect">
            <a:avLst/>
          </a:prstGeom>
          <a:noFill/>
        </p:spPr>
        <p:txBody>
          <a:bodyPr wrap="square">
            <a:spAutoFit/>
          </a:bodyPr>
          <a:lstStyle/>
          <a:p>
            <a:pPr algn="l"/>
            <a:r>
              <a:rPr sz="1150" b="0" i="0">
                <a:solidFill>
                  <a:srgbClr val="383838"/>
                </a:solidFill>
                <a:latin typeface="Calibri"/>
              </a:rPr>
              <a:t>SimpleImputer(median) - learned from X_train only
Median not mean: lab values are right-skewed</a:t>
            </a:r>
          </a:p>
        </p:txBody>
      </p:sp>
      <p:sp>
        <p:nvSpPr>
          <p:cNvPr id="28" name="Rectangle 27"/>
          <p:cNvSpPr/>
          <p:nvPr/>
        </p:nvSpPr>
        <p:spPr>
          <a:xfrm>
            <a:off x="6080760" y="2532888"/>
            <a:ext cx="54864" cy="1005840"/>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91072" y="2569464"/>
            <a:ext cx="5257800" cy="256032"/>
          </a:xfrm>
          <a:prstGeom prst="rect">
            <a:avLst/>
          </a:prstGeom>
          <a:noFill/>
        </p:spPr>
        <p:txBody>
          <a:bodyPr wrap="square">
            <a:spAutoFit/>
          </a:bodyPr>
          <a:lstStyle/>
          <a:p>
            <a:pPr algn="l"/>
            <a:r>
              <a:rPr sz="1200" b="1" i="0">
                <a:solidFill>
                  <a:srgbClr val="2B6C7C"/>
                </a:solidFill>
                <a:latin typeface="Calibri"/>
              </a:rPr>
              <a:t>2  Categorical encoding</a:t>
            </a:r>
          </a:p>
        </p:txBody>
      </p:sp>
      <p:sp>
        <p:nvSpPr>
          <p:cNvPr id="30" name="TextBox 29"/>
          <p:cNvSpPr txBox="1"/>
          <p:nvPr/>
        </p:nvSpPr>
        <p:spPr>
          <a:xfrm>
            <a:off x="6291072" y="2862072"/>
            <a:ext cx="5257800" cy="694944"/>
          </a:xfrm>
          <a:prstGeom prst="rect">
            <a:avLst/>
          </a:prstGeom>
          <a:noFill/>
        </p:spPr>
        <p:txBody>
          <a:bodyPr wrap="square">
            <a:spAutoFit/>
          </a:bodyPr>
          <a:lstStyle/>
          <a:p>
            <a:pPr algn="l"/>
            <a:r>
              <a:rPr sz="1150" b="0" i="0">
                <a:solidFill>
                  <a:srgbClr val="383838"/>
                </a:solidFill>
                <a:latin typeface="Calibri"/>
              </a:rPr>
              <a:t>Mode impute + OneHotEncoder
handle_unknown='ignore' for unseen test categories</a:t>
            </a:r>
          </a:p>
        </p:txBody>
      </p:sp>
      <p:sp>
        <p:nvSpPr>
          <p:cNvPr id="31" name="Rectangle 30"/>
          <p:cNvSpPr/>
          <p:nvPr/>
        </p:nvSpPr>
        <p:spPr>
          <a:xfrm>
            <a:off x="6080760" y="3675887"/>
            <a:ext cx="54864" cy="1005840"/>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91072" y="3712463"/>
            <a:ext cx="5257800" cy="256032"/>
          </a:xfrm>
          <a:prstGeom prst="rect">
            <a:avLst/>
          </a:prstGeom>
          <a:noFill/>
        </p:spPr>
        <p:txBody>
          <a:bodyPr wrap="square">
            <a:spAutoFit/>
          </a:bodyPr>
          <a:lstStyle/>
          <a:p>
            <a:pPr algn="l"/>
            <a:r>
              <a:rPr sz="1200" b="1" i="0">
                <a:solidFill>
                  <a:srgbClr val="2B6C7C"/>
                </a:solidFill>
                <a:latin typeface="Calibri"/>
              </a:rPr>
              <a:t>3  ColumnTransformer</a:t>
            </a:r>
          </a:p>
        </p:txBody>
      </p:sp>
      <p:sp>
        <p:nvSpPr>
          <p:cNvPr id="33" name="TextBox 32"/>
          <p:cNvSpPr txBox="1"/>
          <p:nvPr/>
        </p:nvSpPr>
        <p:spPr>
          <a:xfrm>
            <a:off x="6291072" y="4005072"/>
            <a:ext cx="5257800" cy="694944"/>
          </a:xfrm>
          <a:prstGeom prst="rect">
            <a:avLst/>
          </a:prstGeom>
          <a:noFill/>
        </p:spPr>
        <p:txBody>
          <a:bodyPr wrap="square">
            <a:spAutoFit/>
          </a:bodyPr>
          <a:lstStyle/>
          <a:p>
            <a:pPr algn="l"/>
            <a:r>
              <a:rPr sz="1150" b="0" i="0">
                <a:solidFill>
                  <a:srgbClr val="383838"/>
                </a:solidFill>
                <a:latin typeface="Calibri"/>
              </a:rPr>
              <a:t>Applies different transforms to different columns
Combines into one matrix fed to XGBoost</a:t>
            </a:r>
          </a:p>
        </p:txBody>
      </p:sp>
      <p:sp>
        <p:nvSpPr>
          <p:cNvPr id="34" name="Rectangle 33"/>
          <p:cNvSpPr/>
          <p:nvPr/>
        </p:nvSpPr>
        <p:spPr>
          <a:xfrm>
            <a:off x="6080760" y="4818888"/>
            <a:ext cx="54864" cy="1005840"/>
          </a:xfrm>
          <a:prstGeom prst="rect">
            <a:avLst/>
          </a:prstGeom>
          <a:solidFill>
            <a:srgbClr val="246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91072" y="4855464"/>
            <a:ext cx="5257800" cy="256032"/>
          </a:xfrm>
          <a:prstGeom prst="rect">
            <a:avLst/>
          </a:prstGeom>
          <a:noFill/>
        </p:spPr>
        <p:txBody>
          <a:bodyPr wrap="square">
            <a:spAutoFit/>
          </a:bodyPr>
          <a:lstStyle/>
          <a:p>
            <a:pPr algn="l"/>
            <a:r>
              <a:rPr sz="1200" b="1" i="0">
                <a:solidFill>
                  <a:srgbClr val="246245"/>
                </a:solidFill>
                <a:latin typeface="Calibri"/>
              </a:rPr>
              <a:t>Why pipeline matters</a:t>
            </a:r>
          </a:p>
        </p:txBody>
      </p:sp>
      <p:sp>
        <p:nvSpPr>
          <p:cNvPr id="36" name="TextBox 35"/>
          <p:cNvSpPr txBox="1"/>
          <p:nvPr/>
        </p:nvSpPr>
        <p:spPr>
          <a:xfrm>
            <a:off x="6291072" y="5148072"/>
            <a:ext cx="5257800" cy="694944"/>
          </a:xfrm>
          <a:prstGeom prst="rect">
            <a:avLst/>
          </a:prstGeom>
          <a:noFill/>
        </p:spPr>
        <p:txBody>
          <a:bodyPr wrap="square">
            <a:spAutoFit/>
          </a:bodyPr>
          <a:lstStyle/>
          <a:p>
            <a:pPr algn="l"/>
            <a:r>
              <a:rPr sz="1150" b="0" i="0">
                <a:solidFill>
                  <a:srgbClr val="383838"/>
                </a:solidFill>
                <a:latin typeface="Calibri"/>
              </a:rPr>
              <a:t>Imputation learned from training data only
Row-level imputation before split = data leakage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Q2 / Step 5</a:t>
            </a:r>
          </a:p>
        </p:txBody>
      </p:sp>
      <p:sp>
        <p:nvSpPr>
          <p:cNvPr id="5" name="TextBox 4"/>
          <p:cNvSpPr txBox="1"/>
          <p:nvPr/>
        </p:nvSpPr>
        <p:spPr>
          <a:xfrm>
            <a:off x="457200" y="164592"/>
            <a:ext cx="10789920" cy="621792"/>
          </a:xfrm>
          <a:prstGeom prst="rect">
            <a:avLst/>
          </a:prstGeom>
          <a:noFill/>
        </p:spPr>
        <p:txBody>
          <a:bodyPr wrap="square">
            <a:spAutoFit/>
          </a:bodyPr>
          <a:lstStyle/>
          <a:p>
            <a:pPr algn="l"/>
            <a:r>
              <a:rPr sz="3000" b="1" i="0">
                <a:solidFill>
                  <a:srgbClr val="1E4050"/>
                </a:solidFill>
                <a:latin typeface="Calibri"/>
              </a:rPr>
              <a:t>Step 5 - Model Results &amp; Comparison to EDDA Paper</a:t>
            </a:r>
          </a:p>
        </p:txBody>
      </p:sp>
      <p:sp>
        <p:nvSpPr>
          <p:cNvPr id="6" name="Rectangle 5"/>
          <p:cNvSpPr/>
          <p:nvPr/>
        </p:nvSpPr>
        <p:spPr>
          <a:xfrm>
            <a:off x="457200" y="841248"/>
            <a:ext cx="11274552"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32688"/>
            <a:ext cx="2221992" cy="1078992"/>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987552"/>
            <a:ext cx="2039112" cy="274320"/>
          </a:xfrm>
          <a:prstGeom prst="rect">
            <a:avLst/>
          </a:prstGeom>
          <a:noFill/>
        </p:spPr>
        <p:txBody>
          <a:bodyPr wrap="square">
            <a:spAutoFit/>
          </a:bodyPr>
          <a:lstStyle/>
          <a:p>
            <a:pPr algn="ctr"/>
            <a:r>
              <a:rPr sz="1050" b="0" i="0">
                <a:solidFill>
                  <a:srgbClr val="383838"/>
                </a:solidFill>
                <a:latin typeface="Calibri"/>
              </a:rPr>
              <a:t>AUC-ROC</a:t>
            </a:r>
          </a:p>
        </p:txBody>
      </p:sp>
      <p:sp>
        <p:nvSpPr>
          <p:cNvPr id="9" name="TextBox 8"/>
          <p:cNvSpPr txBox="1"/>
          <p:nvPr/>
        </p:nvSpPr>
        <p:spPr>
          <a:xfrm>
            <a:off x="566928" y="1207008"/>
            <a:ext cx="2039112" cy="438912"/>
          </a:xfrm>
          <a:prstGeom prst="rect">
            <a:avLst/>
          </a:prstGeom>
          <a:noFill/>
        </p:spPr>
        <p:txBody>
          <a:bodyPr wrap="square">
            <a:spAutoFit/>
          </a:bodyPr>
          <a:lstStyle/>
          <a:p>
            <a:pPr algn="ctr"/>
            <a:r>
              <a:rPr sz="2200" b="1" i="0">
                <a:solidFill>
                  <a:srgbClr val="2B6C7C"/>
                </a:solidFill>
                <a:latin typeface="Calibri"/>
              </a:rPr>
              <a:t>0.696</a:t>
            </a:r>
          </a:p>
        </p:txBody>
      </p:sp>
      <p:sp>
        <p:nvSpPr>
          <p:cNvPr id="10" name="Rectangle 9"/>
          <p:cNvSpPr/>
          <p:nvPr/>
        </p:nvSpPr>
        <p:spPr>
          <a:xfrm>
            <a:off x="2734056" y="932688"/>
            <a:ext cx="2221992" cy="1078992"/>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43784" y="987552"/>
            <a:ext cx="2039112" cy="274320"/>
          </a:xfrm>
          <a:prstGeom prst="rect">
            <a:avLst/>
          </a:prstGeom>
          <a:noFill/>
        </p:spPr>
        <p:txBody>
          <a:bodyPr wrap="square">
            <a:spAutoFit/>
          </a:bodyPr>
          <a:lstStyle/>
          <a:p>
            <a:pPr algn="ctr"/>
            <a:r>
              <a:rPr sz="1050" b="0" i="0">
                <a:solidFill>
                  <a:srgbClr val="383838"/>
                </a:solidFill>
                <a:latin typeface="Calibri"/>
              </a:rPr>
              <a:t>AUC-PR</a:t>
            </a:r>
          </a:p>
        </p:txBody>
      </p:sp>
      <p:sp>
        <p:nvSpPr>
          <p:cNvPr id="12" name="TextBox 11"/>
          <p:cNvSpPr txBox="1"/>
          <p:nvPr/>
        </p:nvSpPr>
        <p:spPr>
          <a:xfrm>
            <a:off x="2843784" y="1207008"/>
            <a:ext cx="2039112" cy="438912"/>
          </a:xfrm>
          <a:prstGeom prst="rect">
            <a:avLst/>
          </a:prstGeom>
          <a:noFill/>
        </p:spPr>
        <p:txBody>
          <a:bodyPr wrap="square">
            <a:spAutoFit/>
          </a:bodyPr>
          <a:lstStyle/>
          <a:p>
            <a:pPr algn="ctr"/>
            <a:r>
              <a:rPr sz="2200" b="1" i="0">
                <a:solidFill>
                  <a:srgbClr val="2B6C7C"/>
                </a:solidFill>
                <a:latin typeface="Calibri"/>
              </a:rPr>
              <a:t>0.403</a:t>
            </a:r>
          </a:p>
        </p:txBody>
      </p:sp>
      <p:sp>
        <p:nvSpPr>
          <p:cNvPr id="13" name="Rectangle 12"/>
          <p:cNvSpPr/>
          <p:nvPr/>
        </p:nvSpPr>
        <p:spPr>
          <a:xfrm>
            <a:off x="5010912" y="932688"/>
            <a:ext cx="2221992" cy="1078992"/>
          </a:xfrm>
          <a:prstGeom prst="rect">
            <a:avLst/>
          </a:prstGeom>
          <a:solidFill>
            <a:srgbClr val="F3F3F1"/>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0640" y="987552"/>
            <a:ext cx="2039112" cy="274320"/>
          </a:xfrm>
          <a:prstGeom prst="rect">
            <a:avLst/>
          </a:prstGeom>
          <a:noFill/>
        </p:spPr>
        <p:txBody>
          <a:bodyPr wrap="square">
            <a:spAutoFit/>
          </a:bodyPr>
          <a:lstStyle/>
          <a:p>
            <a:pPr algn="ctr"/>
            <a:r>
              <a:rPr sz="1050" b="0" i="0">
                <a:solidFill>
                  <a:srgbClr val="383838"/>
                </a:solidFill>
                <a:latin typeface="Calibri"/>
              </a:rPr>
              <a:t>Brier Score</a:t>
            </a:r>
          </a:p>
        </p:txBody>
      </p:sp>
      <p:sp>
        <p:nvSpPr>
          <p:cNvPr id="15" name="TextBox 14"/>
          <p:cNvSpPr txBox="1"/>
          <p:nvPr/>
        </p:nvSpPr>
        <p:spPr>
          <a:xfrm>
            <a:off x="5120640" y="1207008"/>
            <a:ext cx="2039112" cy="438912"/>
          </a:xfrm>
          <a:prstGeom prst="rect">
            <a:avLst/>
          </a:prstGeom>
          <a:noFill/>
        </p:spPr>
        <p:txBody>
          <a:bodyPr wrap="square">
            <a:spAutoFit/>
          </a:bodyPr>
          <a:lstStyle/>
          <a:p>
            <a:pPr algn="ctr"/>
            <a:r>
              <a:rPr sz="2200" b="1" i="0">
                <a:solidFill>
                  <a:srgbClr val="383838"/>
                </a:solidFill>
                <a:latin typeface="Calibri"/>
              </a:rPr>
              <a:t>0.218</a:t>
            </a:r>
          </a:p>
        </p:txBody>
      </p:sp>
      <p:sp>
        <p:nvSpPr>
          <p:cNvPr id="16" name="Rectangle 15"/>
          <p:cNvSpPr/>
          <p:nvPr/>
        </p:nvSpPr>
        <p:spPr>
          <a:xfrm>
            <a:off x="7287768" y="932688"/>
            <a:ext cx="2221992" cy="1078992"/>
          </a:xfrm>
          <a:prstGeom prst="rect">
            <a:avLst/>
          </a:prstGeom>
          <a:solidFill>
            <a:srgbClr val="E4F2EB"/>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97496" y="987552"/>
            <a:ext cx="2039112" cy="274320"/>
          </a:xfrm>
          <a:prstGeom prst="rect">
            <a:avLst/>
          </a:prstGeom>
          <a:noFill/>
        </p:spPr>
        <p:txBody>
          <a:bodyPr wrap="square">
            <a:spAutoFit/>
          </a:bodyPr>
          <a:lstStyle/>
          <a:p>
            <a:pPr algn="ctr"/>
            <a:r>
              <a:rPr sz="1050" b="0" i="0">
                <a:solidFill>
                  <a:srgbClr val="383838"/>
                </a:solidFill>
                <a:latin typeface="Calibri"/>
              </a:rPr>
              <a:t>Sensitivity @0.5</a:t>
            </a:r>
          </a:p>
        </p:txBody>
      </p:sp>
      <p:sp>
        <p:nvSpPr>
          <p:cNvPr id="18" name="TextBox 17"/>
          <p:cNvSpPr txBox="1"/>
          <p:nvPr/>
        </p:nvSpPr>
        <p:spPr>
          <a:xfrm>
            <a:off x="7397496" y="1207008"/>
            <a:ext cx="2039112" cy="438912"/>
          </a:xfrm>
          <a:prstGeom prst="rect">
            <a:avLst/>
          </a:prstGeom>
          <a:noFill/>
        </p:spPr>
        <p:txBody>
          <a:bodyPr wrap="square">
            <a:spAutoFit/>
          </a:bodyPr>
          <a:lstStyle/>
          <a:p>
            <a:pPr algn="ctr"/>
            <a:r>
              <a:rPr sz="2200" b="1" i="0">
                <a:solidFill>
                  <a:srgbClr val="246245"/>
                </a:solidFill>
                <a:latin typeface="Calibri"/>
              </a:rPr>
              <a:t>0.62</a:t>
            </a:r>
          </a:p>
        </p:txBody>
      </p:sp>
      <p:sp>
        <p:nvSpPr>
          <p:cNvPr id="19" name="Rectangle 18"/>
          <p:cNvSpPr/>
          <p:nvPr/>
        </p:nvSpPr>
        <p:spPr>
          <a:xfrm>
            <a:off x="9564624" y="932688"/>
            <a:ext cx="2221992" cy="1078992"/>
          </a:xfrm>
          <a:prstGeom prst="rect">
            <a:avLst/>
          </a:prstGeom>
          <a:solidFill>
            <a:srgbClr val="FFF3E0"/>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987552"/>
            <a:ext cx="2039112" cy="274320"/>
          </a:xfrm>
          <a:prstGeom prst="rect">
            <a:avLst/>
          </a:prstGeom>
          <a:noFill/>
        </p:spPr>
        <p:txBody>
          <a:bodyPr wrap="square">
            <a:spAutoFit/>
          </a:bodyPr>
          <a:lstStyle/>
          <a:p>
            <a:pPr algn="ctr"/>
            <a:r>
              <a:rPr sz="1050" b="0" i="0">
                <a:solidFill>
                  <a:srgbClr val="383838"/>
                </a:solidFill>
                <a:latin typeface="Calibri"/>
              </a:rPr>
              <a:t>Sensitivity @0.1</a:t>
            </a:r>
          </a:p>
        </p:txBody>
      </p:sp>
      <p:sp>
        <p:nvSpPr>
          <p:cNvPr id="21" name="TextBox 20"/>
          <p:cNvSpPr txBox="1"/>
          <p:nvPr/>
        </p:nvSpPr>
        <p:spPr>
          <a:xfrm>
            <a:off x="9674352" y="1207008"/>
            <a:ext cx="2039112" cy="438912"/>
          </a:xfrm>
          <a:prstGeom prst="rect">
            <a:avLst/>
          </a:prstGeom>
          <a:noFill/>
        </p:spPr>
        <p:txBody>
          <a:bodyPr wrap="square">
            <a:spAutoFit/>
          </a:bodyPr>
          <a:lstStyle/>
          <a:p>
            <a:pPr algn="ctr"/>
            <a:r>
              <a:rPr sz="2200" b="1" i="0">
                <a:solidFill>
                  <a:srgbClr val="7A4A15"/>
                </a:solidFill>
                <a:latin typeface="Calibri"/>
              </a:rPr>
              <a:t>1.00</a:t>
            </a:r>
          </a:p>
        </p:txBody>
      </p:sp>
      <p:sp>
        <p:nvSpPr>
          <p:cNvPr id="22" name="TextBox 21"/>
          <p:cNvSpPr txBox="1"/>
          <p:nvPr/>
        </p:nvSpPr>
        <p:spPr>
          <a:xfrm>
            <a:off x="457200" y="2084831"/>
            <a:ext cx="11338560" cy="228600"/>
          </a:xfrm>
          <a:prstGeom prst="rect">
            <a:avLst/>
          </a:prstGeom>
          <a:noFill/>
        </p:spPr>
        <p:txBody>
          <a:bodyPr wrap="square">
            <a:spAutoFit/>
          </a:bodyPr>
          <a:lstStyle/>
          <a:p>
            <a:pPr algn="l"/>
            <a:r>
              <a:rPr sz="900" b="0" i="1">
                <a:solidFill>
                  <a:srgbClr val="727272"/>
                </a:solidFill>
                <a:latin typeface="Calibri"/>
              </a:rPr>
              <a:t>* threshold 0.1 flags all positives (PPV=0.21). Threshold 0.5 gives better balance: sensitivity 0.62, specificity 0.66.</a:t>
            </a:r>
          </a:p>
        </p:txBody>
      </p:sp>
      <p:sp>
        <p:nvSpPr>
          <p:cNvPr id="23" name="TextBox 22"/>
          <p:cNvSpPr txBox="1"/>
          <p:nvPr/>
        </p:nvSpPr>
        <p:spPr>
          <a:xfrm>
            <a:off x="457200" y="2377440"/>
            <a:ext cx="11338560" cy="274320"/>
          </a:xfrm>
          <a:prstGeom prst="rect">
            <a:avLst/>
          </a:prstGeom>
          <a:noFill/>
        </p:spPr>
        <p:txBody>
          <a:bodyPr wrap="square">
            <a:spAutoFit/>
          </a:bodyPr>
          <a:lstStyle/>
          <a:p>
            <a:pPr algn="l"/>
            <a:r>
              <a:rPr sz="1300" b="1" i="0">
                <a:solidFill>
                  <a:srgbClr val="1E4050"/>
                </a:solidFill>
                <a:latin typeface="Calibri"/>
              </a:rPr>
              <a:t>My results vs. EDDA paper (Cohen et al. 2025)</a:t>
            </a:r>
            <a:r>
              <a:rPr sz="1600" b="1" i="0" baseline="30000">
                <a:solidFill>
                  <a:srgbClr val="2B6C7C"/>
                </a:solidFill>
                <a:latin typeface="Calibri"/>
              </a:rPr>
              <a:t>⁶</a:t>
            </a:r>
          </a:p>
        </p:txBody>
      </p:sp>
      <p:sp>
        <p:nvSpPr>
          <p:cNvPr id="24" name="Rectangle 23"/>
          <p:cNvSpPr/>
          <p:nvPr/>
        </p:nvSpPr>
        <p:spPr>
          <a:xfrm>
            <a:off x="457200" y="2706624"/>
            <a:ext cx="2660904" cy="310896"/>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2724912"/>
            <a:ext cx="2587752" cy="274320"/>
          </a:xfrm>
          <a:prstGeom prst="rect">
            <a:avLst/>
          </a:prstGeom>
          <a:noFill/>
        </p:spPr>
        <p:txBody>
          <a:bodyPr wrap="square">
            <a:spAutoFit/>
          </a:bodyPr>
          <a:lstStyle/>
          <a:p>
            <a:pPr algn="l"/>
            <a:r>
              <a:rPr sz="950" b="1" i="0">
                <a:solidFill>
                  <a:srgbClr val="FFFFFF"/>
                </a:solidFill>
                <a:latin typeface="Calibri"/>
              </a:rPr>
              <a:t>Metric</a:t>
            </a:r>
          </a:p>
        </p:txBody>
      </p:sp>
      <p:sp>
        <p:nvSpPr>
          <p:cNvPr id="26" name="Rectangle 25"/>
          <p:cNvSpPr/>
          <p:nvPr/>
        </p:nvSpPr>
        <p:spPr>
          <a:xfrm>
            <a:off x="3246120" y="2706624"/>
            <a:ext cx="2752344" cy="310896"/>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19272" y="2724912"/>
            <a:ext cx="2679191" cy="274320"/>
          </a:xfrm>
          <a:prstGeom prst="rect">
            <a:avLst/>
          </a:prstGeom>
          <a:noFill/>
        </p:spPr>
        <p:txBody>
          <a:bodyPr wrap="square">
            <a:spAutoFit/>
          </a:bodyPr>
          <a:lstStyle/>
          <a:p>
            <a:pPr algn="l"/>
            <a:r>
              <a:rPr sz="950" b="1" i="0">
                <a:solidFill>
                  <a:srgbClr val="FFFFFF"/>
                </a:solidFill>
                <a:latin typeface="Calibri"/>
              </a:rPr>
              <a:t>My Model (simulated, N=100K)</a:t>
            </a:r>
          </a:p>
        </p:txBody>
      </p:sp>
      <p:sp>
        <p:nvSpPr>
          <p:cNvPr id="28" name="Rectangle 27"/>
          <p:cNvSpPr/>
          <p:nvPr/>
        </p:nvSpPr>
        <p:spPr>
          <a:xfrm>
            <a:off x="6126480" y="2706624"/>
            <a:ext cx="2752344" cy="310896"/>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99632" y="2724912"/>
            <a:ext cx="2679191" cy="274320"/>
          </a:xfrm>
          <a:prstGeom prst="rect">
            <a:avLst/>
          </a:prstGeom>
          <a:noFill/>
        </p:spPr>
        <p:txBody>
          <a:bodyPr wrap="square">
            <a:spAutoFit/>
          </a:bodyPr>
          <a:lstStyle/>
          <a:p>
            <a:pPr algn="l"/>
            <a:r>
              <a:rPr sz="950" b="1" i="0">
                <a:solidFill>
                  <a:srgbClr val="FFFFFF"/>
                </a:solidFill>
                <a:latin typeface="Calibri"/>
              </a:rPr>
              <a:t>EDDA Paper (real EHR, N=760K)</a:t>
            </a:r>
          </a:p>
        </p:txBody>
      </p:sp>
      <p:sp>
        <p:nvSpPr>
          <p:cNvPr id="30" name="Rectangle 29"/>
          <p:cNvSpPr/>
          <p:nvPr/>
        </p:nvSpPr>
        <p:spPr>
          <a:xfrm>
            <a:off x="9006840" y="2706624"/>
            <a:ext cx="3054096" cy="310896"/>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79992" y="2724912"/>
            <a:ext cx="2980944" cy="274320"/>
          </a:xfrm>
          <a:prstGeom prst="rect">
            <a:avLst/>
          </a:prstGeom>
          <a:noFill/>
        </p:spPr>
        <p:txBody>
          <a:bodyPr wrap="square">
            <a:spAutoFit/>
          </a:bodyPr>
          <a:lstStyle/>
          <a:p>
            <a:pPr algn="l"/>
            <a:r>
              <a:rPr sz="950" b="1" i="0">
                <a:solidFill>
                  <a:srgbClr val="FFFFFF"/>
                </a:solidFill>
                <a:latin typeface="Calibri"/>
              </a:rPr>
              <a:t>What explains the difference</a:t>
            </a:r>
          </a:p>
        </p:txBody>
      </p:sp>
      <p:sp>
        <p:nvSpPr>
          <p:cNvPr id="32" name="Rectangle 31"/>
          <p:cNvSpPr/>
          <p:nvPr/>
        </p:nvSpPr>
        <p:spPr>
          <a:xfrm>
            <a:off x="457200" y="3044952"/>
            <a:ext cx="266090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0352" y="3063240"/>
            <a:ext cx="2587752" cy="301752"/>
          </a:xfrm>
          <a:prstGeom prst="rect">
            <a:avLst/>
          </a:prstGeom>
          <a:noFill/>
        </p:spPr>
        <p:txBody>
          <a:bodyPr wrap="square">
            <a:spAutoFit/>
          </a:bodyPr>
          <a:lstStyle/>
          <a:p>
            <a:pPr algn="l"/>
            <a:r>
              <a:rPr sz="950" b="1" i="0">
                <a:solidFill>
                  <a:srgbClr val="1E4050"/>
                </a:solidFill>
                <a:latin typeface="Calibri"/>
              </a:rPr>
              <a:t>AUC-ROC</a:t>
            </a:r>
          </a:p>
        </p:txBody>
      </p:sp>
      <p:sp>
        <p:nvSpPr>
          <p:cNvPr id="34" name="Rectangle 33"/>
          <p:cNvSpPr/>
          <p:nvPr/>
        </p:nvSpPr>
        <p:spPr>
          <a:xfrm>
            <a:off x="3246120" y="3044952"/>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19272" y="3063240"/>
            <a:ext cx="2679191" cy="301752"/>
          </a:xfrm>
          <a:prstGeom prst="rect">
            <a:avLst/>
          </a:prstGeom>
          <a:noFill/>
        </p:spPr>
        <p:txBody>
          <a:bodyPr wrap="square">
            <a:spAutoFit/>
          </a:bodyPr>
          <a:lstStyle/>
          <a:p>
            <a:pPr algn="l"/>
            <a:r>
              <a:rPr sz="950" b="0" i="0">
                <a:solidFill>
                  <a:srgbClr val="383838"/>
                </a:solidFill>
                <a:latin typeface="Calibri"/>
              </a:rPr>
              <a:t>0.696</a:t>
            </a:r>
          </a:p>
        </p:txBody>
      </p:sp>
      <p:sp>
        <p:nvSpPr>
          <p:cNvPr id="36" name="Rectangle 35"/>
          <p:cNvSpPr/>
          <p:nvPr/>
        </p:nvSpPr>
        <p:spPr>
          <a:xfrm>
            <a:off x="6126480" y="3044952"/>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99632" y="3063240"/>
            <a:ext cx="2679191" cy="301752"/>
          </a:xfrm>
          <a:prstGeom prst="rect">
            <a:avLst/>
          </a:prstGeom>
          <a:noFill/>
        </p:spPr>
        <p:txBody>
          <a:bodyPr wrap="square">
            <a:spAutoFit/>
          </a:bodyPr>
          <a:lstStyle/>
          <a:p>
            <a:pPr algn="l"/>
            <a:r>
              <a:rPr sz="950" b="0" i="0">
                <a:solidFill>
                  <a:srgbClr val="383838"/>
                </a:solidFill>
                <a:latin typeface="Calibri"/>
              </a:rPr>
              <a:t>0.85</a:t>
            </a:r>
          </a:p>
        </p:txBody>
      </p:sp>
      <p:sp>
        <p:nvSpPr>
          <p:cNvPr id="38" name="Rectangle 37"/>
          <p:cNvSpPr/>
          <p:nvPr/>
        </p:nvSpPr>
        <p:spPr>
          <a:xfrm>
            <a:off x="9006840" y="3044952"/>
            <a:ext cx="3054096"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79992" y="3063240"/>
            <a:ext cx="2980944" cy="301752"/>
          </a:xfrm>
          <a:prstGeom prst="rect">
            <a:avLst/>
          </a:prstGeom>
          <a:noFill/>
        </p:spPr>
        <p:txBody>
          <a:bodyPr wrap="square">
            <a:spAutoFit/>
          </a:bodyPr>
          <a:lstStyle/>
          <a:p>
            <a:pPr algn="l"/>
            <a:r>
              <a:rPr sz="950" b="0" i="0">
                <a:solidFill>
                  <a:srgbClr val="383838"/>
                </a:solidFill>
                <a:latin typeface="Calibri"/>
              </a:rPr>
              <a:t>7.6x smaller dataset, simulated data</a:t>
            </a:r>
          </a:p>
        </p:txBody>
      </p:sp>
      <p:sp>
        <p:nvSpPr>
          <p:cNvPr id="40" name="Rectangle 39"/>
          <p:cNvSpPr/>
          <p:nvPr/>
        </p:nvSpPr>
        <p:spPr>
          <a:xfrm>
            <a:off x="457200" y="3392424"/>
            <a:ext cx="266090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30352" y="3410712"/>
            <a:ext cx="2587752" cy="301752"/>
          </a:xfrm>
          <a:prstGeom prst="rect">
            <a:avLst/>
          </a:prstGeom>
          <a:noFill/>
        </p:spPr>
        <p:txBody>
          <a:bodyPr wrap="square">
            <a:spAutoFit/>
          </a:bodyPr>
          <a:lstStyle/>
          <a:p>
            <a:pPr algn="l"/>
            <a:r>
              <a:rPr sz="950" b="1" i="0">
                <a:solidFill>
                  <a:srgbClr val="1E4050"/>
                </a:solidFill>
                <a:latin typeface="Calibri"/>
              </a:rPr>
              <a:t>AUC-PR</a:t>
            </a:r>
          </a:p>
        </p:txBody>
      </p:sp>
      <p:sp>
        <p:nvSpPr>
          <p:cNvPr id="42" name="Rectangle 41"/>
          <p:cNvSpPr/>
          <p:nvPr/>
        </p:nvSpPr>
        <p:spPr>
          <a:xfrm>
            <a:off x="3246120" y="3392424"/>
            <a:ext cx="275234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319272" y="3410712"/>
            <a:ext cx="2679191" cy="301752"/>
          </a:xfrm>
          <a:prstGeom prst="rect">
            <a:avLst/>
          </a:prstGeom>
          <a:noFill/>
        </p:spPr>
        <p:txBody>
          <a:bodyPr wrap="square">
            <a:spAutoFit/>
          </a:bodyPr>
          <a:lstStyle/>
          <a:p>
            <a:pPr algn="l"/>
            <a:r>
              <a:rPr sz="950" b="0" i="0">
                <a:solidFill>
                  <a:srgbClr val="383838"/>
                </a:solidFill>
                <a:latin typeface="Calibri"/>
              </a:rPr>
              <a:t>0.403</a:t>
            </a:r>
          </a:p>
        </p:txBody>
      </p:sp>
      <p:sp>
        <p:nvSpPr>
          <p:cNvPr id="44" name="Rectangle 43"/>
          <p:cNvSpPr/>
          <p:nvPr/>
        </p:nvSpPr>
        <p:spPr>
          <a:xfrm>
            <a:off x="6126480" y="3392424"/>
            <a:ext cx="275234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199632" y="3410712"/>
            <a:ext cx="2679191" cy="301752"/>
          </a:xfrm>
          <a:prstGeom prst="rect">
            <a:avLst/>
          </a:prstGeom>
          <a:noFill/>
        </p:spPr>
        <p:txBody>
          <a:bodyPr wrap="square">
            <a:spAutoFit/>
          </a:bodyPr>
          <a:lstStyle/>
          <a:p>
            <a:pPr algn="l"/>
            <a:r>
              <a:rPr sz="950" b="0" i="0">
                <a:solidFill>
                  <a:srgbClr val="383838"/>
                </a:solidFill>
                <a:latin typeface="Calibri"/>
              </a:rPr>
              <a:t>0.68</a:t>
            </a:r>
          </a:p>
        </p:txBody>
      </p:sp>
      <p:sp>
        <p:nvSpPr>
          <p:cNvPr id="46" name="Rectangle 45"/>
          <p:cNvSpPr/>
          <p:nvPr/>
        </p:nvSpPr>
        <p:spPr>
          <a:xfrm>
            <a:off x="9006840" y="3392424"/>
            <a:ext cx="3054096"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079992" y="3410712"/>
            <a:ext cx="2980944" cy="301752"/>
          </a:xfrm>
          <a:prstGeom prst="rect">
            <a:avLst/>
          </a:prstGeom>
          <a:noFill/>
        </p:spPr>
        <p:txBody>
          <a:bodyPr wrap="square">
            <a:spAutoFit/>
          </a:bodyPr>
          <a:lstStyle/>
          <a:p>
            <a:pPr algn="l"/>
            <a:r>
              <a:rPr sz="950" b="0" i="0">
                <a:solidFill>
                  <a:srgbClr val="383838"/>
                </a:solidFill>
                <a:latin typeface="Calibri"/>
              </a:rPr>
              <a:t>Fewer real clinical signal patterns</a:t>
            </a:r>
          </a:p>
        </p:txBody>
      </p:sp>
      <p:sp>
        <p:nvSpPr>
          <p:cNvPr id="48" name="Rectangle 47"/>
          <p:cNvSpPr/>
          <p:nvPr/>
        </p:nvSpPr>
        <p:spPr>
          <a:xfrm>
            <a:off x="457200" y="3739896"/>
            <a:ext cx="266090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30352" y="3758184"/>
            <a:ext cx="2587752" cy="301752"/>
          </a:xfrm>
          <a:prstGeom prst="rect">
            <a:avLst/>
          </a:prstGeom>
          <a:noFill/>
        </p:spPr>
        <p:txBody>
          <a:bodyPr wrap="square">
            <a:spAutoFit/>
          </a:bodyPr>
          <a:lstStyle/>
          <a:p>
            <a:pPr algn="l"/>
            <a:r>
              <a:rPr sz="950" b="1" i="0">
                <a:solidFill>
                  <a:srgbClr val="1E4050"/>
                </a:solidFill>
                <a:latin typeface="Calibri"/>
              </a:rPr>
              <a:t>Sensitivity</a:t>
            </a:r>
          </a:p>
        </p:txBody>
      </p:sp>
      <p:sp>
        <p:nvSpPr>
          <p:cNvPr id="50" name="Rectangle 49"/>
          <p:cNvSpPr/>
          <p:nvPr/>
        </p:nvSpPr>
        <p:spPr>
          <a:xfrm>
            <a:off x="3246120" y="3739896"/>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319272" y="3758184"/>
            <a:ext cx="2679191" cy="301752"/>
          </a:xfrm>
          <a:prstGeom prst="rect">
            <a:avLst/>
          </a:prstGeom>
          <a:noFill/>
        </p:spPr>
        <p:txBody>
          <a:bodyPr wrap="square">
            <a:spAutoFit/>
          </a:bodyPr>
          <a:lstStyle/>
          <a:p>
            <a:pPr algn="l"/>
            <a:r>
              <a:rPr sz="950" b="0" i="0">
                <a:solidFill>
                  <a:srgbClr val="383838"/>
                </a:solidFill>
                <a:latin typeface="Calibri"/>
              </a:rPr>
              <a:t>0.62 (thresh 0.5)</a:t>
            </a:r>
          </a:p>
        </p:txBody>
      </p:sp>
      <p:sp>
        <p:nvSpPr>
          <p:cNvPr id="52" name="Rectangle 51"/>
          <p:cNvSpPr/>
          <p:nvPr/>
        </p:nvSpPr>
        <p:spPr>
          <a:xfrm>
            <a:off x="6126480" y="3739896"/>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199632" y="3758184"/>
            <a:ext cx="2679191" cy="301752"/>
          </a:xfrm>
          <a:prstGeom prst="rect">
            <a:avLst/>
          </a:prstGeom>
          <a:noFill/>
        </p:spPr>
        <p:txBody>
          <a:bodyPr wrap="square">
            <a:spAutoFit/>
          </a:bodyPr>
          <a:lstStyle/>
          <a:p>
            <a:pPr algn="l"/>
            <a:r>
              <a:rPr sz="950" b="0" i="0">
                <a:solidFill>
                  <a:srgbClr val="383838"/>
                </a:solidFill>
                <a:latin typeface="Calibri"/>
              </a:rPr>
              <a:t>0.57 (thresh 0.1)</a:t>
            </a:r>
          </a:p>
        </p:txBody>
      </p:sp>
      <p:sp>
        <p:nvSpPr>
          <p:cNvPr id="54" name="Rectangle 53"/>
          <p:cNvSpPr/>
          <p:nvPr/>
        </p:nvSpPr>
        <p:spPr>
          <a:xfrm>
            <a:off x="9006840" y="3739896"/>
            <a:ext cx="3054096"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079992" y="3758184"/>
            <a:ext cx="2980944" cy="301752"/>
          </a:xfrm>
          <a:prstGeom prst="rect">
            <a:avLst/>
          </a:prstGeom>
          <a:noFill/>
        </p:spPr>
        <p:txBody>
          <a:bodyPr wrap="square">
            <a:spAutoFit/>
          </a:bodyPr>
          <a:lstStyle/>
          <a:p>
            <a:pPr algn="l"/>
            <a:r>
              <a:rPr sz="950" b="0" i="0">
                <a:solidFill>
                  <a:srgbClr val="383838"/>
                </a:solidFill>
                <a:latin typeface="Calibri"/>
              </a:rPr>
              <a:t>Comparable at appropriate thresholds</a:t>
            </a:r>
          </a:p>
        </p:txBody>
      </p:sp>
      <p:sp>
        <p:nvSpPr>
          <p:cNvPr id="56" name="Rectangle 55"/>
          <p:cNvSpPr/>
          <p:nvPr/>
        </p:nvSpPr>
        <p:spPr>
          <a:xfrm>
            <a:off x="457200" y="4087368"/>
            <a:ext cx="266090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30352" y="4105656"/>
            <a:ext cx="2587752" cy="301752"/>
          </a:xfrm>
          <a:prstGeom prst="rect">
            <a:avLst/>
          </a:prstGeom>
          <a:noFill/>
        </p:spPr>
        <p:txBody>
          <a:bodyPr wrap="square">
            <a:spAutoFit/>
          </a:bodyPr>
          <a:lstStyle/>
          <a:p>
            <a:pPr algn="l"/>
            <a:r>
              <a:rPr sz="950" b="1" i="0">
                <a:solidFill>
                  <a:srgbClr val="1E4050"/>
                </a:solidFill>
                <a:latin typeface="Calibri"/>
              </a:rPr>
              <a:t>Specificity</a:t>
            </a:r>
          </a:p>
        </p:txBody>
      </p:sp>
      <p:sp>
        <p:nvSpPr>
          <p:cNvPr id="58" name="Rectangle 57"/>
          <p:cNvSpPr/>
          <p:nvPr/>
        </p:nvSpPr>
        <p:spPr>
          <a:xfrm>
            <a:off x="3246120" y="4087368"/>
            <a:ext cx="275234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319272" y="4105656"/>
            <a:ext cx="2679191" cy="301752"/>
          </a:xfrm>
          <a:prstGeom prst="rect">
            <a:avLst/>
          </a:prstGeom>
          <a:noFill/>
        </p:spPr>
        <p:txBody>
          <a:bodyPr wrap="square">
            <a:spAutoFit/>
          </a:bodyPr>
          <a:lstStyle/>
          <a:p>
            <a:pPr algn="l"/>
            <a:r>
              <a:rPr sz="950" b="0" i="0">
                <a:solidFill>
                  <a:srgbClr val="383838"/>
                </a:solidFill>
                <a:latin typeface="Calibri"/>
              </a:rPr>
              <a:t>0.66 (thresh 0.5)</a:t>
            </a:r>
          </a:p>
        </p:txBody>
      </p:sp>
      <p:sp>
        <p:nvSpPr>
          <p:cNvPr id="60" name="Rectangle 59"/>
          <p:cNvSpPr/>
          <p:nvPr/>
        </p:nvSpPr>
        <p:spPr>
          <a:xfrm>
            <a:off x="6126480" y="4087368"/>
            <a:ext cx="275234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99632" y="4105656"/>
            <a:ext cx="2679191" cy="301752"/>
          </a:xfrm>
          <a:prstGeom prst="rect">
            <a:avLst/>
          </a:prstGeom>
          <a:noFill/>
        </p:spPr>
        <p:txBody>
          <a:bodyPr wrap="square">
            <a:spAutoFit/>
          </a:bodyPr>
          <a:lstStyle/>
          <a:p>
            <a:pPr algn="l"/>
            <a:r>
              <a:rPr sz="950" b="0" i="0">
                <a:solidFill>
                  <a:srgbClr val="383838"/>
                </a:solidFill>
                <a:latin typeface="Calibri"/>
              </a:rPr>
              <a:t>0.93 (thresh 0.1)</a:t>
            </a:r>
          </a:p>
        </p:txBody>
      </p:sp>
      <p:sp>
        <p:nvSpPr>
          <p:cNvPr id="62" name="Rectangle 61"/>
          <p:cNvSpPr/>
          <p:nvPr/>
        </p:nvSpPr>
        <p:spPr>
          <a:xfrm>
            <a:off x="9006840" y="4087368"/>
            <a:ext cx="3054096"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079992" y="4105656"/>
            <a:ext cx="2980944" cy="301752"/>
          </a:xfrm>
          <a:prstGeom prst="rect">
            <a:avLst/>
          </a:prstGeom>
          <a:noFill/>
        </p:spPr>
        <p:txBody>
          <a:bodyPr wrap="square">
            <a:spAutoFit/>
          </a:bodyPr>
          <a:lstStyle/>
          <a:p>
            <a:pPr algn="l"/>
            <a:r>
              <a:rPr sz="950" b="0" i="0">
                <a:solidFill>
                  <a:srgbClr val="383838"/>
                </a:solidFill>
                <a:latin typeface="Calibri"/>
              </a:rPr>
              <a:t>Threshold choice drives this tradeoff</a:t>
            </a:r>
          </a:p>
        </p:txBody>
      </p:sp>
      <p:sp>
        <p:nvSpPr>
          <p:cNvPr id="64" name="Rectangle 63"/>
          <p:cNvSpPr/>
          <p:nvPr/>
        </p:nvSpPr>
        <p:spPr>
          <a:xfrm>
            <a:off x="457200" y="4434840"/>
            <a:ext cx="266090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30352" y="4453128"/>
            <a:ext cx="2587752" cy="301752"/>
          </a:xfrm>
          <a:prstGeom prst="rect">
            <a:avLst/>
          </a:prstGeom>
          <a:noFill/>
        </p:spPr>
        <p:txBody>
          <a:bodyPr wrap="square">
            <a:spAutoFit/>
          </a:bodyPr>
          <a:lstStyle/>
          <a:p>
            <a:pPr algn="l"/>
            <a:r>
              <a:rPr sz="950" b="1" i="0">
                <a:solidFill>
                  <a:srgbClr val="1E4050"/>
                </a:solidFill>
                <a:latin typeface="Calibri"/>
              </a:rPr>
              <a:t>Features</a:t>
            </a:r>
          </a:p>
        </p:txBody>
      </p:sp>
      <p:sp>
        <p:nvSpPr>
          <p:cNvPr id="66" name="Rectangle 65"/>
          <p:cNvSpPr/>
          <p:nvPr/>
        </p:nvSpPr>
        <p:spPr>
          <a:xfrm>
            <a:off x="3246120" y="4434840"/>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319272" y="4453128"/>
            <a:ext cx="2679191" cy="301752"/>
          </a:xfrm>
          <a:prstGeom prst="rect">
            <a:avLst/>
          </a:prstGeom>
          <a:noFill/>
        </p:spPr>
        <p:txBody>
          <a:bodyPr wrap="square">
            <a:spAutoFit/>
          </a:bodyPr>
          <a:lstStyle/>
          <a:p>
            <a:pPr algn="l"/>
            <a:r>
              <a:rPr sz="950" b="0" i="0">
                <a:solidFill>
                  <a:srgbClr val="383838"/>
                </a:solidFill>
                <a:latin typeface="Calibri"/>
              </a:rPr>
              <a:t>23 raw features</a:t>
            </a:r>
          </a:p>
        </p:txBody>
      </p:sp>
      <p:sp>
        <p:nvSpPr>
          <p:cNvPr id="68" name="Rectangle 67"/>
          <p:cNvSpPr/>
          <p:nvPr/>
        </p:nvSpPr>
        <p:spPr>
          <a:xfrm>
            <a:off x="6126480" y="4434840"/>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199632" y="4453128"/>
            <a:ext cx="2679191" cy="301752"/>
          </a:xfrm>
          <a:prstGeom prst="rect">
            <a:avLst/>
          </a:prstGeom>
          <a:noFill/>
        </p:spPr>
        <p:txBody>
          <a:bodyPr wrap="square">
            <a:spAutoFit/>
          </a:bodyPr>
          <a:lstStyle/>
          <a:p>
            <a:pPr algn="l"/>
            <a:r>
              <a:rPr sz="950" b="0" i="0">
                <a:solidFill>
                  <a:srgbClr val="383838"/>
                </a:solidFill>
                <a:latin typeface="Calibri"/>
              </a:rPr>
              <a:t>50 via recursive selection</a:t>
            </a:r>
          </a:p>
        </p:txBody>
      </p:sp>
      <p:sp>
        <p:nvSpPr>
          <p:cNvPr id="70" name="Rectangle 69"/>
          <p:cNvSpPr/>
          <p:nvPr/>
        </p:nvSpPr>
        <p:spPr>
          <a:xfrm>
            <a:off x="9006840" y="4434840"/>
            <a:ext cx="3054096"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079992" y="4453128"/>
            <a:ext cx="2980944" cy="301752"/>
          </a:xfrm>
          <a:prstGeom prst="rect">
            <a:avLst/>
          </a:prstGeom>
          <a:noFill/>
        </p:spPr>
        <p:txBody>
          <a:bodyPr wrap="square">
            <a:spAutoFit/>
          </a:bodyPr>
          <a:lstStyle/>
          <a:p>
            <a:pPr algn="l"/>
            <a:r>
              <a:rPr sz="950" b="0" i="0">
                <a:solidFill>
                  <a:srgbClr val="383838"/>
                </a:solidFill>
                <a:latin typeface="Calibri"/>
              </a:rPr>
              <a:t>EDDA removed noise via feature selection</a:t>
            </a:r>
          </a:p>
        </p:txBody>
      </p:sp>
      <p:sp>
        <p:nvSpPr>
          <p:cNvPr id="72" name="Rectangle 71"/>
          <p:cNvSpPr/>
          <p:nvPr/>
        </p:nvSpPr>
        <p:spPr>
          <a:xfrm>
            <a:off x="457200" y="4782312"/>
            <a:ext cx="266090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30352" y="4800600"/>
            <a:ext cx="2587752" cy="301752"/>
          </a:xfrm>
          <a:prstGeom prst="rect">
            <a:avLst/>
          </a:prstGeom>
          <a:noFill/>
        </p:spPr>
        <p:txBody>
          <a:bodyPr wrap="square">
            <a:spAutoFit/>
          </a:bodyPr>
          <a:lstStyle/>
          <a:p>
            <a:pPr algn="l"/>
            <a:r>
              <a:rPr sz="950" b="1" i="0">
                <a:solidFill>
                  <a:srgbClr val="1E4050"/>
                </a:solidFill>
                <a:latin typeface="Calibri"/>
              </a:rPr>
              <a:t>Class handling</a:t>
            </a:r>
          </a:p>
        </p:txBody>
      </p:sp>
      <p:sp>
        <p:nvSpPr>
          <p:cNvPr id="74" name="Rectangle 73"/>
          <p:cNvSpPr/>
          <p:nvPr/>
        </p:nvSpPr>
        <p:spPr>
          <a:xfrm>
            <a:off x="3246120" y="4782312"/>
            <a:ext cx="275234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3319272" y="4800600"/>
            <a:ext cx="2679191" cy="301752"/>
          </a:xfrm>
          <a:prstGeom prst="rect">
            <a:avLst/>
          </a:prstGeom>
          <a:noFill/>
        </p:spPr>
        <p:txBody>
          <a:bodyPr wrap="square">
            <a:spAutoFit/>
          </a:bodyPr>
          <a:lstStyle/>
          <a:p>
            <a:pPr algn="l"/>
            <a:r>
              <a:rPr sz="950" b="0" i="0">
                <a:solidFill>
                  <a:srgbClr val="383838"/>
                </a:solidFill>
                <a:latin typeface="Calibri"/>
              </a:rPr>
              <a:t>scale_pos_weight = 3.61</a:t>
            </a:r>
          </a:p>
        </p:txBody>
      </p:sp>
      <p:sp>
        <p:nvSpPr>
          <p:cNvPr id="76" name="Rectangle 75"/>
          <p:cNvSpPr/>
          <p:nvPr/>
        </p:nvSpPr>
        <p:spPr>
          <a:xfrm>
            <a:off x="6126480" y="4782312"/>
            <a:ext cx="2752344"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199632" y="4800600"/>
            <a:ext cx="2679191" cy="301752"/>
          </a:xfrm>
          <a:prstGeom prst="rect">
            <a:avLst/>
          </a:prstGeom>
          <a:noFill/>
        </p:spPr>
        <p:txBody>
          <a:bodyPr wrap="square">
            <a:spAutoFit/>
          </a:bodyPr>
          <a:lstStyle/>
          <a:p>
            <a:pPr algn="l"/>
            <a:r>
              <a:rPr sz="950" b="0" i="0">
                <a:solidFill>
                  <a:srgbClr val="383838"/>
                </a:solidFill>
                <a:latin typeface="Calibri"/>
              </a:rPr>
              <a:t>Positive-unlabeled learning</a:t>
            </a:r>
          </a:p>
        </p:txBody>
      </p:sp>
      <p:sp>
        <p:nvSpPr>
          <p:cNvPr id="78" name="Rectangle 77"/>
          <p:cNvSpPr/>
          <p:nvPr/>
        </p:nvSpPr>
        <p:spPr>
          <a:xfrm>
            <a:off x="9006840" y="4782312"/>
            <a:ext cx="3054096"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9079992" y="4800600"/>
            <a:ext cx="2980944" cy="301752"/>
          </a:xfrm>
          <a:prstGeom prst="rect">
            <a:avLst/>
          </a:prstGeom>
          <a:noFill/>
        </p:spPr>
        <p:txBody>
          <a:bodyPr wrap="square">
            <a:spAutoFit/>
          </a:bodyPr>
          <a:lstStyle/>
          <a:p>
            <a:pPr algn="l"/>
            <a:r>
              <a:rPr sz="950" b="0" i="0">
                <a:solidFill>
                  <a:srgbClr val="383838"/>
                </a:solidFill>
                <a:latin typeface="Calibri"/>
              </a:rPr>
              <a:t>PU learning recovers hidden dementia cases</a:t>
            </a:r>
          </a:p>
        </p:txBody>
      </p:sp>
      <p:sp>
        <p:nvSpPr>
          <p:cNvPr id="80" name="Rectangle 79"/>
          <p:cNvSpPr/>
          <p:nvPr/>
        </p:nvSpPr>
        <p:spPr>
          <a:xfrm>
            <a:off x="457200" y="5129784"/>
            <a:ext cx="266090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30352" y="5148072"/>
            <a:ext cx="2587752" cy="301752"/>
          </a:xfrm>
          <a:prstGeom prst="rect">
            <a:avLst/>
          </a:prstGeom>
          <a:noFill/>
        </p:spPr>
        <p:txBody>
          <a:bodyPr wrap="square">
            <a:spAutoFit/>
          </a:bodyPr>
          <a:lstStyle/>
          <a:p>
            <a:pPr algn="l"/>
            <a:r>
              <a:rPr sz="950" b="1" i="0">
                <a:solidFill>
                  <a:srgbClr val="1E4050"/>
                </a:solidFill>
                <a:latin typeface="Calibri"/>
              </a:rPr>
              <a:t>Split method</a:t>
            </a:r>
          </a:p>
        </p:txBody>
      </p:sp>
      <p:sp>
        <p:nvSpPr>
          <p:cNvPr id="82" name="Rectangle 81"/>
          <p:cNvSpPr/>
          <p:nvPr/>
        </p:nvSpPr>
        <p:spPr>
          <a:xfrm>
            <a:off x="3246120" y="5129784"/>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319272" y="5148072"/>
            <a:ext cx="2679191" cy="301752"/>
          </a:xfrm>
          <a:prstGeom prst="rect">
            <a:avLst/>
          </a:prstGeom>
          <a:noFill/>
        </p:spPr>
        <p:txBody>
          <a:bodyPr wrap="square">
            <a:spAutoFit/>
          </a:bodyPr>
          <a:lstStyle/>
          <a:p>
            <a:pPr algn="l"/>
            <a:r>
              <a:rPr sz="950" b="1" i="0">
                <a:solidFill>
                  <a:srgbClr val="246245"/>
                </a:solidFill>
                <a:latin typeface="Calibri"/>
              </a:rPr>
              <a:t>By patient ID</a:t>
            </a:r>
          </a:p>
        </p:txBody>
      </p:sp>
      <p:sp>
        <p:nvSpPr>
          <p:cNvPr id="84" name="Rectangle 83"/>
          <p:cNvSpPr/>
          <p:nvPr/>
        </p:nvSpPr>
        <p:spPr>
          <a:xfrm>
            <a:off x="6126480" y="5129784"/>
            <a:ext cx="2752344"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199632" y="5148072"/>
            <a:ext cx="2679191" cy="301752"/>
          </a:xfrm>
          <a:prstGeom prst="rect">
            <a:avLst/>
          </a:prstGeom>
          <a:noFill/>
        </p:spPr>
        <p:txBody>
          <a:bodyPr wrap="square">
            <a:spAutoFit/>
          </a:bodyPr>
          <a:lstStyle/>
          <a:p>
            <a:pPr algn="l"/>
            <a:r>
              <a:rPr sz="950" b="1" i="0">
                <a:solidFill>
                  <a:srgbClr val="246245"/>
                </a:solidFill>
                <a:latin typeface="Calibri"/>
              </a:rPr>
              <a:t>By patient encounter</a:t>
            </a:r>
          </a:p>
        </p:txBody>
      </p:sp>
      <p:sp>
        <p:nvSpPr>
          <p:cNvPr id="86" name="Rectangle 85"/>
          <p:cNvSpPr/>
          <p:nvPr/>
        </p:nvSpPr>
        <p:spPr>
          <a:xfrm>
            <a:off x="9006840" y="5129784"/>
            <a:ext cx="3054096" cy="338328"/>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079992" y="5148072"/>
            <a:ext cx="2980944" cy="301752"/>
          </a:xfrm>
          <a:prstGeom prst="rect">
            <a:avLst/>
          </a:prstGeom>
          <a:noFill/>
        </p:spPr>
        <p:txBody>
          <a:bodyPr wrap="square">
            <a:spAutoFit/>
          </a:bodyPr>
          <a:lstStyle/>
          <a:p>
            <a:pPr algn="l"/>
            <a:r>
              <a:rPr sz="950" b="0" i="0">
                <a:solidFill>
                  <a:srgbClr val="383838"/>
                </a:solidFill>
                <a:latin typeface="Calibri"/>
              </a:rPr>
              <a:t>Both correct - methodologically aligned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Q2 / Features</a:t>
            </a:r>
          </a:p>
        </p:txBody>
      </p:sp>
      <p:sp>
        <p:nvSpPr>
          <p:cNvPr id="5" name="TextBox 4"/>
          <p:cNvSpPr txBox="1"/>
          <p:nvPr/>
        </p:nvSpPr>
        <p:spPr>
          <a:xfrm>
            <a:off x="457200" y="164592"/>
            <a:ext cx="10789920" cy="621792"/>
          </a:xfrm>
          <a:prstGeom prst="rect">
            <a:avLst/>
          </a:prstGeom>
          <a:noFill/>
        </p:spPr>
        <p:txBody>
          <a:bodyPr wrap="square">
            <a:spAutoFit/>
          </a:bodyPr>
          <a:lstStyle/>
          <a:p>
            <a:pPr algn="l"/>
            <a:r>
              <a:rPr sz="3000" b="1" i="0">
                <a:solidFill>
                  <a:srgbClr val="1E4050"/>
                </a:solidFill>
                <a:latin typeface="Calibri"/>
              </a:rPr>
              <a:t>Feature Importance &amp; Threshold Analysis</a:t>
            </a:r>
          </a:p>
        </p:txBody>
      </p:sp>
      <p:sp>
        <p:nvSpPr>
          <p:cNvPr id="6" name="Rectangle 5"/>
          <p:cNvSpPr/>
          <p:nvPr/>
        </p:nvSpPr>
        <p:spPr>
          <a:xfrm>
            <a:off x="457200" y="841248"/>
            <a:ext cx="11274552"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32688"/>
            <a:ext cx="5577840" cy="5577840"/>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005840"/>
            <a:ext cx="5212080" cy="274320"/>
          </a:xfrm>
          <a:prstGeom prst="rect">
            <a:avLst/>
          </a:prstGeom>
          <a:noFill/>
        </p:spPr>
        <p:txBody>
          <a:bodyPr wrap="square">
            <a:spAutoFit/>
          </a:bodyPr>
          <a:lstStyle/>
          <a:p>
            <a:pPr algn="l"/>
            <a:r>
              <a:rPr sz="1200" b="1" i="0">
                <a:solidFill>
                  <a:srgbClr val="1E4050"/>
                </a:solidFill>
                <a:latin typeface="Calibri"/>
              </a:rPr>
              <a:t>Top 10 features - XGBoost gain</a:t>
            </a:r>
          </a:p>
        </p:txBody>
      </p:sp>
      <p:sp>
        <p:nvSpPr>
          <p:cNvPr id="9" name="TextBox 8"/>
          <p:cNvSpPr txBox="1"/>
          <p:nvPr/>
        </p:nvSpPr>
        <p:spPr>
          <a:xfrm>
            <a:off x="640080" y="1298448"/>
            <a:ext cx="5212080" cy="228600"/>
          </a:xfrm>
          <a:prstGeom prst="rect">
            <a:avLst/>
          </a:prstGeom>
          <a:noFill/>
        </p:spPr>
        <p:txBody>
          <a:bodyPr wrap="square">
            <a:spAutoFit/>
          </a:bodyPr>
          <a:lstStyle/>
          <a:p>
            <a:pPr algn="l"/>
            <a:r>
              <a:rPr sz="1050" b="0" i="1">
                <a:solidFill>
                  <a:srgbClr val="246245"/>
                </a:solidFill>
                <a:latin typeface="Calibri"/>
              </a:rPr>
              <a:t>9 of 10 match EDDA paper top 20 directly</a:t>
            </a:r>
            <a:r>
              <a:rPr sz="1600" b="1" i="0" baseline="30000">
                <a:solidFill>
                  <a:srgbClr val="2B6C7C"/>
                </a:solidFill>
                <a:latin typeface="Calibri"/>
              </a:rPr>
              <a:t>⁶</a:t>
            </a:r>
          </a:p>
        </p:txBody>
      </p:sp>
      <p:sp>
        <p:nvSpPr>
          <p:cNvPr id="10" name="TextBox 9"/>
          <p:cNvSpPr txBox="1"/>
          <p:nvPr/>
        </p:nvSpPr>
        <p:spPr>
          <a:xfrm>
            <a:off x="640080" y="1572768"/>
            <a:ext cx="2057400" cy="292608"/>
          </a:xfrm>
          <a:prstGeom prst="rect">
            <a:avLst/>
          </a:prstGeom>
          <a:noFill/>
        </p:spPr>
        <p:txBody>
          <a:bodyPr wrap="square">
            <a:spAutoFit/>
          </a:bodyPr>
          <a:lstStyle/>
          <a:p>
            <a:pPr algn="l"/>
            <a:r>
              <a:rPr sz="1000" b="0" i="0">
                <a:solidFill>
                  <a:srgbClr val="383838"/>
                </a:solidFill>
                <a:latin typeface="Calibri"/>
              </a:rPr>
              <a:t>rx_dementia_yn</a:t>
            </a:r>
          </a:p>
        </p:txBody>
      </p:sp>
      <p:sp>
        <p:nvSpPr>
          <p:cNvPr id="11" name="Rectangle 10"/>
          <p:cNvSpPr/>
          <p:nvPr/>
        </p:nvSpPr>
        <p:spPr>
          <a:xfrm>
            <a:off x="2788920" y="1618488"/>
            <a:ext cx="219456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88920" y="1618488"/>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47488" y="1572768"/>
            <a:ext cx="512064" cy="292608"/>
          </a:xfrm>
          <a:prstGeom prst="rect">
            <a:avLst/>
          </a:prstGeom>
          <a:noFill/>
        </p:spPr>
        <p:txBody>
          <a:bodyPr wrap="square">
            <a:spAutoFit/>
          </a:bodyPr>
          <a:lstStyle/>
          <a:p>
            <a:pPr algn="l"/>
            <a:r>
              <a:rPr sz="1000" b="1" i="0">
                <a:solidFill>
                  <a:srgbClr val="2B6C7C"/>
                </a:solidFill>
                <a:latin typeface="Calibri"/>
              </a:rPr>
              <a:t>0.096</a:t>
            </a:r>
          </a:p>
        </p:txBody>
      </p:sp>
      <p:sp>
        <p:nvSpPr>
          <p:cNvPr id="14" name="TextBox 13"/>
          <p:cNvSpPr txBox="1"/>
          <p:nvPr/>
        </p:nvSpPr>
        <p:spPr>
          <a:xfrm>
            <a:off x="640080" y="1965960"/>
            <a:ext cx="2057400" cy="292608"/>
          </a:xfrm>
          <a:prstGeom prst="rect">
            <a:avLst/>
          </a:prstGeom>
          <a:noFill/>
        </p:spPr>
        <p:txBody>
          <a:bodyPr wrap="square">
            <a:spAutoFit/>
          </a:bodyPr>
          <a:lstStyle/>
          <a:p>
            <a:pPr algn="l"/>
            <a:r>
              <a:rPr sz="1000" b="0" i="0">
                <a:solidFill>
                  <a:srgbClr val="383838"/>
                </a:solidFill>
                <a:latin typeface="Calibri"/>
              </a:rPr>
              <a:t>rx_donepezil</a:t>
            </a:r>
          </a:p>
        </p:txBody>
      </p:sp>
      <p:sp>
        <p:nvSpPr>
          <p:cNvPr id="15" name="Rectangle 14"/>
          <p:cNvSpPr/>
          <p:nvPr/>
        </p:nvSpPr>
        <p:spPr>
          <a:xfrm>
            <a:off x="2788920" y="2011679"/>
            <a:ext cx="194310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88920" y="2011679"/>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47488" y="1965960"/>
            <a:ext cx="512064" cy="292608"/>
          </a:xfrm>
          <a:prstGeom prst="rect">
            <a:avLst/>
          </a:prstGeom>
          <a:noFill/>
        </p:spPr>
        <p:txBody>
          <a:bodyPr wrap="square">
            <a:spAutoFit/>
          </a:bodyPr>
          <a:lstStyle/>
          <a:p>
            <a:pPr algn="l"/>
            <a:r>
              <a:rPr sz="1000" b="1" i="0">
                <a:solidFill>
                  <a:srgbClr val="2B6C7C"/>
                </a:solidFill>
                <a:latin typeface="Calibri"/>
              </a:rPr>
              <a:t>0.085</a:t>
            </a:r>
          </a:p>
        </p:txBody>
      </p:sp>
      <p:sp>
        <p:nvSpPr>
          <p:cNvPr id="18" name="TextBox 17"/>
          <p:cNvSpPr txBox="1"/>
          <p:nvPr/>
        </p:nvSpPr>
        <p:spPr>
          <a:xfrm>
            <a:off x="640080" y="2359152"/>
            <a:ext cx="2057400" cy="292608"/>
          </a:xfrm>
          <a:prstGeom prst="rect">
            <a:avLst/>
          </a:prstGeom>
          <a:noFill/>
        </p:spPr>
        <p:txBody>
          <a:bodyPr wrap="square">
            <a:spAutoFit/>
          </a:bodyPr>
          <a:lstStyle/>
          <a:p>
            <a:pPr algn="l"/>
            <a:r>
              <a:rPr sz="1000" b="0" i="0">
                <a:solidFill>
                  <a:srgbClr val="383838"/>
                </a:solidFill>
                <a:latin typeface="Calibri"/>
              </a:rPr>
              <a:t>age</a:t>
            </a:r>
          </a:p>
        </p:txBody>
      </p:sp>
      <p:sp>
        <p:nvSpPr>
          <p:cNvPr id="19" name="Rectangle 18"/>
          <p:cNvSpPr/>
          <p:nvPr/>
        </p:nvSpPr>
        <p:spPr>
          <a:xfrm>
            <a:off x="2788920" y="2404872"/>
            <a:ext cx="178308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88920" y="2404872"/>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47488" y="2359152"/>
            <a:ext cx="512064" cy="292608"/>
          </a:xfrm>
          <a:prstGeom prst="rect">
            <a:avLst/>
          </a:prstGeom>
          <a:noFill/>
        </p:spPr>
        <p:txBody>
          <a:bodyPr wrap="square">
            <a:spAutoFit/>
          </a:bodyPr>
          <a:lstStyle/>
          <a:p>
            <a:pPr algn="l"/>
            <a:r>
              <a:rPr sz="1000" b="1" i="0">
                <a:solidFill>
                  <a:srgbClr val="2B6C7C"/>
                </a:solidFill>
                <a:latin typeface="Calibri"/>
              </a:rPr>
              <a:t>0.078</a:t>
            </a:r>
          </a:p>
        </p:txBody>
      </p:sp>
      <p:sp>
        <p:nvSpPr>
          <p:cNvPr id="22" name="TextBox 21"/>
          <p:cNvSpPr txBox="1"/>
          <p:nvPr/>
        </p:nvSpPr>
        <p:spPr>
          <a:xfrm>
            <a:off x="640080" y="2752344"/>
            <a:ext cx="2057400" cy="292608"/>
          </a:xfrm>
          <a:prstGeom prst="rect">
            <a:avLst/>
          </a:prstGeom>
          <a:noFill/>
        </p:spPr>
        <p:txBody>
          <a:bodyPr wrap="square">
            <a:spAutoFit/>
          </a:bodyPr>
          <a:lstStyle/>
          <a:p>
            <a:pPr algn="l"/>
            <a:r>
              <a:rPr sz="1000" b="0" i="0">
                <a:solidFill>
                  <a:srgbClr val="383838"/>
                </a:solidFill>
                <a:latin typeface="Calibri"/>
              </a:rPr>
              <a:t>n_dementia_drugs_24mo</a:t>
            </a:r>
          </a:p>
        </p:txBody>
      </p:sp>
      <p:sp>
        <p:nvSpPr>
          <p:cNvPr id="23" name="Rectangle 22"/>
          <p:cNvSpPr/>
          <p:nvPr/>
        </p:nvSpPr>
        <p:spPr>
          <a:xfrm>
            <a:off x="2788920" y="2798063"/>
            <a:ext cx="1623059"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88920" y="2798063"/>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47488" y="2752344"/>
            <a:ext cx="512064" cy="292608"/>
          </a:xfrm>
          <a:prstGeom prst="rect">
            <a:avLst/>
          </a:prstGeom>
          <a:noFill/>
        </p:spPr>
        <p:txBody>
          <a:bodyPr wrap="square">
            <a:spAutoFit/>
          </a:bodyPr>
          <a:lstStyle/>
          <a:p>
            <a:pPr algn="l"/>
            <a:r>
              <a:rPr sz="1000" b="1" i="0">
                <a:solidFill>
                  <a:srgbClr val="2B6C7C"/>
                </a:solidFill>
                <a:latin typeface="Calibri"/>
              </a:rPr>
              <a:t>0.071</a:t>
            </a:r>
          </a:p>
        </p:txBody>
      </p:sp>
      <p:sp>
        <p:nvSpPr>
          <p:cNvPr id="26" name="TextBox 25"/>
          <p:cNvSpPr txBox="1"/>
          <p:nvPr/>
        </p:nvSpPr>
        <p:spPr>
          <a:xfrm>
            <a:off x="640080" y="3145536"/>
            <a:ext cx="2057400" cy="292608"/>
          </a:xfrm>
          <a:prstGeom prst="rect">
            <a:avLst/>
          </a:prstGeom>
          <a:noFill/>
        </p:spPr>
        <p:txBody>
          <a:bodyPr wrap="square">
            <a:spAutoFit/>
          </a:bodyPr>
          <a:lstStyle/>
          <a:p>
            <a:pPr algn="l"/>
            <a:r>
              <a:rPr sz="1000" b="0" i="0">
                <a:solidFill>
                  <a:srgbClr val="383838"/>
                </a:solidFill>
                <a:latin typeface="Calibri"/>
              </a:rPr>
              <a:t>hxdx_parkinsons</a:t>
            </a:r>
          </a:p>
        </p:txBody>
      </p:sp>
      <p:sp>
        <p:nvSpPr>
          <p:cNvPr id="27" name="Rectangle 26"/>
          <p:cNvSpPr/>
          <p:nvPr/>
        </p:nvSpPr>
        <p:spPr>
          <a:xfrm>
            <a:off x="2788920" y="3191256"/>
            <a:ext cx="132588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788920" y="3191256"/>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47488" y="3145536"/>
            <a:ext cx="512064" cy="292608"/>
          </a:xfrm>
          <a:prstGeom prst="rect">
            <a:avLst/>
          </a:prstGeom>
          <a:noFill/>
        </p:spPr>
        <p:txBody>
          <a:bodyPr wrap="square">
            <a:spAutoFit/>
          </a:bodyPr>
          <a:lstStyle/>
          <a:p>
            <a:pPr algn="l"/>
            <a:r>
              <a:rPr sz="1000" b="1" i="0">
                <a:solidFill>
                  <a:srgbClr val="2B6C7C"/>
                </a:solidFill>
                <a:latin typeface="Calibri"/>
              </a:rPr>
              <a:t>0.058</a:t>
            </a:r>
          </a:p>
        </p:txBody>
      </p:sp>
      <p:sp>
        <p:nvSpPr>
          <p:cNvPr id="30" name="TextBox 29"/>
          <p:cNvSpPr txBox="1"/>
          <p:nvPr/>
        </p:nvSpPr>
        <p:spPr>
          <a:xfrm>
            <a:off x="640080" y="3538728"/>
            <a:ext cx="2057400" cy="292608"/>
          </a:xfrm>
          <a:prstGeom prst="rect">
            <a:avLst/>
          </a:prstGeom>
          <a:noFill/>
        </p:spPr>
        <p:txBody>
          <a:bodyPr wrap="square">
            <a:spAutoFit/>
          </a:bodyPr>
          <a:lstStyle/>
          <a:p>
            <a:pPr algn="l"/>
            <a:r>
              <a:rPr sz="1000" b="0" i="0">
                <a:solidFill>
                  <a:srgbClr val="383838"/>
                </a:solidFill>
                <a:latin typeface="Calibri"/>
              </a:rPr>
              <a:t>hxdx_ecodesfall</a:t>
            </a:r>
          </a:p>
        </p:txBody>
      </p:sp>
      <p:sp>
        <p:nvSpPr>
          <p:cNvPr id="31" name="Rectangle 30"/>
          <p:cNvSpPr/>
          <p:nvPr/>
        </p:nvSpPr>
        <p:spPr>
          <a:xfrm>
            <a:off x="2788920" y="3584448"/>
            <a:ext cx="102870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88920" y="3584448"/>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47488" y="3538728"/>
            <a:ext cx="512064" cy="292608"/>
          </a:xfrm>
          <a:prstGeom prst="rect">
            <a:avLst/>
          </a:prstGeom>
          <a:noFill/>
        </p:spPr>
        <p:txBody>
          <a:bodyPr wrap="square">
            <a:spAutoFit/>
          </a:bodyPr>
          <a:lstStyle/>
          <a:p>
            <a:pPr algn="l"/>
            <a:r>
              <a:rPr sz="1000" b="1" i="0">
                <a:solidFill>
                  <a:srgbClr val="2B6C7C"/>
                </a:solidFill>
                <a:latin typeface="Calibri"/>
              </a:rPr>
              <a:t>0.045</a:t>
            </a:r>
          </a:p>
        </p:txBody>
      </p:sp>
      <p:sp>
        <p:nvSpPr>
          <p:cNvPr id="34" name="TextBox 33"/>
          <p:cNvSpPr txBox="1"/>
          <p:nvPr/>
        </p:nvSpPr>
        <p:spPr>
          <a:xfrm>
            <a:off x="640080" y="3931920"/>
            <a:ext cx="2057400" cy="292608"/>
          </a:xfrm>
          <a:prstGeom prst="rect">
            <a:avLst/>
          </a:prstGeom>
          <a:noFill/>
        </p:spPr>
        <p:txBody>
          <a:bodyPr wrap="square">
            <a:spAutoFit/>
          </a:bodyPr>
          <a:lstStyle/>
          <a:p>
            <a:pPr algn="l"/>
            <a:r>
              <a:rPr sz="1000" b="0" i="0">
                <a:solidFill>
                  <a:srgbClr val="383838"/>
                </a:solidFill>
                <a:latin typeface="Calibri"/>
              </a:rPr>
              <a:t>n_prior_ed_visits_24mo</a:t>
            </a:r>
          </a:p>
        </p:txBody>
      </p:sp>
      <p:sp>
        <p:nvSpPr>
          <p:cNvPr id="35" name="Rectangle 34"/>
          <p:cNvSpPr/>
          <p:nvPr/>
        </p:nvSpPr>
        <p:spPr>
          <a:xfrm>
            <a:off x="2788920" y="3977639"/>
            <a:ext cx="86868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88920" y="3977639"/>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47488" y="3931920"/>
            <a:ext cx="512064" cy="292608"/>
          </a:xfrm>
          <a:prstGeom prst="rect">
            <a:avLst/>
          </a:prstGeom>
          <a:noFill/>
        </p:spPr>
        <p:txBody>
          <a:bodyPr wrap="square">
            <a:spAutoFit/>
          </a:bodyPr>
          <a:lstStyle/>
          <a:p>
            <a:pPr algn="l"/>
            <a:r>
              <a:rPr sz="1000" b="1" i="0">
                <a:solidFill>
                  <a:srgbClr val="2B6C7C"/>
                </a:solidFill>
                <a:latin typeface="Calibri"/>
              </a:rPr>
              <a:t>0.038</a:t>
            </a:r>
          </a:p>
        </p:txBody>
      </p:sp>
      <p:sp>
        <p:nvSpPr>
          <p:cNvPr id="38" name="TextBox 37"/>
          <p:cNvSpPr txBox="1"/>
          <p:nvPr/>
        </p:nvSpPr>
        <p:spPr>
          <a:xfrm>
            <a:off x="640080" y="4325112"/>
            <a:ext cx="2057400" cy="292608"/>
          </a:xfrm>
          <a:prstGeom prst="rect">
            <a:avLst/>
          </a:prstGeom>
          <a:noFill/>
        </p:spPr>
        <p:txBody>
          <a:bodyPr wrap="square">
            <a:spAutoFit/>
          </a:bodyPr>
          <a:lstStyle/>
          <a:p>
            <a:pPr algn="l"/>
            <a:r>
              <a:rPr sz="1000" b="0" i="0">
                <a:solidFill>
                  <a:srgbClr val="383838"/>
                </a:solidFill>
                <a:latin typeface="Calibri"/>
              </a:rPr>
              <a:t>elixhauser_score</a:t>
            </a:r>
          </a:p>
        </p:txBody>
      </p:sp>
      <p:sp>
        <p:nvSpPr>
          <p:cNvPr id="39" name="Rectangle 38"/>
          <p:cNvSpPr/>
          <p:nvPr/>
        </p:nvSpPr>
        <p:spPr>
          <a:xfrm>
            <a:off x="2788920" y="4370831"/>
            <a:ext cx="77724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788920" y="4370831"/>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47488" y="4325112"/>
            <a:ext cx="512064" cy="292608"/>
          </a:xfrm>
          <a:prstGeom prst="rect">
            <a:avLst/>
          </a:prstGeom>
          <a:noFill/>
        </p:spPr>
        <p:txBody>
          <a:bodyPr wrap="square">
            <a:spAutoFit/>
          </a:bodyPr>
          <a:lstStyle/>
          <a:p>
            <a:pPr algn="l"/>
            <a:r>
              <a:rPr sz="1000" b="1" i="0">
                <a:solidFill>
                  <a:srgbClr val="2B6C7C"/>
                </a:solidFill>
                <a:latin typeface="Calibri"/>
              </a:rPr>
              <a:t>0.034</a:t>
            </a:r>
          </a:p>
        </p:txBody>
      </p:sp>
      <p:sp>
        <p:nvSpPr>
          <p:cNvPr id="42" name="TextBox 41"/>
          <p:cNvSpPr txBox="1"/>
          <p:nvPr/>
        </p:nvSpPr>
        <p:spPr>
          <a:xfrm>
            <a:off x="640080" y="4718304"/>
            <a:ext cx="2057400" cy="292608"/>
          </a:xfrm>
          <a:prstGeom prst="rect">
            <a:avLst/>
          </a:prstGeom>
          <a:noFill/>
        </p:spPr>
        <p:txBody>
          <a:bodyPr wrap="square">
            <a:spAutoFit/>
          </a:bodyPr>
          <a:lstStyle/>
          <a:p>
            <a:pPr algn="l"/>
            <a:r>
              <a:rPr sz="1000" b="0" i="0">
                <a:solidFill>
                  <a:srgbClr val="383838"/>
                </a:solidFill>
                <a:latin typeface="Calibri"/>
              </a:rPr>
              <a:t>labcont_MPV_min</a:t>
            </a:r>
          </a:p>
        </p:txBody>
      </p:sp>
      <p:sp>
        <p:nvSpPr>
          <p:cNvPr id="43" name="Rectangle 42"/>
          <p:cNvSpPr/>
          <p:nvPr/>
        </p:nvSpPr>
        <p:spPr>
          <a:xfrm>
            <a:off x="2788920" y="4764024"/>
            <a:ext cx="70866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788920" y="4764024"/>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047488" y="4718304"/>
            <a:ext cx="512064" cy="292608"/>
          </a:xfrm>
          <a:prstGeom prst="rect">
            <a:avLst/>
          </a:prstGeom>
          <a:noFill/>
        </p:spPr>
        <p:txBody>
          <a:bodyPr wrap="square">
            <a:spAutoFit/>
          </a:bodyPr>
          <a:lstStyle/>
          <a:p>
            <a:pPr algn="l"/>
            <a:r>
              <a:rPr sz="1000" b="1" i="0">
                <a:solidFill>
                  <a:srgbClr val="2B6C7C"/>
                </a:solidFill>
                <a:latin typeface="Calibri"/>
              </a:rPr>
              <a:t>0.031</a:t>
            </a:r>
          </a:p>
        </p:txBody>
      </p:sp>
      <p:sp>
        <p:nvSpPr>
          <p:cNvPr id="46" name="TextBox 45"/>
          <p:cNvSpPr txBox="1"/>
          <p:nvPr/>
        </p:nvSpPr>
        <p:spPr>
          <a:xfrm>
            <a:off x="640080" y="5111496"/>
            <a:ext cx="2057400" cy="292608"/>
          </a:xfrm>
          <a:prstGeom prst="rect">
            <a:avLst/>
          </a:prstGeom>
          <a:noFill/>
        </p:spPr>
        <p:txBody>
          <a:bodyPr wrap="square">
            <a:spAutoFit/>
          </a:bodyPr>
          <a:lstStyle/>
          <a:p>
            <a:pPr algn="l"/>
            <a:r>
              <a:rPr sz="1000" b="0" i="0">
                <a:solidFill>
                  <a:srgbClr val="383838"/>
                </a:solidFill>
                <a:latin typeface="Calibri"/>
              </a:rPr>
              <a:t>outptmeds_AUTONOMICDRUGS</a:t>
            </a:r>
          </a:p>
        </p:txBody>
      </p:sp>
      <p:sp>
        <p:nvSpPr>
          <p:cNvPr id="47" name="Rectangle 46"/>
          <p:cNvSpPr/>
          <p:nvPr/>
        </p:nvSpPr>
        <p:spPr>
          <a:xfrm>
            <a:off x="2788920" y="5157216"/>
            <a:ext cx="640080" cy="201168"/>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788920" y="5157216"/>
            <a:ext cx="45720" cy="201168"/>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47488" y="5111496"/>
            <a:ext cx="512064" cy="292608"/>
          </a:xfrm>
          <a:prstGeom prst="rect">
            <a:avLst/>
          </a:prstGeom>
          <a:noFill/>
        </p:spPr>
        <p:txBody>
          <a:bodyPr wrap="square">
            <a:spAutoFit/>
          </a:bodyPr>
          <a:lstStyle/>
          <a:p>
            <a:pPr algn="l"/>
            <a:r>
              <a:rPr sz="1000" b="1" i="0">
                <a:solidFill>
                  <a:srgbClr val="2B6C7C"/>
                </a:solidFill>
                <a:latin typeface="Calibri"/>
              </a:rPr>
              <a:t>0.028</a:t>
            </a:r>
          </a:p>
        </p:txBody>
      </p:sp>
      <p:sp>
        <p:nvSpPr>
          <p:cNvPr id="50" name="Rectangle 49"/>
          <p:cNvSpPr/>
          <p:nvPr/>
        </p:nvSpPr>
        <p:spPr>
          <a:xfrm>
            <a:off x="6263640" y="932688"/>
            <a:ext cx="5486400" cy="5577840"/>
          </a:xfrm>
          <a:prstGeom prst="rect">
            <a:avLst/>
          </a:prstGeom>
          <a:solidFill>
            <a:srgbClr val="FFFFFF"/>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46520" y="1005840"/>
            <a:ext cx="5212080" cy="274320"/>
          </a:xfrm>
          <a:prstGeom prst="rect">
            <a:avLst/>
          </a:prstGeom>
          <a:noFill/>
        </p:spPr>
        <p:txBody>
          <a:bodyPr wrap="square">
            <a:spAutoFit/>
          </a:bodyPr>
          <a:lstStyle/>
          <a:p>
            <a:pPr algn="l"/>
            <a:r>
              <a:rPr sz="1200" b="1" i="0">
                <a:solidFill>
                  <a:srgbClr val="1E4050"/>
                </a:solidFill>
                <a:latin typeface="Calibri"/>
              </a:rPr>
              <a:t>Threshold analysis - mirrors EDDA Table 3</a:t>
            </a:r>
            <a:r>
              <a:rPr sz="1600" b="1" i="0" baseline="30000">
                <a:solidFill>
                  <a:srgbClr val="2B6C7C"/>
                </a:solidFill>
                <a:latin typeface="Calibri"/>
              </a:rPr>
              <a:t>⁶</a:t>
            </a:r>
          </a:p>
        </p:txBody>
      </p:sp>
      <p:sp>
        <p:nvSpPr>
          <p:cNvPr id="52" name="TextBox 51"/>
          <p:cNvSpPr txBox="1"/>
          <p:nvPr/>
        </p:nvSpPr>
        <p:spPr>
          <a:xfrm>
            <a:off x="6446520" y="1298448"/>
            <a:ext cx="5212080" cy="228600"/>
          </a:xfrm>
          <a:prstGeom prst="rect">
            <a:avLst/>
          </a:prstGeom>
          <a:noFill/>
        </p:spPr>
        <p:txBody>
          <a:bodyPr wrap="square">
            <a:spAutoFit/>
          </a:bodyPr>
          <a:lstStyle/>
          <a:p>
            <a:pPr algn="l"/>
            <a:r>
              <a:rPr sz="1050" b="0" i="1">
                <a:solidFill>
                  <a:srgbClr val="727272"/>
                </a:solidFill>
                <a:latin typeface="Calibri"/>
              </a:rPr>
              <a:t>Sensitivity/specificity tradeoff across thresholds</a:t>
            </a:r>
          </a:p>
        </p:txBody>
      </p:sp>
      <p:sp>
        <p:nvSpPr>
          <p:cNvPr id="53" name="Rectangle 52"/>
          <p:cNvSpPr/>
          <p:nvPr/>
        </p:nvSpPr>
        <p:spPr>
          <a:xfrm>
            <a:off x="6446520" y="1572768"/>
            <a:ext cx="512063" cy="29260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92240" y="1591056"/>
            <a:ext cx="466344" cy="256032"/>
          </a:xfrm>
          <a:prstGeom prst="rect">
            <a:avLst/>
          </a:prstGeom>
          <a:noFill/>
        </p:spPr>
        <p:txBody>
          <a:bodyPr wrap="square">
            <a:spAutoFit/>
          </a:bodyPr>
          <a:lstStyle/>
          <a:p>
            <a:pPr algn="ctr"/>
            <a:r>
              <a:rPr sz="1000" b="1" i="0">
                <a:solidFill>
                  <a:srgbClr val="FFFFFF"/>
                </a:solidFill>
                <a:latin typeface="Calibri"/>
              </a:rPr>
              <a:t>Thr</a:t>
            </a:r>
          </a:p>
        </p:txBody>
      </p:sp>
      <p:sp>
        <p:nvSpPr>
          <p:cNvPr id="55" name="Rectangle 54"/>
          <p:cNvSpPr/>
          <p:nvPr/>
        </p:nvSpPr>
        <p:spPr>
          <a:xfrm>
            <a:off x="7059168" y="1572768"/>
            <a:ext cx="566928" cy="29260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104888" y="1591056"/>
            <a:ext cx="521208" cy="256032"/>
          </a:xfrm>
          <a:prstGeom prst="rect">
            <a:avLst/>
          </a:prstGeom>
          <a:noFill/>
        </p:spPr>
        <p:txBody>
          <a:bodyPr wrap="square">
            <a:spAutoFit/>
          </a:bodyPr>
          <a:lstStyle/>
          <a:p>
            <a:pPr algn="ctr"/>
            <a:r>
              <a:rPr sz="1000" b="1" i="0">
                <a:solidFill>
                  <a:srgbClr val="FFFFFF"/>
                </a:solidFill>
                <a:latin typeface="Calibri"/>
              </a:rPr>
              <a:t>Sens</a:t>
            </a:r>
          </a:p>
        </p:txBody>
      </p:sp>
      <p:sp>
        <p:nvSpPr>
          <p:cNvPr id="57" name="Rectangle 56"/>
          <p:cNvSpPr/>
          <p:nvPr/>
        </p:nvSpPr>
        <p:spPr>
          <a:xfrm>
            <a:off x="7726679" y="1572768"/>
            <a:ext cx="566928" cy="29260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772400" y="1591056"/>
            <a:ext cx="521208" cy="256032"/>
          </a:xfrm>
          <a:prstGeom prst="rect">
            <a:avLst/>
          </a:prstGeom>
          <a:noFill/>
        </p:spPr>
        <p:txBody>
          <a:bodyPr wrap="square">
            <a:spAutoFit/>
          </a:bodyPr>
          <a:lstStyle/>
          <a:p>
            <a:pPr algn="ctr"/>
            <a:r>
              <a:rPr sz="1000" b="1" i="0">
                <a:solidFill>
                  <a:srgbClr val="FFFFFF"/>
                </a:solidFill>
                <a:latin typeface="Calibri"/>
              </a:rPr>
              <a:t>Spec</a:t>
            </a:r>
          </a:p>
        </p:txBody>
      </p:sp>
      <p:sp>
        <p:nvSpPr>
          <p:cNvPr id="59" name="Rectangle 58"/>
          <p:cNvSpPr/>
          <p:nvPr/>
        </p:nvSpPr>
        <p:spPr>
          <a:xfrm>
            <a:off x="8394192" y="1572768"/>
            <a:ext cx="566928" cy="29260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439912" y="1591056"/>
            <a:ext cx="521208" cy="256032"/>
          </a:xfrm>
          <a:prstGeom prst="rect">
            <a:avLst/>
          </a:prstGeom>
          <a:noFill/>
        </p:spPr>
        <p:txBody>
          <a:bodyPr wrap="square">
            <a:spAutoFit/>
          </a:bodyPr>
          <a:lstStyle/>
          <a:p>
            <a:pPr algn="ctr"/>
            <a:r>
              <a:rPr sz="1000" b="1" i="0">
                <a:solidFill>
                  <a:srgbClr val="FFFFFF"/>
                </a:solidFill>
                <a:latin typeface="Calibri"/>
              </a:rPr>
              <a:t>PPV</a:t>
            </a:r>
          </a:p>
        </p:txBody>
      </p:sp>
      <p:sp>
        <p:nvSpPr>
          <p:cNvPr id="61" name="Rectangle 60"/>
          <p:cNvSpPr/>
          <p:nvPr/>
        </p:nvSpPr>
        <p:spPr>
          <a:xfrm>
            <a:off x="9061704" y="1572768"/>
            <a:ext cx="566928" cy="29260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107424" y="1591056"/>
            <a:ext cx="521208" cy="256032"/>
          </a:xfrm>
          <a:prstGeom prst="rect">
            <a:avLst/>
          </a:prstGeom>
          <a:noFill/>
        </p:spPr>
        <p:txBody>
          <a:bodyPr wrap="square">
            <a:spAutoFit/>
          </a:bodyPr>
          <a:lstStyle/>
          <a:p>
            <a:pPr algn="ctr"/>
            <a:r>
              <a:rPr sz="1000" b="1" i="0">
                <a:solidFill>
                  <a:srgbClr val="FFFFFF"/>
                </a:solidFill>
                <a:latin typeface="Calibri"/>
              </a:rPr>
              <a:t>NPV</a:t>
            </a:r>
          </a:p>
        </p:txBody>
      </p:sp>
      <p:sp>
        <p:nvSpPr>
          <p:cNvPr id="63" name="Rectangle 62"/>
          <p:cNvSpPr/>
          <p:nvPr/>
        </p:nvSpPr>
        <p:spPr>
          <a:xfrm>
            <a:off x="9729216" y="1572768"/>
            <a:ext cx="630936" cy="292608"/>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774936" y="1591056"/>
            <a:ext cx="585216" cy="256032"/>
          </a:xfrm>
          <a:prstGeom prst="rect">
            <a:avLst/>
          </a:prstGeom>
          <a:noFill/>
        </p:spPr>
        <p:txBody>
          <a:bodyPr wrap="square">
            <a:spAutoFit/>
          </a:bodyPr>
          <a:lstStyle/>
          <a:p>
            <a:pPr algn="ctr"/>
            <a:r>
              <a:rPr sz="1000" b="1" i="0">
                <a:solidFill>
                  <a:srgbClr val="FFFFFF"/>
                </a:solidFill>
                <a:latin typeface="Calibri"/>
              </a:rPr>
              <a:t>NNT</a:t>
            </a:r>
          </a:p>
        </p:txBody>
      </p:sp>
      <p:sp>
        <p:nvSpPr>
          <p:cNvPr id="65" name="Rectangle 64"/>
          <p:cNvSpPr/>
          <p:nvPr/>
        </p:nvSpPr>
        <p:spPr>
          <a:xfrm>
            <a:off x="6446520" y="1892807"/>
            <a:ext cx="512063"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92240" y="1911095"/>
            <a:ext cx="466344" cy="292608"/>
          </a:xfrm>
          <a:prstGeom prst="rect">
            <a:avLst/>
          </a:prstGeom>
          <a:noFill/>
        </p:spPr>
        <p:txBody>
          <a:bodyPr wrap="square">
            <a:spAutoFit/>
          </a:bodyPr>
          <a:lstStyle/>
          <a:p>
            <a:pPr algn="ctr"/>
            <a:r>
              <a:rPr sz="1000" b="0" i="0">
                <a:solidFill>
                  <a:srgbClr val="1E4050"/>
                </a:solidFill>
                <a:latin typeface="Calibri"/>
              </a:rPr>
              <a:t>0.1</a:t>
            </a:r>
          </a:p>
        </p:txBody>
      </p:sp>
      <p:sp>
        <p:nvSpPr>
          <p:cNvPr id="67" name="Rectangle 66"/>
          <p:cNvSpPr/>
          <p:nvPr/>
        </p:nvSpPr>
        <p:spPr>
          <a:xfrm>
            <a:off x="7059168" y="1892807"/>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104888" y="1911095"/>
            <a:ext cx="521208" cy="292608"/>
          </a:xfrm>
          <a:prstGeom prst="rect">
            <a:avLst/>
          </a:prstGeom>
          <a:noFill/>
        </p:spPr>
        <p:txBody>
          <a:bodyPr wrap="square">
            <a:spAutoFit/>
          </a:bodyPr>
          <a:lstStyle/>
          <a:p>
            <a:pPr algn="ctr"/>
            <a:r>
              <a:rPr sz="1000" b="0" i="0">
                <a:solidFill>
                  <a:srgbClr val="383838"/>
                </a:solidFill>
                <a:latin typeface="Calibri"/>
              </a:rPr>
              <a:t>1.00</a:t>
            </a:r>
          </a:p>
        </p:txBody>
      </p:sp>
      <p:sp>
        <p:nvSpPr>
          <p:cNvPr id="69" name="Rectangle 68"/>
          <p:cNvSpPr/>
          <p:nvPr/>
        </p:nvSpPr>
        <p:spPr>
          <a:xfrm>
            <a:off x="7726679" y="1892807"/>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772400" y="1911095"/>
            <a:ext cx="521208" cy="292608"/>
          </a:xfrm>
          <a:prstGeom prst="rect">
            <a:avLst/>
          </a:prstGeom>
          <a:noFill/>
        </p:spPr>
        <p:txBody>
          <a:bodyPr wrap="square">
            <a:spAutoFit/>
          </a:bodyPr>
          <a:lstStyle/>
          <a:p>
            <a:pPr algn="ctr"/>
            <a:r>
              <a:rPr sz="1000" b="0" i="0">
                <a:solidFill>
                  <a:srgbClr val="383838"/>
                </a:solidFill>
                <a:latin typeface="Calibri"/>
              </a:rPr>
              <a:t>0.00</a:t>
            </a:r>
          </a:p>
        </p:txBody>
      </p:sp>
      <p:sp>
        <p:nvSpPr>
          <p:cNvPr id="71" name="Rectangle 70"/>
          <p:cNvSpPr/>
          <p:nvPr/>
        </p:nvSpPr>
        <p:spPr>
          <a:xfrm>
            <a:off x="8394192" y="1892807"/>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439912" y="1911095"/>
            <a:ext cx="521208" cy="292608"/>
          </a:xfrm>
          <a:prstGeom prst="rect">
            <a:avLst/>
          </a:prstGeom>
          <a:noFill/>
        </p:spPr>
        <p:txBody>
          <a:bodyPr wrap="square">
            <a:spAutoFit/>
          </a:bodyPr>
          <a:lstStyle/>
          <a:p>
            <a:pPr algn="ctr"/>
            <a:r>
              <a:rPr sz="1000" b="0" i="0">
                <a:solidFill>
                  <a:srgbClr val="383838"/>
                </a:solidFill>
                <a:latin typeface="Calibri"/>
              </a:rPr>
              <a:t>0.21</a:t>
            </a:r>
          </a:p>
        </p:txBody>
      </p:sp>
      <p:sp>
        <p:nvSpPr>
          <p:cNvPr id="73" name="Rectangle 72"/>
          <p:cNvSpPr/>
          <p:nvPr/>
        </p:nvSpPr>
        <p:spPr>
          <a:xfrm>
            <a:off x="9061704" y="1892807"/>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107424" y="1911095"/>
            <a:ext cx="521208" cy="292608"/>
          </a:xfrm>
          <a:prstGeom prst="rect">
            <a:avLst/>
          </a:prstGeom>
          <a:noFill/>
        </p:spPr>
        <p:txBody>
          <a:bodyPr wrap="square">
            <a:spAutoFit/>
          </a:bodyPr>
          <a:lstStyle/>
          <a:p>
            <a:pPr algn="ctr"/>
            <a:r>
              <a:rPr sz="1000" b="0" i="0">
                <a:solidFill>
                  <a:srgbClr val="383838"/>
                </a:solidFill>
                <a:latin typeface="Calibri"/>
              </a:rPr>
              <a:t>N/A</a:t>
            </a:r>
          </a:p>
        </p:txBody>
      </p:sp>
      <p:sp>
        <p:nvSpPr>
          <p:cNvPr id="75" name="Rectangle 74"/>
          <p:cNvSpPr/>
          <p:nvPr/>
        </p:nvSpPr>
        <p:spPr>
          <a:xfrm>
            <a:off x="9729216" y="1892807"/>
            <a:ext cx="630936"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774936" y="1911095"/>
            <a:ext cx="585216" cy="292608"/>
          </a:xfrm>
          <a:prstGeom prst="rect">
            <a:avLst/>
          </a:prstGeom>
          <a:noFill/>
        </p:spPr>
        <p:txBody>
          <a:bodyPr wrap="square">
            <a:spAutoFit/>
          </a:bodyPr>
          <a:lstStyle/>
          <a:p>
            <a:pPr algn="ctr"/>
            <a:r>
              <a:rPr sz="1000" b="0" i="0">
                <a:solidFill>
                  <a:srgbClr val="383838"/>
                </a:solidFill>
                <a:latin typeface="Calibri"/>
              </a:rPr>
              <a:t>4.7</a:t>
            </a:r>
          </a:p>
        </p:txBody>
      </p:sp>
      <p:sp>
        <p:nvSpPr>
          <p:cNvPr id="77" name="Rectangle 76"/>
          <p:cNvSpPr/>
          <p:nvPr/>
        </p:nvSpPr>
        <p:spPr>
          <a:xfrm>
            <a:off x="6446520" y="2231136"/>
            <a:ext cx="512063"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492240" y="2249424"/>
            <a:ext cx="466344" cy="292608"/>
          </a:xfrm>
          <a:prstGeom prst="rect">
            <a:avLst/>
          </a:prstGeom>
          <a:noFill/>
        </p:spPr>
        <p:txBody>
          <a:bodyPr wrap="square">
            <a:spAutoFit/>
          </a:bodyPr>
          <a:lstStyle/>
          <a:p>
            <a:pPr algn="ctr"/>
            <a:r>
              <a:rPr sz="1000" b="0" i="0">
                <a:solidFill>
                  <a:srgbClr val="1E4050"/>
                </a:solidFill>
                <a:latin typeface="Calibri"/>
              </a:rPr>
              <a:t>0.2</a:t>
            </a:r>
          </a:p>
        </p:txBody>
      </p:sp>
      <p:sp>
        <p:nvSpPr>
          <p:cNvPr id="79" name="Rectangle 78"/>
          <p:cNvSpPr/>
          <p:nvPr/>
        </p:nvSpPr>
        <p:spPr>
          <a:xfrm>
            <a:off x="7059168" y="2231136"/>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104888" y="2249424"/>
            <a:ext cx="521208" cy="292608"/>
          </a:xfrm>
          <a:prstGeom prst="rect">
            <a:avLst/>
          </a:prstGeom>
          <a:noFill/>
        </p:spPr>
        <p:txBody>
          <a:bodyPr wrap="square">
            <a:spAutoFit/>
          </a:bodyPr>
          <a:lstStyle/>
          <a:p>
            <a:pPr algn="ctr"/>
            <a:r>
              <a:rPr sz="1000" b="0" i="0">
                <a:solidFill>
                  <a:srgbClr val="383838"/>
                </a:solidFill>
                <a:latin typeface="Calibri"/>
              </a:rPr>
              <a:t>0.99</a:t>
            </a:r>
          </a:p>
        </p:txBody>
      </p:sp>
      <p:sp>
        <p:nvSpPr>
          <p:cNvPr id="81" name="Rectangle 80"/>
          <p:cNvSpPr/>
          <p:nvPr/>
        </p:nvSpPr>
        <p:spPr>
          <a:xfrm>
            <a:off x="7726679" y="2231136"/>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772400" y="2249424"/>
            <a:ext cx="521208" cy="292608"/>
          </a:xfrm>
          <a:prstGeom prst="rect">
            <a:avLst/>
          </a:prstGeom>
          <a:noFill/>
        </p:spPr>
        <p:txBody>
          <a:bodyPr wrap="square">
            <a:spAutoFit/>
          </a:bodyPr>
          <a:lstStyle/>
          <a:p>
            <a:pPr algn="ctr"/>
            <a:r>
              <a:rPr sz="1000" b="0" i="0">
                <a:solidFill>
                  <a:srgbClr val="383838"/>
                </a:solidFill>
                <a:latin typeface="Calibri"/>
              </a:rPr>
              <a:t>0.03</a:t>
            </a:r>
          </a:p>
        </p:txBody>
      </p:sp>
      <p:sp>
        <p:nvSpPr>
          <p:cNvPr id="83" name="Rectangle 82"/>
          <p:cNvSpPr/>
          <p:nvPr/>
        </p:nvSpPr>
        <p:spPr>
          <a:xfrm>
            <a:off x="8394192" y="2231136"/>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439912" y="2249424"/>
            <a:ext cx="521208" cy="292608"/>
          </a:xfrm>
          <a:prstGeom prst="rect">
            <a:avLst/>
          </a:prstGeom>
          <a:noFill/>
        </p:spPr>
        <p:txBody>
          <a:bodyPr wrap="square">
            <a:spAutoFit/>
          </a:bodyPr>
          <a:lstStyle/>
          <a:p>
            <a:pPr algn="ctr"/>
            <a:r>
              <a:rPr sz="1000" b="0" i="0">
                <a:solidFill>
                  <a:srgbClr val="383838"/>
                </a:solidFill>
                <a:latin typeface="Calibri"/>
              </a:rPr>
              <a:t>0.22</a:t>
            </a:r>
          </a:p>
        </p:txBody>
      </p:sp>
      <p:sp>
        <p:nvSpPr>
          <p:cNvPr id="85" name="Rectangle 84"/>
          <p:cNvSpPr/>
          <p:nvPr/>
        </p:nvSpPr>
        <p:spPr>
          <a:xfrm>
            <a:off x="9061704" y="2231136"/>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107424" y="2249424"/>
            <a:ext cx="521208" cy="292608"/>
          </a:xfrm>
          <a:prstGeom prst="rect">
            <a:avLst/>
          </a:prstGeom>
          <a:noFill/>
        </p:spPr>
        <p:txBody>
          <a:bodyPr wrap="square">
            <a:spAutoFit/>
          </a:bodyPr>
          <a:lstStyle/>
          <a:p>
            <a:pPr algn="ctr"/>
            <a:r>
              <a:rPr sz="1000" b="0" i="0">
                <a:solidFill>
                  <a:srgbClr val="383838"/>
                </a:solidFill>
                <a:latin typeface="Calibri"/>
              </a:rPr>
              <a:t>0.95</a:t>
            </a:r>
          </a:p>
        </p:txBody>
      </p:sp>
      <p:sp>
        <p:nvSpPr>
          <p:cNvPr id="87" name="Rectangle 86"/>
          <p:cNvSpPr/>
          <p:nvPr/>
        </p:nvSpPr>
        <p:spPr>
          <a:xfrm>
            <a:off x="9729216" y="2231136"/>
            <a:ext cx="630936"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774936" y="2249424"/>
            <a:ext cx="585216" cy="292608"/>
          </a:xfrm>
          <a:prstGeom prst="rect">
            <a:avLst/>
          </a:prstGeom>
          <a:noFill/>
        </p:spPr>
        <p:txBody>
          <a:bodyPr wrap="square">
            <a:spAutoFit/>
          </a:bodyPr>
          <a:lstStyle/>
          <a:p>
            <a:pPr algn="ctr"/>
            <a:r>
              <a:rPr sz="1000" b="0" i="0">
                <a:solidFill>
                  <a:srgbClr val="383838"/>
                </a:solidFill>
                <a:latin typeface="Calibri"/>
              </a:rPr>
              <a:t>4.6</a:t>
            </a:r>
          </a:p>
        </p:txBody>
      </p:sp>
      <p:sp>
        <p:nvSpPr>
          <p:cNvPr id="89" name="Rectangle 88"/>
          <p:cNvSpPr/>
          <p:nvPr/>
        </p:nvSpPr>
        <p:spPr>
          <a:xfrm>
            <a:off x="6446520" y="2569463"/>
            <a:ext cx="512063"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492240" y="2587752"/>
            <a:ext cx="466344" cy="292608"/>
          </a:xfrm>
          <a:prstGeom prst="rect">
            <a:avLst/>
          </a:prstGeom>
          <a:noFill/>
        </p:spPr>
        <p:txBody>
          <a:bodyPr wrap="square">
            <a:spAutoFit/>
          </a:bodyPr>
          <a:lstStyle/>
          <a:p>
            <a:pPr algn="ctr"/>
            <a:r>
              <a:rPr sz="1000" b="0" i="0">
                <a:solidFill>
                  <a:srgbClr val="1E4050"/>
                </a:solidFill>
                <a:latin typeface="Calibri"/>
              </a:rPr>
              <a:t>0.3</a:t>
            </a:r>
          </a:p>
        </p:txBody>
      </p:sp>
      <p:sp>
        <p:nvSpPr>
          <p:cNvPr id="91" name="Rectangle 90"/>
          <p:cNvSpPr/>
          <p:nvPr/>
        </p:nvSpPr>
        <p:spPr>
          <a:xfrm>
            <a:off x="7059168" y="2569463"/>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104888" y="2587752"/>
            <a:ext cx="521208" cy="292608"/>
          </a:xfrm>
          <a:prstGeom prst="rect">
            <a:avLst/>
          </a:prstGeom>
          <a:noFill/>
        </p:spPr>
        <p:txBody>
          <a:bodyPr wrap="square">
            <a:spAutoFit/>
          </a:bodyPr>
          <a:lstStyle/>
          <a:p>
            <a:pPr algn="ctr"/>
            <a:r>
              <a:rPr sz="1000" b="0" i="0">
                <a:solidFill>
                  <a:srgbClr val="383838"/>
                </a:solidFill>
                <a:latin typeface="Calibri"/>
              </a:rPr>
              <a:t>0.95</a:t>
            </a:r>
          </a:p>
        </p:txBody>
      </p:sp>
      <p:sp>
        <p:nvSpPr>
          <p:cNvPr id="93" name="Rectangle 92"/>
          <p:cNvSpPr/>
          <p:nvPr/>
        </p:nvSpPr>
        <p:spPr>
          <a:xfrm>
            <a:off x="7726679" y="2569463"/>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772400" y="2587752"/>
            <a:ext cx="521208" cy="292608"/>
          </a:xfrm>
          <a:prstGeom prst="rect">
            <a:avLst/>
          </a:prstGeom>
          <a:noFill/>
        </p:spPr>
        <p:txBody>
          <a:bodyPr wrap="square">
            <a:spAutoFit/>
          </a:bodyPr>
          <a:lstStyle/>
          <a:p>
            <a:pPr algn="ctr"/>
            <a:r>
              <a:rPr sz="1000" b="0" i="0">
                <a:solidFill>
                  <a:srgbClr val="383838"/>
                </a:solidFill>
                <a:latin typeface="Calibri"/>
              </a:rPr>
              <a:t>0.10</a:t>
            </a:r>
          </a:p>
        </p:txBody>
      </p:sp>
      <p:sp>
        <p:nvSpPr>
          <p:cNvPr id="95" name="Rectangle 94"/>
          <p:cNvSpPr/>
          <p:nvPr/>
        </p:nvSpPr>
        <p:spPr>
          <a:xfrm>
            <a:off x="8394192" y="2569463"/>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8439912" y="2587752"/>
            <a:ext cx="521208" cy="292608"/>
          </a:xfrm>
          <a:prstGeom prst="rect">
            <a:avLst/>
          </a:prstGeom>
          <a:noFill/>
        </p:spPr>
        <p:txBody>
          <a:bodyPr wrap="square">
            <a:spAutoFit/>
          </a:bodyPr>
          <a:lstStyle/>
          <a:p>
            <a:pPr algn="ctr"/>
            <a:r>
              <a:rPr sz="1000" b="0" i="0">
                <a:solidFill>
                  <a:srgbClr val="383838"/>
                </a:solidFill>
                <a:latin typeface="Calibri"/>
              </a:rPr>
              <a:t>0.22</a:t>
            </a:r>
          </a:p>
        </p:txBody>
      </p:sp>
      <p:sp>
        <p:nvSpPr>
          <p:cNvPr id="97" name="Rectangle 96"/>
          <p:cNvSpPr/>
          <p:nvPr/>
        </p:nvSpPr>
        <p:spPr>
          <a:xfrm>
            <a:off x="9061704" y="2569463"/>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107424" y="2587752"/>
            <a:ext cx="521208" cy="292608"/>
          </a:xfrm>
          <a:prstGeom prst="rect">
            <a:avLst/>
          </a:prstGeom>
          <a:noFill/>
        </p:spPr>
        <p:txBody>
          <a:bodyPr wrap="square">
            <a:spAutoFit/>
          </a:bodyPr>
          <a:lstStyle/>
          <a:p>
            <a:pPr algn="ctr"/>
            <a:r>
              <a:rPr sz="1000" b="0" i="0">
                <a:solidFill>
                  <a:srgbClr val="383838"/>
                </a:solidFill>
                <a:latin typeface="Calibri"/>
              </a:rPr>
              <a:t>0.95</a:t>
            </a:r>
          </a:p>
        </p:txBody>
      </p:sp>
      <p:sp>
        <p:nvSpPr>
          <p:cNvPr id="99" name="Rectangle 98"/>
          <p:cNvSpPr/>
          <p:nvPr/>
        </p:nvSpPr>
        <p:spPr>
          <a:xfrm>
            <a:off x="9729216" y="2569463"/>
            <a:ext cx="630936"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9774936" y="2587752"/>
            <a:ext cx="585216" cy="292608"/>
          </a:xfrm>
          <a:prstGeom prst="rect">
            <a:avLst/>
          </a:prstGeom>
          <a:noFill/>
        </p:spPr>
        <p:txBody>
          <a:bodyPr wrap="square">
            <a:spAutoFit/>
          </a:bodyPr>
          <a:lstStyle/>
          <a:p>
            <a:pPr algn="ctr"/>
            <a:r>
              <a:rPr sz="1000" b="0" i="0">
                <a:solidFill>
                  <a:srgbClr val="383838"/>
                </a:solidFill>
                <a:latin typeface="Calibri"/>
              </a:rPr>
              <a:t>4.4</a:t>
            </a:r>
          </a:p>
        </p:txBody>
      </p:sp>
      <p:sp>
        <p:nvSpPr>
          <p:cNvPr id="101" name="Rectangle 100"/>
          <p:cNvSpPr/>
          <p:nvPr/>
        </p:nvSpPr>
        <p:spPr>
          <a:xfrm>
            <a:off x="6446520" y="2907791"/>
            <a:ext cx="512063"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492240" y="2926079"/>
            <a:ext cx="466344" cy="292608"/>
          </a:xfrm>
          <a:prstGeom prst="rect">
            <a:avLst/>
          </a:prstGeom>
          <a:noFill/>
        </p:spPr>
        <p:txBody>
          <a:bodyPr wrap="square">
            <a:spAutoFit/>
          </a:bodyPr>
          <a:lstStyle/>
          <a:p>
            <a:pPr algn="ctr"/>
            <a:r>
              <a:rPr sz="1000" b="0" i="0">
                <a:solidFill>
                  <a:srgbClr val="1E4050"/>
                </a:solidFill>
                <a:latin typeface="Calibri"/>
              </a:rPr>
              <a:t>0.4</a:t>
            </a:r>
          </a:p>
        </p:txBody>
      </p:sp>
      <p:sp>
        <p:nvSpPr>
          <p:cNvPr id="103" name="Rectangle 102"/>
          <p:cNvSpPr/>
          <p:nvPr/>
        </p:nvSpPr>
        <p:spPr>
          <a:xfrm>
            <a:off x="7059168" y="2907791"/>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7104888" y="2926079"/>
            <a:ext cx="521208" cy="292608"/>
          </a:xfrm>
          <a:prstGeom prst="rect">
            <a:avLst/>
          </a:prstGeom>
          <a:noFill/>
        </p:spPr>
        <p:txBody>
          <a:bodyPr wrap="square">
            <a:spAutoFit/>
          </a:bodyPr>
          <a:lstStyle/>
          <a:p>
            <a:pPr algn="ctr"/>
            <a:r>
              <a:rPr sz="1000" b="0" i="0">
                <a:solidFill>
                  <a:srgbClr val="383838"/>
                </a:solidFill>
                <a:latin typeface="Calibri"/>
              </a:rPr>
              <a:t>0.87</a:t>
            </a:r>
          </a:p>
        </p:txBody>
      </p:sp>
      <p:sp>
        <p:nvSpPr>
          <p:cNvPr id="105" name="Rectangle 104"/>
          <p:cNvSpPr/>
          <p:nvPr/>
        </p:nvSpPr>
        <p:spPr>
          <a:xfrm>
            <a:off x="7726679" y="2907791"/>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7772400" y="2926079"/>
            <a:ext cx="521208" cy="292608"/>
          </a:xfrm>
          <a:prstGeom prst="rect">
            <a:avLst/>
          </a:prstGeom>
          <a:noFill/>
        </p:spPr>
        <p:txBody>
          <a:bodyPr wrap="square">
            <a:spAutoFit/>
          </a:bodyPr>
          <a:lstStyle/>
          <a:p>
            <a:pPr algn="ctr"/>
            <a:r>
              <a:rPr sz="1000" b="0" i="0">
                <a:solidFill>
                  <a:srgbClr val="383838"/>
                </a:solidFill>
                <a:latin typeface="Calibri"/>
              </a:rPr>
              <a:t>0.24</a:t>
            </a:r>
          </a:p>
        </p:txBody>
      </p:sp>
      <p:sp>
        <p:nvSpPr>
          <p:cNvPr id="107" name="Rectangle 106"/>
          <p:cNvSpPr/>
          <p:nvPr/>
        </p:nvSpPr>
        <p:spPr>
          <a:xfrm>
            <a:off x="8394192" y="2907791"/>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439912" y="2926079"/>
            <a:ext cx="521208" cy="292608"/>
          </a:xfrm>
          <a:prstGeom prst="rect">
            <a:avLst/>
          </a:prstGeom>
          <a:noFill/>
        </p:spPr>
        <p:txBody>
          <a:bodyPr wrap="square">
            <a:spAutoFit/>
          </a:bodyPr>
          <a:lstStyle/>
          <a:p>
            <a:pPr algn="ctr"/>
            <a:r>
              <a:rPr sz="1000" b="0" i="0">
                <a:solidFill>
                  <a:srgbClr val="383838"/>
                </a:solidFill>
                <a:latin typeface="Calibri"/>
              </a:rPr>
              <a:t>0.24</a:t>
            </a:r>
          </a:p>
        </p:txBody>
      </p:sp>
      <p:sp>
        <p:nvSpPr>
          <p:cNvPr id="109" name="Rectangle 108"/>
          <p:cNvSpPr/>
          <p:nvPr/>
        </p:nvSpPr>
        <p:spPr>
          <a:xfrm>
            <a:off x="9061704" y="2907791"/>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9107424" y="2926079"/>
            <a:ext cx="521208" cy="292608"/>
          </a:xfrm>
          <a:prstGeom prst="rect">
            <a:avLst/>
          </a:prstGeom>
          <a:noFill/>
        </p:spPr>
        <p:txBody>
          <a:bodyPr wrap="square">
            <a:spAutoFit/>
          </a:bodyPr>
          <a:lstStyle/>
          <a:p>
            <a:pPr algn="ctr"/>
            <a:r>
              <a:rPr sz="1000" b="0" i="0">
                <a:solidFill>
                  <a:srgbClr val="383838"/>
                </a:solidFill>
                <a:latin typeface="Calibri"/>
              </a:rPr>
              <a:t>0.95</a:t>
            </a:r>
          </a:p>
        </p:txBody>
      </p:sp>
      <p:sp>
        <p:nvSpPr>
          <p:cNvPr id="111" name="Rectangle 110"/>
          <p:cNvSpPr/>
          <p:nvPr/>
        </p:nvSpPr>
        <p:spPr>
          <a:xfrm>
            <a:off x="9729216" y="2907791"/>
            <a:ext cx="630936"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9774936" y="2926079"/>
            <a:ext cx="585216" cy="292608"/>
          </a:xfrm>
          <a:prstGeom prst="rect">
            <a:avLst/>
          </a:prstGeom>
          <a:noFill/>
        </p:spPr>
        <p:txBody>
          <a:bodyPr wrap="square">
            <a:spAutoFit/>
          </a:bodyPr>
          <a:lstStyle/>
          <a:p>
            <a:pPr algn="ctr"/>
            <a:r>
              <a:rPr sz="1000" b="0" i="0">
                <a:solidFill>
                  <a:srgbClr val="383838"/>
                </a:solidFill>
                <a:latin typeface="Calibri"/>
              </a:rPr>
              <a:t>4.2</a:t>
            </a:r>
          </a:p>
        </p:txBody>
      </p:sp>
      <p:sp>
        <p:nvSpPr>
          <p:cNvPr id="113" name="Rectangle 112"/>
          <p:cNvSpPr/>
          <p:nvPr/>
        </p:nvSpPr>
        <p:spPr>
          <a:xfrm>
            <a:off x="6446520" y="3246120"/>
            <a:ext cx="512063" cy="329184"/>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492240" y="3264408"/>
            <a:ext cx="466344" cy="292608"/>
          </a:xfrm>
          <a:prstGeom prst="rect">
            <a:avLst/>
          </a:prstGeom>
          <a:noFill/>
        </p:spPr>
        <p:txBody>
          <a:bodyPr wrap="square">
            <a:spAutoFit/>
          </a:bodyPr>
          <a:lstStyle/>
          <a:p>
            <a:pPr algn="ctr"/>
            <a:r>
              <a:rPr sz="1000" b="1" i="0">
                <a:solidFill>
                  <a:srgbClr val="2B6C7C"/>
                </a:solidFill>
                <a:latin typeface="Calibri"/>
              </a:rPr>
              <a:t>0.5</a:t>
            </a:r>
          </a:p>
        </p:txBody>
      </p:sp>
      <p:sp>
        <p:nvSpPr>
          <p:cNvPr id="115" name="Rectangle 114"/>
          <p:cNvSpPr/>
          <p:nvPr/>
        </p:nvSpPr>
        <p:spPr>
          <a:xfrm>
            <a:off x="7059168" y="3246120"/>
            <a:ext cx="566928" cy="329184"/>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7104888" y="3264408"/>
            <a:ext cx="521208" cy="292608"/>
          </a:xfrm>
          <a:prstGeom prst="rect">
            <a:avLst/>
          </a:prstGeom>
          <a:noFill/>
        </p:spPr>
        <p:txBody>
          <a:bodyPr wrap="square">
            <a:spAutoFit/>
          </a:bodyPr>
          <a:lstStyle/>
          <a:p>
            <a:pPr algn="ctr"/>
            <a:r>
              <a:rPr sz="1000" b="1" i="0">
                <a:solidFill>
                  <a:srgbClr val="2B6C7C"/>
                </a:solidFill>
                <a:latin typeface="Calibri"/>
              </a:rPr>
              <a:t>0.62</a:t>
            </a:r>
          </a:p>
        </p:txBody>
      </p:sp>
      <p:sp>
        <p:nvSpPr>
          <p:cNvPr id="117" name="Rectangle 116"/>
          <p:cNvSpPr/>
          <p:nvPr/>
        </p:nvSpPr>
        <p:spPr>
          <a:xfrm>
            <a:off x="7726679" y="3246120"/>
            <a:ext cx="566928" cy="329184"/>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7772400" y="3264408"/>
            <a:ext cx="521208" cy="292608"/>
          </a:xfrm>
          <a:prstGeom prst="rect">
            <a:avLst/>
          </a:prstGeom>
          <a:noFill/>
        </p:spPr>
        <p:txBody>
          <a:bodyPr wrap="square">
            <a:spAutoFit/>
          </a:bodyPr>
          <a:lstStyle/>
          <a:p>
            <a:pPr algn="ctr"/>
            <a:r>
              <a:rPr sz="1000" b="1" i="0">
                <a:solidFill>
                  <a:srgbClr val="2B6C7C"/>
                </a:solidFill>
                <a:latin typeface="Calibri"/>
              </a:rPr>
              <a:t>0.66</a:t>
            </a:r>
          </a:p>
        </p:txBody>
      </p:sp>
      <p:sp>
        <p:nvSpPr>
          <p:cNvPr id="119" name="Rectangle 118"/>
          <p:cNvSpPr/>
          <p:nvPr/>
        </p:nvSpPr>
        <p:spPr>
          <a:xfrm>
            <a:off x="8394192" y="3246120"/>
            <a:ext cx="566928" cy="329184"/>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8439912" y="3264408"/>
            <a:ext cx="521208" cy="292608"/>
          </a:xfrm>
          <a:prstGeom prst="rect">
            <a:avLst/>
          </a:prstGeom>
          <a:noFill/>
        </p:spPr>
        <p:txBody>
          <a:bodyPr wrap="square">
            <a:spAutoFit/>
          </a:bodyPr>
          <a:lstStyle/>
          <a:p>
            <a:pPr algn="ctr"/>
            <a:r>
              <a:rPr sz="1000" b="1" i="0">
                <a:solidFill>
                  <a:srgbClr val="2B6C7C"/>
                </a:solidFill>
                <a:latin typeface="Calibri"/>
              </a:rPr>
              <a:t>0.34</a:t>
            </a:r>
          </a:p>
        </p:txBody>
      </p:sp>
      <p:sp>
        <p:nvSpPr>
          <p:cNvPr id="121" name="Rectangle 120"/>
          <p:cNvSpPr/>
          <p:nvPr/>
        </p:nvSpPr>
        <p:spPr>
          <a:xfrm>
            <a:off x="9061704" y="3246120"/>
            <a:ext cx="566928" cy="329184"/>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9107424" y="3264408"/>
            <a:ext cx="521208" cy="292608"/>
          </a:xfrm>
          <a:prstGeom prst="rect">
            <a:avLst/>
          </a:prstGeom>
          <a:noFill/>
        </p:spPr>
        <p:txBody>
          <a:bodyPr wrap="square">
            <a:spAutoFit/>
          </a:bodyPr>
          <a:lstStyle/>
          <a:p>
            <a:pPr algn="ctr"/>
            <a:r>
              <a:rPr sz="1000" b="1" i="0">
                <a:solidFill>
                  <a:srgbClr val="2B6C7C"/>
                </a:solidFill>
                <a:latin typeface="Calibri"/>
              </a:rPr>
              <a:t>0.90</a:t>
            </a:r>
          </a:p>
        </p:txBody>
      </p:sp>
      <p:sp>
        <p:nvSpPr>
          <p:cNvPr id="123" name="Rectangle 122"/>
          <p:cNvSpPr/>
          <p:nvPr/>
        </p:nvSpPr>
        <p:spPr>
          <a:xfrm>
            <a:off x="9729216" y="3246120"/>
            <a:ext cx="630936" cy="329184"/>
          </a:xfrm>
          <a:prstGeom prst="rect">
            <a:avLst/>
          </a:prstGeom>
          <a:solidFill>
            <a:srgbClr val="D9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774936" y="3264408"/>
            <a:ext cx="585216" cy="292608"/>
          </a:xfrm>
          <a:prstGeom prst="rect">
            <a:avLst/>
          </a:prstGeom>
          <a:noFill/>
        </p:spPr>
        <p:txBody>
          <a:bodyPr wrap="square">
            <a:spAutoFit/>
          </a:bodyPr>
          <a:lstStyle/>
          <a:p>
            <a:pPr algn="ctr"/>
            <a:r>
              <a:rPr sz="1000" b="1" i="0">
                <a:solidFill>
                  <a:srgbClr val="2B6C7C"/>
                </a:solidFill>
                <a:latin typeface="Calibri"/>
              </a:rPr>
              <a:t>2.9</a:t>
            </a:r>
          </a:p>
        </p:txBody>
      </p:sp>
      <p:sp>
        <p:nvSpPr>
          <p:cNvPr id="125" name="Rectangle 124"/>
          <p:cNvSpPr/>
          <p:nvPr/>
        </p:nvSpPr>
        <p:spPr>
          <a:xfrm>
            <a:off x="6446520" y="3584448"/>
            <a:ext cx="512063"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492240" y="3602736"/>
            <a:ext cx="466344" cy="292608"/>
          </a:xfrm>
          <a:prstGeom prst="rect">
            <a:avLst/>
          </a:prstGeom>
          <a:noFill/>
        </p:spPr>
        <p:txBody>
          <a:bodyPr wrap="square">
            <a:spAutoFit/>
          </a:bodyPr>
          <a:lstStyle/>
          <a:p>
            <a:pPr algn="ctr"/>
            <a:r>
              <a:rPr sz="1000" b="0" i="0">
                <a:solidFill>
                  <a:srgbClr val="1E4050"/>
                </a:solidFill>
                <a:latin typeface="Calibri"/>
              </a:rPr>
              <a:t>0.6</a:t>
            </a:r>
          </a:p>
        </p:txBody>
      </p:sp>
      <p:sp>
        <p:nvSpPr>
          <p:cNvPr id="127" name="Rectangle 126"/>
          <p:cNvSpPr/>
          <p:nvPr/>
        </p:nvSpPr>
        <p:spPr>
          <a:xfrm>
            <a:off x="7059168" y="3584448"/>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7104888" y="3602736"/>
            <a:ext cx="521208" cy="292608"/>
          </a:xfrm>
          <a:prstGeom prst="rect">
            <a:avLst/>
          </a:prstGeom>
          <a:noFill/>
        </p:spPr>
        <p:txBody>
          <a:bodyPr wrap="square">
            <a:spAutoFit/>
          </a:bodyPr>
          <a:lstStyle/>
          <a:p>
            <a:pPr algn="ctr"/>
            <a:r>
              <a:rPr sz="1000" b="0" i="0">
                <a:solidFill>
                  <a:srgbClr val="383838"/>
                </a:solidFill>
                <a:latin typeface="Calibri"/>
              </a:rPr>
              <a:t>0.38</a:t>
            </a:r>
          </a:p>
        </p:txBody>
      </p:sp>
      <p:sp>
        <p:nvSpPr>
          <p:cNvPr id="129" name="Rectangle 128"/>
          <p:cNvSpPr/>
          <p:nvPr/>
        </p:nvSpPr>
        <p:spPr>
          <a:xfrm>
            <a:off x="7726679" y="3584448"/>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7772400" y="3602736"/>
            <a:ext cx="521208" cy="292608"/>
          </a:xfrm>
          <a:prstGeom prst="rect">
            <a:avLst/>
          </a:prstGeom>
          <a:noFill/>
        </p:spPr>
        <p:txBody>
          <a:bodyPr wrap="square">
            <a:spAutoFit/>
          </a:bodyPr>
          <a:lstStyle/>
          <a:p>
            <a:pPr algn="ctr"/>
            <a:r>
              <a:rPr sz="1000" b="0" i="0">
                <a:solidFill>
                  <a:srgbClr val="383838"/>
                </a:solidFill>
                <a:latin typeface="Calibri"/>
              </a:rPr>
              <a:t>0.86</a:t>
            </a:r>
          </a:p>
        </p:txBody>
      </p:sp>
      <p:sp>
        <p:nvSpPr>
          <p:cNvPr id="131" name="Rectangle 130"/>
          <p:cNvSpPr/>
          <p:nvPr/>
        </p:nvSpPr>
        <p:spPr>
          <a:xfrm>
            <a:off x="8394192" y="3584448"/>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8439912" y="3602736"/>
            <a:ext cx="521208" cy="292608"/>
          </a:xfrm>
          <a:prstGeom prst="rect">
            <a:avLst/>
          </a:prstGeom>
          <a:noFill/>
        </p:spPr>
        <p:txBody>
          <a:bodyPr wrap="square">
            <a:spAutoFit/>
          </a:bodyPr>
          <a:lstStyle/>
          <a:p>
            <a:pPr algn="ctr"/>
            <a:r>
              <a:rPr sz="1000" b="0" i="0">
                <a:solidFill>
                  <a:srgbClr val="383838"/>
                </a:solidFill>
                <a:latin typeface="Calibri"/>
              </a:rPr>
              <a:t>0.40</a:t>
            </a:r>
          </a:p>
        </p:txBody>
      </p:sp>
      <p:sp>
        <p:nvSpPr>
          <p:cNvPr id="133" name="Rectangle 132"/>
          <p:cNvSpPr/>
          <p:nvPr/>
        </p:nvSpPr>
        <p:spPr>
          <a:xfrm>
            <a:off x="9061704" y="3584448"/>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9107424" y="3602736"/>
            <a:ext cx="521208" cy="292608"/>
          </a:xfrm>
          <a:prstGeom prst="rect">
            <a:avLst/>
          </a:prstGeom>
          <a:noFill/>
        </p:spPr>
        <p:txBody>
          <a:bodyPr wrap="square">
            <a:spAutoFit/>
          </a:bodyPr>
          <a:lstStyle/>
          <a:p>
            <a:pPr algn="ctr"/>
            <a:r>
              <a:rPr sz="1000" b="0" i="0">
                <a:solidFill>
                  <a:srgbClr val="383838"/>
                </a:solidFill>
                <a:latin typeface="Calibri"/>
              </a:rPr>
              <a:t>0.86</a:t>
            </a:r>
          </a:p>
        </p:txBody>
      </p:sp>
      <p:sp>
        <p:nvSpPr>
          <p:cNvPr id="135" name="Rectangle 134"/>
          <p:cNvSpPr/>
          <p:nvPr/>
        </p:nvSpPr>
        <p:spPr>
          <a:xfrm>
            <a:off x="9729216" y="3584448"/>
            <a:ext cx="630936"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9774936" y="3602736"/>
            <a:ext cx="585216" cy="292608"/>
          </a:xfrm>
          <a:prstGeom prst="rect">
            <a:avLst/>
          </a:prstGeom>
          <a:noFill/>
        </p:spPr>
        <p:txBody>
          <a:bodyPr wrap="square">
            <a:spAutoFit/>
          </a:bodyPr>
          <a:lstStyle/>
          <a:p>
            <a:pPr algn="ctr"/>
            <a:r>
              <a:rPr sz="1000" b="0" i="0">
                <a:solidFill>
                  <a:srgbClr val="383838"/>
                </a:solidFill>
                <a:latin typeface="Calibri"/>
              </a:rPr>
              <a:t>2.5</a:t>
            </a:r>
          </a:p>
        </p:txBody>
      </p:sp>
      <p:sp>
        <p:nvSpPr>
          <p:cNvPr id="137" name="Rectangle 136"/>
          <p:cNvSpPr/>
          <p:nvPr/>
        </p:nvSpPr>
        <p:spPr>
          <a:xfrm>
            <a:off x="6446520" y="3922775"/>
            <a:ext cx="512063"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6492240" y="3941063"/>
            <a:ext cx="466344" cy="292608"/>
          </a:xfrm>
          <a:prstGeom prst="rect">
            <a:avLst/>
          </a:prstGeom>
          <a:noFill/>
        </p:spPr>
        <p:txBody>
          <a:bodyPr wrap="square">
            <a:spAutoFit/>
          </a:bodyPr>
          <a:lstStyle/>
          <a:p>
            <a:pPr algn="ctr"/>
            <a:r>
              <a:rPr sz="1000" b="0" i="0">
                <a:solidFill>
                  <a:srgbClr val="1E4050"/>
                </a:solidFill>
                <a:latin typeface="Calibri"/>
              </a:rPr>
              <a:t>0.7</a:t>
            </a:r>
          </a:p>
        </p:txBody>
      </p:sp>
      <p:sp>
        <p:nvSpPr>
          <p:cNvPr id="139" name="Rectangle 138"/>
          <p:cNvSpPr/>
          <p:nvPr/>
        </p:nvSpPr>
        <p:spPr>
          <a:xfrm>
            <a:off x="7059168" y="3922775"/>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7104888" y="3941063"/>
            <a:ext cx="521208" cy="292608"/>
          </a:xfrm>
          <a:prstGeom prst="rect">
            <a:avLst/>
          </a:prstGeom>
          <a:noFill/>
        </p:spPr>
        <p:txBody>
          <a:bodyPr wrap="square">
            <a:spAutoFit/>
          </a:bodyPr>
          <a:lstStyle/>
          <a:p>
            <a:pPr algn="ctr"/>
            <a:r>
              <a:rPr sz="1000" b="0" i="0">
                <a:solidFill>
                  <a:srgbClr val="383838"/>
                </a:solidFill>
                <a:latin typeface="Calibri"/>
              </a:rPr>
              <a:t>0.20</a:t>
            </a:r>
          </a:p>
        </p:txBody>
      </p:sp>
      <p:sp>
        <p:nvSpPr>
          <p:cNvPr id="141" name="Rectangle 140"/>
          <p:cNvSpPr/>
          <p:nvPr/>
        </p:nvSpPr>
        <p:spPr>
          <a:xfrm>
            <a:off x="7726679" y="3922775"/>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7772400" y="3941063"/>
            <a:ext cx="521208" cy="292608"/>
          </a:xfrm>
          <a:prstGeom prst="rect">
            <a:avLst/>
          </a:prstGeom>
          <a:noFill/>
        </p:spPr>
        <p:txBody>
          <a:bodyPr wrap="square">
            <a:spAutoFit/>
          </a:bodyPr>
          <a:lstStyle/>
          <a:p>
            <a:pPr algn="ctr"/>
            <a:r>
              <a:rPr sz="1000" b="0" i="0">
                <a:solidFill>
                  <a:srgbClr val="383838"/>
                </a:solidFill>
                <a:latin typeface="Calibri"/>
              </a:rPr>
              <a:t>0.95</a:t>
            </a:r>
          </a:p>
        </p:txBody>
      </p:sp>
      <p:sp>
        <p:nvSpPr>
          <p:cNvPr id="143" name="Rectangle 142"/>
          <p:cNvSpPr/>
          <p:nvPr/>
        </p:nvSpPr>
        <p:spPr>
          <a:xfrm>
            <a:off x="8394192" y="3922775"/>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8439912" y="3941063"/>
            <a:ext cx="521208" cy="292608"/>
          </a:xfrm>
          <a:prstGeom prst="rect">
            <a:avLst/>
          </a:prstGeom>
          <a:noFill/>
        </p:spPr>
        <p:txBody>
          <a:bodyPr wrap="square">
            <a:spAutoFit/>
          </a:bodyPr>
          <a:lstStyle/>
          <a:p>
            <a:pPr algn="ctr"/>
            <a:r>
              <a:rPr sz="1000" b="0" i="0">
                <a:solidFill>
                  <a:srgbClr val="383838"/>
                </a:solidFill>
                <a:latin typeface="Calibri"/>
              </a:rPr>
              <a:t>0.45</a:t>
            </a:r>
          </a:p>
        </p:txBody>
      </p:sp>
      <p:sp>
        <p:nvSpPr>
          <p:cNvPr id="145" name="Rectangle 144"/>
          <p:cNvSpPr/>
          <p:nvPr/>
        </p:nvSpPr>
        <p:spPr>
          <a:xfrm>
            <a:off x="9061704" y="3922775"/>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9107424" y="3941063"/>
            <a:ext cx="521208" cy="292608"/>
          </a:xfrm>
          <a:prstGeom prst="rect">
            <a:avLst/>
          </a:prstGeom>
          <a:noFill/>
        </p:spPr>
        <p:txBody>
          <a:bodyPr wrap="square">
            <a:spAutoFit/>
          </a:bodyPr>
          <a:lstStyle/>
          <a:p>
            <a:pPr algn="ctr"/>
            <a:r>
              <a:rPr sz="1000" b="0" i="0">
                <a:solidFill>
                  <a:srgbClr val="383838"/>
                </a:solidFill>
                <a:latin typeface="Calibri"/>
              </a:rPr>
              <a:t>0.83</a:t>
            </a:r>
          </a:p>
        </p:txBody>
      </p:sp>
      <p:sp>
        <p:nvSpPr>
          <p:cNvPr id="147" name="Rectangle 146"/>
          <p:cNvSpPr/>
          <p:nvPr/>
        </p:nvSpPr>
        <p:spPr>
          <a:xfrm>
            <a:off x="9729216" y="3922775"/>
            <a:ext cx="630936"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9774936" y="3941063"/>
            <a:ext cx="585216" cy="292608"/>
          </a:xfrm>
          <a:prstGeom prst="rect">
            <a:avLst/>
          </a:prstGeom>
          <a:noFill/>
        </p:spPr>
        <p:txBody>
          <a:bodyPr wrap="square">
            <a:spAutoFit/>
          </a:bodyPr>
          <a:lstStyle/>
          <a:p>
            <a:pPr algn="ctr"/>
            <a:r>
              <a:rPr sz="1000" b="0" i="0">
                <a:solidFill>
                  <a:srgbClr val="383838"/>
                </a:solidFill>
                <a:latin typeface="Calibri"/>
              </a:rPr>
              <a:t>2.2</a:t>
            </a:r>
          </a:p>
        </p:txBody>
      </p:sp>
      <p:sp>
        <p:nvSpPr>
          <p:cNvPr id="149" name="Rectangle 148"/>
          <p:cNvSpPr/>
          <p:nvPr/>
        </p:nvSpPr>
        <p:spPr>
          <a:xfrm>
            <a:off x="6446520" y="4261104"/>
            <a:ext cx="512063"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6492240" y="4279392"/>
            <a:ext cx="466344" cy="292608"/>
          </a:xfrm>
          <a:prstGeom prst="rect">
            <a:avLst/>
          </a:prstGeom>
          <a:noFill/>
        </p:spPr>
        <p:txBody>
          <a:bodyPr wrap="square">
            <a:spAutoFit/>
          </a:bodyPr>
          <a:lstStyle/>
          <a:p>
            <a:pPr algn="ctr"/>
            <a:r>
              <a:rPr sz="1000" b="0" i="0">
                <a:solidFill>
                  <a:srgbClr val="1E4050"/>
                </a:solidFill>
                <a:latin typeface="Calibri"/>
              </a:rPr>
              <a:t>0.8</a:t>
            </a:r>
          </a:p>
        </p:txBody>
      </p:sp>
      <p:sp>
        <p:nvSpPr>
          <p:cNvPr id="151" name="Rectangle 150"/>
          <p:cNvSpPr/>
          <p:nvPr/>
        </p:nvSpPr>
        <p:spPr>
          <a:xfrm>
            <a:off x="7059168" y="4261104"/>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7104888" y="4279392"/>
            <a:ext cx="521208" cy="292608"/>
          </a:xfrm>
          <a:prstGeom prst="rect">
            <a:avLst/>
          </a:prstGeom>
          <a:noFill/>
        </p:spPr>
        <p:txBody>
          <a:bodyPr wrap="square">
            <a:spAutoFit/>
          </a:bodyPr>
          <a:lstStyle/>
          <a:p>
            <a:pPr algn="ctr"/>
            <a:r>
              <a:rPr sz="1000" b="0" i="0">
                <a:solidFill>
                  <a:srgbClr val="383838"/>
                </a:solidFill>
                <a:latin typeface="Calibri"/>
              </a:rPr>
              <a:t>0.08</a:t>
            </a:r>
          </a:p>
        </p:txBody>
      </p:sp>
      <p:sp>
        <p:nvSpPr>
          <p:cNvPr id="153" name="Rectangle 152"/>
          <p:cNvSpPr/>
          <p:nvPr/>
        </p:nvSpPr>
        <p:spPr>
          <a:xfrm>
            <a:off x="7726679" y="4261104"/>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7772400" y="4279392"/>
            <a:ext cx="521208" cy="292608"/>
          </a:xfrm>
          <a:prstGeom prst="rect">
            <a:avLst/>
          </a:prstGeom>
          <a:noFill/>
        </p:spPr>
        <p:txBody>
          <a:bodyPr wrap="square">
            <a:spAutoFit/>
          </a:bodyPr>
          <a:lstStyle/>
          <a:p>
            <a:pPr algn="ctr"/>
            <a:r>
              <a:rPr sz="1000" b="0" i="0">
                <a:solidFill>
                  <a:srgbClr val="383838"/>
                </a:solidFill>
                <a:latin typeface="Calibri"/>
              </a:rPr>
              <a:t>0.99</a:t>
            </a:r>
          </a:p>
        </p:txBody>
      </p:sp>
      <p:sp>
        <p:nvSpPr>
          <p:cNvPr id="155" name="Rectangle 154"/>
          <p:cNvSpPr/>
          <p:nvPr/>
        </p:nvSpPr>
        <p:spPr>
          <a:xfrm>
            <a:off x="8394192" y="4261104"/>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8439912" y="4279392"/>
            <a:ext cx="521208" cy="292608"/>
          </a:xfrm>
          <a:prstGeom prst="rect">
            <a:avLst/>
          </a:prstGeom>
          <a:noFill/>
        </p:spPr>
        <p:txBody>
          <a:bodyPr wrap="square">
            <a:spAutoFit/>
          </a:bodyPr>
          <a:lstStyle/>
          <a:p>
            <a:pPr algn="ctr"/>
            <a:r>
              <a:rPr sz="1000" b="0" i="0">
                <a:solidFill>
                  <a:srgbClr val="383838"/>
                </a:solidFill>
                <a:latin typeface="Calibri"/>
              </a:rPr>
              <a:t>0.58</a:t>
            </a:r>
          </a:p>
        </p:txBody>
      </p:sp>
      <p:sp>
        <p:nvSpPr>
          <p:cNvPr id="157" name="Rectangle 156"/>
          <p:cNvSpPr/>
          <p:nvPr/>
        </p:nvSpPr>
        <p:spPr>
          <a:xfrm>
            <a:off x="9061704" y="4261104"/>
            <a:ext cx="566928"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9107424" y="4279392"/>
            <a:ext cx="521208" cy="292608"/>
          </a:xfrm>
          <a:prstGeom prst="rect">
            <a:avLst/>
          </a:prstGeom>
          <a:noFill/>
        </p:spPr>
        <p:txBody>
          <a:bodyPr wrap="square">
            <a:spAutoFit/>
          </a:bodyPr>
          <a:lstStyle/>
          <a:p>
            <a:pPr algn="ctr"/>
            <a:r>
              <a:rPr sz="1000" b="0" i="0">
                <a:solidFill>
                  <a:srgbClr val="383838"/>
                </a:solidFill>
                <a:latin typeface="Calibri"/>
              </a:rPr>
              <a:t>0.80</a:t>
            </a:r>
          </a:p>
        </p:txBody>
      </p:sp>
      <p:sp>
        <p:nvSpPr>
          <p:cNvPr id="159" name="Rectangle 158"/>
          <p:cNvSpPr/>
          <p:nvPr/>
        </p:nvSpPr>
        <p:spPr>
          <a:xfrm>
            <a:off x="9729216" y="4261104"/>
            <a:ext cx="630936"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9774936" y="4279392"/>
            <a:ext cx="585216" cy="292608"/>
          </a:xfrm>
          <a:prstGeom prst="rect">
            <a:avLst/>
          </a:prstGeom>
          <a:noFill/>
        </p:spPr>
        <p:txBody>
          <a:bodyPr wrap="square">
            <a:spAutoFit/>
          </a:bodyPr>
          <a:lstStyle/>
          <a:p>
            <a:pPr algn="ctr"/>
            <a:r>
              <a:rPr sz="1000" b="0" i="0">
                <a:solidFill>
                  <a:srgbClr val="383838"/>
                </a:solidFill>
                <a:latin typeface="Calibri"/>
              </a:rPr>
              <a:t>1.7</a:t>
            </a:r>
          </a:p>
        </p:txBody>
      </p:sp>
      <p:sp>
        <p:nvSpPr>
          <p:cNvPr id="161" name="Rectangle 160"/>
          <p:cNvSpPr/>
          <p:nvPr/>
        </p:nvSpPr>
        <p:spPr>
          <a:xfrm>
            <a:off x="6446520" y="4599431"/>
            <a:ext cx="512063"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6492240" y="4617720"/>
            <a:ext cx="466344" cy="292608"/>
          </a:xfrm>
          <a:prstGeom prst="rect">
            <a:avLst/>
          </a:prstGeom>
          <a:noFill/>
        </p:spPr>
        <p:txBody>
          <a:bodyPr wrap="square">
            <a:spAutoFit/>
          </a:bodyPr>
          <a:lstStyle/>
          <a:p>
            <a:pPr algn="ctr"/>
            <a:r>
              <a:rPr sz="1000" b="0" i="0">
                <a:solidFill>
                  <a:srgbClr val="1E4050"/>
                </a:solidFill>
                <a:latin typeface="Calibri"/>
              </a:rPr>
              <a:t>0.9</a:t>
            </a:r>
          </a:p>
        </p:txBody>
      </p:sp>
      <p:sp>
        <p:nvSpPr>
          <p:cNvPr id="163" name="Rectangle 162"/>
          <p:cNvSpPr/>
          <p:nvPr/>
        </p:nvSpPr>
        <p:spPr>
          <a:xfrm>
            <a:off x="7059168" y="4599431"/>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7104888" y="4617720"/>
            <a:ext cx="521208" cy="292608"/>
          </a:xfrm>
          <a:prstGeom prst="rect">
            <a:avLst/>
          </a:prstGeom>
          <a:noFill/>
        </p:spPr>
        <p:txBody>
          <a:bodyPr wrap="square">
            <a:spAutoFit/>
          </a:bodyPr>
          <a:lstStyle/>
          <a:p>
            <a:pPr algn="ctr"/>
            <a:r>
              <a:rPr sz="1000" b="0" i="0">
                <a:solidFill>
                  <a:srgbClr val="383838"/>
                </a:solidFill>
                <a:latin typeface="Calibri"/>
              </a:rPr>
              <a:t>0.02</a:t>
            </a:r>
          </a:p>
        </p:txBody>
      </p:sp>
      <p:sp>
        <p:nvSpPr>
          <p:cNvPr id="165" name="Rectangle 164"/>
          <p:cNvSpPr/>
          <p:nvPr/>
        </p:nvSpPr>
        <p:spPr>
          <a:xfrm>
            <a:off x="7726679" y="4599431"/>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7772400" y="4617720"/>
            <a:ext cx="521208" cy="292608"/>
          </a:xfrm>
          <a:prstGeom prst="rect">
            <a:avLst/>
          </a:prstGeom>
          <a:noFill/>
        </p:spPr>
        <p:txBody>
          <a:bodyPr wrap="square">
            <a:spAutoFit/>
          </a:bodyPr>
          <a:lstStyle/>
          <a:p>
            <a:pPr algn="ctr"/>
            <a:r>
              <a:rPr sz="1000" b="0" i="0">
                <a:solidFill>
                  <a:srgbClr val="383838"/>
                </a:solidFill>
                <a:latin typeface="Calibri"/>
              </a:rPr>
              <a:t>1.00</a:t>
            </a:r>
          </a:p>
        </p:txBody>
      </p:sp>
      <p:sp>
        <p:nvSpPr>
          <p:cNvPr id="167" name="Rectangle 166"/>
          <p:cNvSpPr/>
          <p:nvPr/>
        </p:nvSpPr>
        <p:spPr>
          <a:xfrm>
            <a:off x="8394192" y="4599431"/>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8439912" y="4617720"/>
            <a:ext cx="521208" cy="292608"/>
          </a:xfrm>
          <a:prstGeom prst="rect">
            <a:avLst/>
          </a:prstGeom>
          <a:noFill/>
        </p:spPr>
        <p:txBody>
          <a:bodyPr wrap="square">
            <a:spAutoFit/>
          </a:bodyPr>
          <a:lstStyle/>
          <a:p>
            <a:pPr algn="ctr"/>
            <a:r>
              <a:rPr sz="1000" b="0" i="0">
                <a:solidFill>
                  <a:srgbClr val="383838"/>
                </a:solidFill>
                <a:latin typeface="Calibri"/>
              </a:rPr>
              <a:t>0.67</a:t>
            </a:r>
          </a:p>
        </p:txBody>
      </p:sp>
      <p:sp>
        <p:nvSpPr>
          <p:cNvPr id="169" name="Rectangle 168"/>
          <p:cNvSpPr/>
          <p:nvPr/>
        </p:nvSpPr>
        <p:spPr>
          <a:xfrm>
            <a:off x="9061704" y="4599431"/>
            <a:ext cx="566928"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9107424" y="4617720"/>
            <a:ext cx="521208" cy="292608"/>
          </a:xfrm>
          <a:prstGeom prst="rect">
            <a:avLst/>
          </a:prstGeom>
          <a:noFill/>
        </p:spPr>
        <p:txBody>
          <a:bodyPr wrap="square">
            <a:spAutoFit/>
          </a:bodyPr>
          <a:lstStyle/>
          <a:p>
            <a:pPr algn="ctr"/>
            <a:r>
              <a:rPr sz="1000" b="0" i="0">
                <a:solidFill>
                  <a:srgbClr val="383838"/>
                </a:solidFill>
                <a:latin typeface="Calibri"/>
              </a:rPr>
              <a:t>0.79</a:t>
            </a:r>
          </a:p>
        </p:txBody>
      </p:sp>
      <p:sp>
        <p:nvSpPr>
          <p:cNvPr id="171" name="Rectangle 170"/>
          <p:cNvSpPr/>
          <p:nvPr/>
        </p:nvSpPr>
        <p:spPr>
          <a:xfrm>
            <a:off x="9729216" y="4599431"/>
            <a:ext cx="630936" cy="329184"/>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9774936" y="4617720"/>
            <a:ext cx="585216" cy="292608"/>
          </a:xfrm>
          <a:prstGeom prst="rect">
            <a:avLst/>
          </a:prstGeom>
          <a:noFill/>
        </p:spPr>
        <p:txBody>
          <a:bodyPr wrap="square">
            <a:spAutoFit/>
          </a:bodyPr>
          <a:lstStyle/>
          <a:p>
            <a:pPr algn="ctr"/>
            <a:r>
              <a:rPr sz="1000" b="0" i="0">
                <a:solidFill>
                  <a:srgbClr val="383838"/>
                </a:solidFill>
                <a:latin typeface="Calibri"/>
              </a:rPr>
              <a:t>1.5</a:t>
            </a:r>
          </a:p>
        </p:txBody>
      </p:sp>
      <p:sp>
        <p:nvSpPr>
          <p:cNvPr id="173" name="TextBox 172"/>
          <p:cNvSpPr txBox="1"/>
          <p:nvPr/>
        </p:nvSpPr>
        <p:spPr>
          <a:xfrm>
            <a:off x="6446520" y="5138928"/>
            <a:ext cx="5212080" cy="274320"/>
          </a:xfrm>
          <a:prstGeom prst="rect">
            <a:avLst/>
          </a:prstGeom>
          <a:noFill/>
        </p:spPr>
        <p:txBody>
          <a:bodyPr wrap="square">
            <a:spAutoFit/>
          </a:bodyPr>
          <a:lstStyle/>
          <a:p>
            <a:pPr algn="l"/>
            <a:r>
              <a:rPr sz="950" b="0" i="1">
                <a:solidFill>
                  <a:srgbClr val="727272"/>
                </a:solidFill>
                <a:latin typeface="Calibri"/>
              </a:rPr>
              <a:t>Highlighted: optimal ML threshold (0.5). For screening, lower threshold preferred.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97112" y="155448"/>
            <a:ext cx="3108960" cy="274320"/>
          </a:xfrm>
          <a:prstGeom prst="rect">
            <a:avLst/>
          </a:prstGeom>
          <a:noFill/>
        </p:spPr>
        <p:txBody>
          <a:bodyPr wrap="square">
            <a:spAutoFit/>
          </a:bodyPr>
          <a:lstStyle/>
          <a:p>
            <a:pPr algn="r"/>
            <a:r>
              <a:rPr sz="1000" b="1" i="0">
                <a:solidFill>
                  <a:srgbClr val="2B6C7C"/>
                </a:solidFill>
                <a:latin typeface="Calibri"/>
              </a:rPr>
              <a:t>Q2 / Evaluation</a:t>
            </a:r>
          </a:p>
        </p:txBody>
      </p:sp>
      <p:sp>
        <p:nvSpPr>
          <p:cNvPr id="5" name="TextBox 4"/>
          <p:cNvSpPr txBox="1"/>
          <p:nvPr/>
        </p:nvSpPr>
        <p:spPr>
          <a:xfrm>
            <a:off x="457200" y="164592"/>
            <a:ext cx="10789920" cy="621792"/>
          </a:xfrm>
          <a:prstGeom prst="rect">
            <a:avLst/>
          </a:prstGeom>
          <a:noFill/>
        </p:spPr>
        <p:txBody>
          <a:bodyPr wrap="square">
            <a:spAutoFit/>
          </a:bodyPr>
          <a:lstStyle/>
          <a:p>
            <a:pPr algn="l"/>
            <a:r>
              <a:rPr sz="3000" b="1" i="0">
                <a:solidFill>
                  <a:srgbClr val="1E4050"/>
                </a:solidFill>
                <a:latin typeface="Calibri"/>
              </a:rPr>
              <a:t>Additional Evaluation - Calibration, SHAP &amp; Subgroups</a:t>
            </a:r>
          </a:p>
        </p:txBody>
      </p:sp>
      <p:sp>
        <p:nvSpPr>
          <p:cNvPr id="6" name="Rectangle 5"/>
          <p:cNvSpPr/>
          <p:nvPr/>
        </p:nvSpPr>
        <p:spPr>
          <a:xfrm>
            <a:off x="457200" y="841248"/>
            <a:ext cx="11274552" cy="27432"/>
          </a:xfrm>
          <a:prstGeom prst="rect">
            <a:avLst/>
          </a:prstGeom>
          <a:solidFill>
            <a:srgbClr val="F3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932688"/>
            <a:ext cx="3739896" cy="4892040"/>
          </a:xfrm>
          <a:prstGeom prst="rect">
            <a:avLst/>
          </a:prstGeom>
          <a:solidFill>
            <a:srgbClr val="D9EEEE"/>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932688"/>
            <a:ext cx="3739896" cy="420624"/>
          </a:xfrm>
          <a:prstGeom prst="rect">
            <a:avLst/>
          </a:prstGeom>
          <a:solidFill>
            <a:srgbClr val="1E4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216" y="960120"/>
            <a:ext cx="3538727" cy="365760"/>
          </a:xfrm>
          <a:prstGeom prst="rect">
            <a:avLst/>
          </a:prstGeom>
          <a:noFill/>
        </p:spPr>
        <p:txBody>
          <a:bodyPr wrap="square">
            <a:spAutoFit/>
          </a:bodyPr>
          <a:lstStyle/>
          <a:p>
            <a:pPr algn="l"/>
            <a:r>
              <a:rPr sz="1200" b="1" i="0">
                <a:solidFill>
                  <a:srgbClr val="FFFFFF"/>
                </a:solidFill>
                <a:latin typeface="Calibri"/>
              </a:rPr>
              <a:t>Calibration
(Brier Score: 0.218)</a:t>
            </a:r>
          </a:p>
        </p:txBody>
      </p:sp>
      <p:sp>
        <p:nvSpPr>
          <p:cNvPr id="10" name="TextBox 9"/>
          <p:cNvSpPr txBox="1"/>
          <p:nvPr/>
        </p:nvSpPr>
        <p:spPr>
          <a:xfrm>
            <a:off x="585216" y="1444752"/>
            <a:ext cx="3538727" cy="640080"/>
          </a:xfrm>
          <a:prstGeom prst="rect">
            <a:avLst/>
          </a:prstGeom>
          <a:noFill/>
        </p:spPr>
        <p:txBody>
          <a:bodyPr wrap="square">
            <a:spAutoFit/>
          </a:bodyPr>
          <a:lstStyle/>
          <a:p>
            <a:pPr algn="l"/>
            <a:r>
              <a:rPr sz="1150" b="0" i="0">
                <a:solidFill>
                  <a:srgbClr val="383838"/>
                </a:solidFill>
                <a:latin typeface="Calibri"/>
              </a:rPr>
              <a:t>- Measures if predicted probabilities are trustworthy</a:t>
            </a:r>
          </a:p>
        </p:txBody>
      </p:sp>
      <p:sp>
        <p:nvSpPr>
          <p:cNvPr id="11" name="TextBox 10"/>
          <p:cNvSpPr txBox="1"/>
          <p:nvPr/>
        </p:nvSpPr>
        <p:spPr>
          <a:xfrm>
            <a:off x="585216" y="2139696"/>
            <a:ext cx="3538727" cy="640080"/>
          </a:xfrm>
          <a:prstGeom prst="rect">
            <a:avLst/>
          </a:prstGeom>
          <a:noFill/>
        </p:spPr>
        <p:txBody>
          <a:bodyPr wrap="square">
            <a:spAutoFit/>
          </a:bodyPr>
          <a:lstStyle/>
          <a:p>
            <a:pPr algn="l"/>
            <a:r>
              <a:rPr sz="1150" b="0" i="0">
                <a:solidFill>
                  <a:srgbClr val="383838"/>
                </a:solidFill>
                <a:latin typeface="Calibri"/>
              </a:rPr>
              <a:t>- 0.218: model slightly overconfident</a:t>
            </a:r>
          </a:p>
        </p:txBody>
      </p:sp>
      <p:sp>
        <p:nvSpPr>
          <p:cNvPr id="12" name="TextBox 11"/>
          <p:cNvSpPr txBox="1"/>
          <p:nvPr/>
        </p:nvSpPr>
        <p:spPr>
          <a:xfrm>
            <a:off x="585216" y="2834640"/>
            <a:ext cx="3538727" cy="640080"/>
          </a:xfrm>
          <a:prstGeom prst="rect">
            <a:avLst/>
          </a:prstGeom>
          <a:noFill/>
        </p:spPr>
        <p:txBody>
          <a:bodyPr wrap="square">
            <a:spAutoFit/>
          </a:bodyPr>
          <a:lstStyle/>
          <a:p>
            <a:pPr algn="l"/>
            <a:r>
              <a:rPr sz="1150" b="0" i="0">
                <a:solidFill>
                  <a:srgbClr val="383838"/>
                </a:solidFill>
                <a:latin typeface="Calibri"/>
              </a:rPr>
              <a:t>- Naive baseline (predicting 21.6% always) = ~0.170</a:t>
            </a:r>
          </a:p>
        </p:txBody>
      </p:sp>
      <p:sp>
        <p:nvSpPr>
          <p:cNvPr id="13" name="TextBox 12"/>
          <p:cNvSpPr txBox="1"/>
          <p:nvPr/>
        </p:nvSpPr>
        <p:spPr>
          <a:xfrm>
            <a:off x="585216" y="3529584"/>
            <a:ext cx="3538727" cy="640080"/>
          </a:xfrm>
          <a:prstGeom prst="rect">
            <a:avLst/>
          </a:prstGeom>
          <a:noFill/>
        </p:spPr>
        <p:txBody>
          <a:bodyPr wrap="square">
            <a:spAutoFit/>
          </a:bodyPr>
          <a:lstStyle/>
          <a:p>
            <a:pPr algn="l"/>
            <a:r>
              <a:rPr sz="1150" b="0" i="0">
                <a:solidFill>
                  <a:srgbClr val="383838"/>
                </a:solidFill>
                <a:latin typeface="Calibri"/>
              </a:rPr>
              <a:t>- Our 0.218 vs 0.170 - room for post-hoc calibration</a:t>
            </a:r>
          </a:p>
        </p:txBody>
      </p:sp>
      <p:sp>
        <p:nvSpPr>
          <p:cNvPr id="14" name="TextBox 13"/>
          <p:cNvSpPr txBox="1"/>
          <p:nvPr/>
        </p:nvSpPr>
        <p:spPr>
          <a:xfrm>
            <a:off x="585216" y="4224528"/>
            <a:ext cx="3538727" cy="640080"/>
          </a:xfrm>
          <a:prstGeom prst="rect">
            <a:avLst/>
          </a:prstGeom>
          <a:noFill/>
        </p:spPr>
        <p:txBody>
          <a:bodyPr wrap="square">
            <a:spAutoFit/>
          </a:bodyPr>
          <a:lstStyle/>
          <a:p>
            <a:pPr algn="l"/>
            <a:r>
              <a:rPr sz="1150" b="0" i="0">
                <a:solidFill>
                  <a:srgbClr val="383838"/>
                </a:solidFill>
                <a:latin typeface="Calibri"/>
              </a:rPr>
              <a:t>- CalibrationDisplay: overestimation at high probabilities</a:t>
            </a:r>
          </a:p>
        </p:txBody>
      </p:sp>
      <p:sp>
        <p:nvSpPr>
          <p:cNvPr id="15" name="Rectangle 14"/>
          <p:cNvSpPr/>
          <p:nvPr/>
        </p:nvSpPr>
        <p:spPr>
          <a:xfrm>
            <a:off x="4265676" y="932688"/>
            <a:ext cx="3739896" cy="4892040"/>
          </a:xfrm>
          <a:prstGeom prst="rect">
            <a:avLst/>
          </a:prstGeom>
          <a:solidFill>
            <a:srgbClr val="E8F2F8"/>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65676" y="932688"/>
            <a:ext cx="3739896" cy="420624"/>
          </a:xfrm>
          <a:prstGeom prst="rect">
            <a:avLst/>
          </a:prstGeom>
          <a:solidFill>
            <a:srgbClr val="2B6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93692" y="960120"/>
            <a:ext cx="3538727" cy="365760"/>
          </a:xfrm>
          <a:prstGeom prst="rect">
            <a:avLst/>
          </a:prstGeom>
          <a:noFill/>
        </p:spPr>
        <p:txBody>
          <a:bodyPr wrap="square">
            <a:spAutoFit/>
          </a:bodyPr>
          <a:lstStyle/>
          <a:p>
            <a:pPr algn="l"/>
            <a:r>
              <a:rPr sz="1200" b="1" i="0">
                <a:solidFill>
                  <a:srgbClr val="FFFFFF"/>
                </a:solidFill>
                <a:latin typeface="Calibri"/>
              </a:rPr>
              <a:t>SHAP Values
(Feature Interpretation)</a:t>
            </a:r>
          </a:p>
        </p:txBody>
      </p:sp>
      <p:sp>
        <p:nvSpPr>
          <p:cNvPr id="18" name="TextBox 17"/>
          <p:cNvSpPr txBox="1"/>
          <p:nvPr/>
        </p:nvSpPr>
        <p:spPr>
          <a:xfrm>
            <a:off x="4393692" y="1444752"/>
            <a:ext cx="3538727" cy="640080"/>
          </a:xfrm>
          <a:prstGeom prst="rect">
            <a:avLst/>
          </a:prstGeom>
          <a:noFill/>
        </p:spPr>
        <p:txBody>
          <a:bodyPr wrap="square">
            <a:spAutoFit/>
          </a:bodyPr>
          <a:lstStyle/>
          <a:p>
            <a:pPr algn="l"/>
            <a:r>
              <a:rPr sz="1150" b="0" i="0">
                <a:solidFill>
                  <a:srgbClr val="383838"/>
                </a:solidFill>
                <a:latin typeface="Calibri"/>
              </a:rPr>
              <a:t>- Shows direction and magnitude, not just ranking</a:t>
            </a:r>
          </a:p>
        </p:txBody>
      </p:sp>
      <p:sp>
        <p:nvSpPr>
          <p:cNvPr id="19" name="TextBox 18"/>
          <p:cNvSpPr txBox="1"/>
          <p:nvPr/>
        </p:nvSpPr>
        <p:spPr>
          <a:xfrm>
            <a:off x="4393692" y="2139696"/>
            <a:ext cx="3538727" cy="640080"/>
          </a:xfrm>
          <a:prstGeom prst="rect">
            <a:avLst/>
          </a:prstGeom>
          <a:noFill/>
        </p:spPr>
        <p:txBody>
          <a:bodyPr wrap="square">
            <a:spAutoFit/>
          </a:bodyPr>
          <a:lstStyle/>
          <a:p>
            <a:pPr algn="l"/>
            <a:r>
              <a:rPr sz="1150" b="0" i="0">
                <a:solidFill>
                  <a:srgbClr val="383838"/>
                </a:solidFill>
                <a:latin typeface="Calibri"/>
              </a:rPr>
              <a:t>- Dementia drugs: push probability UP</a:t>
            </a:r>
          </a:p>
        </p:txBody>
      </p:sp>
      <p:sp>
        <p:nvSpPr>
          <p:cNvPr id="20" name="TextBox 19"/>
          <p:cNvSpPr txBox="1"/>
          <p:nvPr/>
        </p:nvSpPr>
        <p:spPr>
          <a:xfrm>
            <a:off x="4393692" y="2834640"/>
            <a:ext cx="3538727" cy="640080"/>
          </a:xfrm>
          <a:prstGeom prst="rect">
            <a:avLst/>
          </a:prstGeom>
          <a:noFill/>
        </p:spPr>
        <p:txBody>
          <a:bodyPr wrap="square">
            <a:spAutoFit/>
          </a:bodyPr>
          <a:lstStyle/>
          <a:p>
            <a:pPr algn="l"/>
            <a:r>
              <a:rPr sz="1150" b="0" i="0">
                <a:solidFill>
                  <a:srgbClr val="383838"/>
                </a:solidFill>
                <a:latin typeface="Calibri"/>
              </a:rPr>
              <a:t>- Age: push probability UP</a:t>
            </a:r>
          </a:p>
        </p:txBody>
      </p:sp>
      <p:sp>
        <p:nvSpPr>
          <p:cNvPr id="21" name="TextBox 20"/>
          <p:cNvSpPr txBox="1"/>
          <p:nvPr/>
        </p:nvSpPr>
        <p:spPr>
          <a:xfrm>
            <a:off x="4393692" y="3529584"/>
            <a:ext cx="3538727" cy="640080"/>
          </a:xfrm>
          <a:prstGeom prst="rect">
            <a:avLst/>
          </a:prstGeom>
          <a:noFill/>
        </p:spPr>
        <p:txBody>
          <a:bodyPr wrap="square">
            <a:spAutoFit/>
          </a:bodyPr>
          <a:lstStyle/>
          <a:p>
            <a:pPr algn="l"/>
            <a:r>
              <a:rPr sz="1150" b="0" i="0">
                <a:solidFill>
                  <a:srgbClr val="383838"/>
                </a:solidFill>
                <a:latin typeface="Calibri"/>
              </a:rPr>
              <a:t>- Sex: minimal effect in this dataset</a:t>
            </a:r>
          </a:p>
        </p:txBody>
      </p:sp>
      <p:sp>
        <p:nvSpPr>
          <p:cNvPr id="22" name="TextBox 21"/>
          <p:cNvSpPr txBox="1"/>
          <p:nvPr/>
        </p:nvSpPr>
        <p:spPr>
          <a:xfrm>
            <a:off x="4393692" y="4224528"/>
            <a:ext cx="3538727" cy="640080"/>
          </a:xfrm>
          <a:prstGeom prst="rect">
            <a:avLst/>
          </a:prstGeom>
          <a:noFill/>
        </p:spPr>
        <p:txBody>
          <a:bodyPr wrap="square">
            <a:spAutoFit/>
          </a:bodyPr>
          <a:lstStyle/>
          <a:p>
            <a:pPr algn="l"/>
            <a:r>
              <a:rPr sz="1150" b="0" i="0">
                <a:solidFill>
                  <a:srgbClr val="383838"/>
                </a:solidFill>
                <a:latin typeface="Calibri"/>
              </a:rPr>
              <a:t>- Mirrors EDDA supplementary Figure S1</a:t>
            </a:r>
            <a:r>
              <a:rPr sz="1600" b="1" i="0" baseline="30000">
                <a:solidFill>
                  <a:srgbClr val="2B6C7C"/>
                </a:solidFill>
                <a:latin typeface="Calibri"/>
              </a:rPr>
              <a:t>⁶</a:t>
            </a:r>
          </a:p>
        </p:txBody>
      </p:sp>
      <p:sp>
        <p:nvSpPr>
          <p:cNvPr id="23" name="Rectangle 22"/>
          <p:cNvSpPr/>
          <p:nvPr/>
        </p:nvSpPr>
        <p:spPr>
          <a:xfrm>
            <a:off x="8074152" y="932688"/>
            <a:ext cx="3739896" cy="4892040"/>
          </a:xfrm>
          <a:prstGeom prst="rect">
            <a:avLst/>
          </a:prstGeom>
          <a:solidFill>
            <a:srgbClr val="E4F2EB"/>
          </a:solidFill>
          <a:ln w="6350">
            <a:solidFill>
              <a:srgbClr val="C8C8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74152" y="932688"/>
            <a:ext cx="3739896" cy="420624"/>
          </a:xfrm>
          <a:prstGeom prst="rect">
            <a:avLst/>
          </a:prstGeom>
          <a:solidFill>
            <a:srgbClr val="246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02168" y="960120"/>
            <a:ext cx="3538727" cy="365760"/>
          </a:xfrm>
          <a:prstGeom prst="rect">
            <a:avLst/>
          </a:prstGeom>
          <a:noFill/>
        </p:spPr>
        <p:txBody>
          <a:bodyPr wrap="square">
            <a:spAutoFit/>
          </a:bodyPr>
          <a:lstStyle/>
          <a:p>
            <a:pPr algn="l"/>
            <a:r>
              <a:rPr sz="1200" b="1" i="0">
                <a:solidFill>
                  <a:srgbClr val="FFFFFF"/>
                </a:solidFill>
                <a:latin typeface="Calibri"/>
              </a:rPr>
              <a:t>Subgroup Analysis
(Fairness)</a:t>
            </a:r>
          </a:p>
        </p:txBody>
      </p:sp>
      <p:sp>
        <p:nvSpPr>
          <p:cNvPr id="26" name="TextBox 25"/>
          <p:cNvSpPr txBox="1"/>
          <p:nvPr/>
        </p:nvSpPr>
        <p:spPr>
          <a:xfrm>
            <a:off x="8202168" y="1444752"/>
            <a:ext cx="3538727" cy="640080"/>
          </a:xfrm>
          <a:prstGeom prst="rect">
            <a:avLst/>
          </a:prstGeom>
          <a:noFill/>
        </p:spPr>
        <p:txBody>
          <a:bodyPr wrap="square">
            <a:spAutoFit/>
          </a:bodyPr>
          <a:lstStyle/>
          <a:p>
            <a:pPr algn="l"/>
            <a:r>
              <a:rPr sz="1150" b="0" i="0">
                <a:solidFill>
                  <a:srgbClr val="383838"/>
                </a:solidFill>
                <a:latin typeface="Calibri"/>
              </a:rPr>
              <a:t>- AUC by sex, race/ethnicity, insurance</a:t>
            </a:r>
          </a:p>
        </p:txBody>
      </p:sp>
      <p:sp>
        <p:nvSpPr>
          <p:cNvPr id="27" name="TextBox 26"/>
          <p:cNvSpPr txBox="1"/>
          <p:nvPr/>
        </p:nvSpPr>
        <p:spPr>
          <a:xfrm>
            <a:off x="8202168" y="2139696"/>
            <a:ext cx="3538727" cy="640080"/>
          </a:xfrm>
          <a:prstGeom prst="rect">
            <a:avLst/>
          </a:prstGeom>
          <a:noFill/>
        </p:spPr>
        <p:txBody>
          <a:bodyPr wrap="square">
            <a:spAutoFit/>
          </a:bodyPr>
          <a:lstStyle/>
          <a:p>
            <a:pPr algn="l"/>
            <a:r>
              <a:rPr sz="1150" b="0" i="0">
                <a:solidFill>
                  <a:srgbClr val="383838"/>
                </a:solidFill>
                <a:latin typeface="Calibri"/>
              </a:rPr>
              <a:t>- Critical before any clinical deployment</a:t>
            </a:r>
          </a:p>
        </p:txBody>
      </p:sp>
      <p:sp>
        <p:nvSpPr>
          <p:cNvPr id="28" name="TextBox 27"/>
          <p:cNvSpPr txBox="1"/>
          <p:nvPr/>
        </p:nvSpPr>
        <p:spPr>
          <a:xfrm>
            <a:off x="8202168" y="2834640"/>
            <a:ext cx="3538727" cy="640080"/>
          </a:xfrm>
          <a:prstGeom prst="rect">
            <a:avLst/>
          </a:prstGeom>
          <a:noFill/>
        </p:spPr>
        <p:txBody>
          <a:bodyPr wrap="square">
            <a:spAutoFit/>
          </a:bodyPr>
          <a:lstStyle/>
          <a:p>
            <a:pPr algn="l"/>
            <a:r>
              <a:rPr sz="1150" b="0" i="0">
                <a:solidFill>
                  <a:srgbClr val="383838"/>
                </a:solidFill>
                <a:latin typeface="Calibri"/>
              </a:rPr>
              <a:t>- HCUP finding: GED benefits in White patients only</a:t>
            </a:r>
            <a:r>
              <a:rPr sz="1600" b="1" i="0" baseline="30000">
                <a:solidFill>
                  <a:srgbClr val="2B6C7C"/>
                </a:solidFill>
                <a:latin typeface="Calibri"/>
              </a:rPr>
              <a:t>²</a:t>
            </a:r>
          </a:p>
        </p:txBody>
      </p:sp>
      <p:sp>
        <p:nvSpPr>
          <p:cNvPr id="29" name="TextBox 28"/>
          <p:cNvSpPr txBox="1"/>
          <p:nvPr/>
        </p:nvSpPr>
        <p:spPr>
          <a:xfrm>
            <a:off x="8202168" y="3529584"/>
            <a:ext cx="3538727" cy="640080"/>
          </a:xfrm>
          <a:prstGeom prst="rect">
            <a:avLst/>
          </a:prstGeom>
          <a:noFill/>
        </p:spPr>
        <p:txBody>
          <a:bodyPr wrap="square">
            <a:spAutoFit/>
          </a:bodyPr>
          <a:lstStyle/>
          <a:p>
            <a:pPr algn="l"/>
            <a:r>
              <a:rPr sz="1150" b="0" i="0">
                <a:solidFill>
                  <a:srgbClr val="383838"/>
                </a:solidFill>
                <a:latin typeface="Calibri"/>
              </a:rPr>
              <a:t>- Flag subgroups where AUC drops &gt;0.05</a:t>
            </a:r>
          </a:p>
        </p:txBody>
      </p:sp>
      <p:sp>
        <p:nvSpPr>
          <p:cNvPr id="30" name="TextBox 29"/>
          <p:cNvSpPr txBox="1"/>
          <p:nvPr/>
        </p:nvSpPr>
        <p:spPr>
          <a:xfrm>
            <a:off x="8202168" y="4224528"/>
            <a:ext cx="3538727" cy="640080"/>
          </a:xfrm>
          <a:prstGeom prst="rect">
            <a:avLst/>
          </a:prstGeom>
          <a:noFill/>
        </p:spPr>
        <p:txBody>
          <a:bodyPr wrap="square">
            <a:spAutoFit/>
          </a:bodyPr>
          <a:lstStyle/>
          <a:p>
            <a:pPr algn="l"/>
            <a:r>
              <a:rPr sz="1150" b="0" i="0">
                <a:solidFill>
                  <a:srgbClr val="383838"/>
                </a:solidFill>
                <a:latin typeface="Calibri"/>
              </a:rPr>
              <a:t>- Next step: fairness-aware retraining if gaps found</a:t>
            </a:r>
          </a:p>
        </p:txBody>
      </p:sp>
      <p:sp>
        <p:nvSpPr>
          <p:cNvPr id="31" name="Rectangle 30"/>
          <p:cNvSpPr/>
          <p:nvPr/>
        </p:nvSpPr>
        <p:spPr>
          <a:xfrm>
            <a:off x="457200" y="5925312"/>
            <a:ext cx="11292840" cy="530352"/>
          </a:xfrm>
          <a:prstGeom prst="rect">
            <a:avLst/>
          </a:prstGeom>
          <a:solidFill>
            <a:srgbClr val="E4F2EB"/>
          </a:solidFill>
          <a:ln w="10160">
            <a:solidFill>
              <a:srgbClr val="2462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 y="5980176"/>
            <a:ext cx="10972800" cy="402336"/>
          </a:xfrm>
          <a:prstGeom prst="rect">
            <a:avLst/>
          </a:prstGeom>
          <a:noFill/>
        </p:spPr>
        <p:txBody>
          <a:bodyPr wrap="square">
            <a:spAutoFit/>
          </a:bodyPr>
          <a:lstStyle/>
          <a:p>
            <a:pPr algn="l"/>
            <a:r>
              <a:rPr sz="1100" b="1" i="0">
                <a:solidFill>
                  <a:srgbClr val="246245"/>
                </a:solidFill>
                <a:latin typeface="Calibri"/>
              </a:rPr>
              <a:t>Connecting Q1 and Q2:  HCUP can only see coded dementia. EDDA risk scores linked to HCUP outcomes would identify whether GED benefits concentrate in EDDA-positive patients - answering both what GEDs do AND why.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365760" y="6583680"/>
            <a:ext cx="11457432" cy="237744"/>
          </a:xfrm>
          <a:prstGeom prst="rect">
            <a:avLst/>
          </a:prstGeom>
          <a:noFill/>
        </p:spPr>
        <p:txBody>
          <a:bodyPr wrap="square">
            <a:spAutoFit/>
          </a:bodyPr>
          <a:lstStyle/>
          <a:p>
            <a:pPr algn="ctr"/>
            <a:r>
              <a:rPr sz="900" b="0" i="1">
                <a:solidFill>
                  <a:srgbClr val="727272"/>
                </a:solidFill>
                <a:latin typeface="Calibri"/>
              </a:rPr>
              <a:t>Hwang Lab Interview  /  Yihan Wang  /  June 9, 2026</a:t>
            </a:r>
          </a:p>
        </p:txBody>
      </p:sp>
      <p:sp>
        <p:nvSpPr>
          <p:cNvPr id="3" name="Rectangle 2"/>
          <p:cNvSpPr/>
          <p:nvPr/>
        </p:nvSpPr>
        <p:spPr>
          <a:xfrm>
            <a:off x="365760" y="6556248"/>
            <a:ext cx="11457432" cy="18288"/>
          </a:xfrm>
          <a:prstGeom prst="rect">
            <a:avLst/>
          </a:prstGeom>
          <a:solidFill>
            <a:srgbClr val="C8C8C4"/>
          </a:solidFill>
          <a:ln>
            <a:noFill/>
          </a:ln>
        </p:spPr>
        <p:txBody>
          <a:bodyPr rtlCol="0" anchor="ctr"/>
          <a:lstStyle/>
          <a:p>
            <a:pPr algn="ctr"/>
            <a:endParaRPr/>
          </a:p>
        </p:txBody>
      </p:sp>
      <p:sp>
        <p:nvSpPr>
          <p:cNvPr id="4" name="ThankYou"/>
          <p:cNvSpPr txBox="1"/>
          <p:nvPr/>
        </p:nvSpPr>
        <p:spPr>
          <a:xfrm>
            <a:off x="457200" y="164592"/>
            <a:ext cx="11338560" cy="600000"/>
          </a:xfrm>
          <a:prstGeom prst="rect">
            <a:avLst/>
          </a:prstGeom>
          <a:noFill/>
        </p:spPr>
        <p:txBody>
          <a:bodyPr wrap="square">
            <a:spAutoFit/>
          </a:bodyPr>
          <a:lstStyle/>
          <a:p>
            <a:pPr algn="l"/>
            <a:r>
              <a:rPr sz="3600" b="1" i="0">
                <a:solidFill>
                  <a:srgbClr val="1E4050"/>
                </a:solidFill>
                <a:latin typeface="Calibri"/>
              </a:rPr>
              <a:t>Thank You</a:t>
            </a:r>
          </a:p>
        </p:txBody>
      </p:sp>
      <p:sp>
        <p:nvSpPr>
          <p:cNvPr id="5" name="Divider"/>
          <p:cNvSpPr/>
          <p:nvPr/>
        </p:nvSpPr>
        <p:spPr>
          <a:xfrm>
            <a:off x="457200" y="841248"/>
            <a:ext cx="11274552" cy="27432"/>
          </a:xfrm>
          <a:prstGeom prst="rect">
            <a:avLst/>
          </a:prstGeom>
          <a:solidFill>
            <a:srgbClr val="1E4050"/>
          </a:solidFill>
          <a:ln>
            <a:noFill/>
          </a:ln>
        </p:spPr>
        <p:txBody>
          <a:bodyPr rtlCol="0" anchor="ctr"/>
          <a:lstStyle/>
          <a:p>
            <a:pPr algn="ctr"/>
            <a:endParaRPr/>
          </a:p>
        </p:txBody>
      </p:sp>
      <p:sp>
        <p:nvSpPr>
          <p:cNvPr id="6" name="RefsTitle"/>
          <p:cNvSpPr txBox="1"/>
          <p:nvPr/>
        </p:nvSpPr>
        <p:spPr>
          <a:xfrm>
            <a:off x="457200" y="896112"/>
            <a:ext cx="11338560" cy="300000"/>
          </a:xfrm>
          <a:prstGeom prst="rect">
            <a:avLst/>
          </a:prstGeom>
          <a:noFill/>
        </p:spPr>
        <p:txBody>
          <a:bodyPr wrap="square">
            <a:spAutoFit/>
          </a:bodyPr>
          <a:lstStyle/>
          <a:p>
            <a:pPr algn="l"/>
            <a:r>
              <a:rPr sz="1400" b="1" i="0">
                <a:solidFill>
                  <a:srgbClr val="2B6C7C"/>
                </a:solidFill>
                <a:latin typeface="Calibri"/>
              </a:rPr>
              <a:t>References</a:t>
            </a:r>
          </a:p>
        </p:txBody>
      </p:sp>
      <p:sp>
        <p:nvSpPr>
          <p:cNvPr id="7" name="RefsList"/>
          <p:cNvSpPr txBox="1"/>
          <p:nvPr/>
        </p:nvSpPr>
        <p:spPr>
          <a:xfrm>
            <a:off x="457200" y="1250000"/>
            <a:ext cx="11338560" cy="5000000"/>
          </a:xfrm>
          <a:prstGeom prst="rect">
            <a:avLst/>
          </a:prstGeom>
          <a:noFill/>
        </p:spPr>
        <p:txBody>
          <a:bodyPr wrap="square">
            <a:spAutoFit/>
          </a:bodyPr>
          <a:lstStyle/>
          <a:p>
            <a:pPr algn="l">
              <a:lnSpc>
                <a:spcPts val="1600"/>
              </a:lnSpc>
            </a:pPr>
            <a:r>
              <a:rPr sz="1200" b="1" i="0">
                <a:solidFill>
                  <a:srgbClr val="1E4050"/>
                </a:solidFill>
                <a:latin typeface="Calibri"/>
              </a:rPr>
              <a:t>1. </a:t>
            </a:r>
            <a:r>
              <a:rPr sz="1200" b="0" i="0">
                <a:solidFill>
                  <a:srgbClr val="383838"/>
                </a:solidFill>
                <a:latin typeface="Calibri"/>
              </a:rPr>
              <a:t>American College of Emergency Physicians (ACEP). Geriatric Emergency Department Accreditation (GEDA) Registry. Available at: acep.org/geda. [GED counts, accreditation levels, registry data]</a:t>
            </a:r>
          </a:p>
          <a:p>
            <a:pPr algn="l">
              <a:lnSpc>
                <a:spcPts val="1600"/>
              </a:lnSpc>
            </a:pPr>
            <a:r>
              <a:rPr sz="1200" b="1" i="0">
                <a:solidFill>
                  <a:srgbClr val="1E4050"/>
                </a:solidFill>
                <a:latin typeface="Calibri"/>
              </a:rPr>
              <a:t>2. </a:t>
            </a:r>
            <a:r>
              <a:rPr sz="1200" b="0" i="0">
                <a:solidFill>
                  <a:srgbClr val="383838"/>
                </a:solidFill>
                <a:latin typeface="Calibri"/>
              </a:rPr>
              <a:t>Hwang et al., Hwang Lab, 2026. [First national data showing GED improves outcomes; OR 0.71 lower odds of admission; benefits concentrated in non-Hispanic White patients]</a:t>
            </a:r>
          </a:p>
          <a:p>
            <a:pPr algn="l">
              <a:lnSpc>
                <a:spcPts val="1600"/>
              </a:lnSpc>
            </a:pPr>
            <a:r>
              <a:rPr sz="1200" b="1" i="0">
                <a:solidFill>
                  <a:srgbClr val="1E4050"/>
                </a:solidFill>
                <a:latin typeface="Calibri"/>
              </a:rPr>
              <a:t>3. </a:t>
            </a:r>
            <a:r>
              <a:rPr sz="1200" b="0" i="0">
                <a:solidFill>
                  <a:srgbClr val="383838"/>
                </a:solidFill>
                <a:latin typeface="Calibri"/>
              </a:rPr>
              <a:t>Adams G, et al. Systematic review of intraclass correlation coefficients for cluster randomized trials in primary care. J Clin Epidemiol. 2004;57(11):1205-1209. [ICC benchmarks for ED outcomes: 0.02-0.05]</a:t>
            </a:r>
          </a:p>
          <a:p>
            <a:pPr algn="l">
              <a:lnSpc>
                <a:spcPts val="1600"/>
              </a:lnSpc>
            </a:pPr>
            <a:r>
              <a:rPr sz="1200" b="1" i="0">
                <a:solidFill>
                  <a:srgbClr val="1E4050"/>
                </a:solidFill>
                <a:latin typeface="Calibri"/>
              </a:rPr>
              <a:t>4. </a:t>
            </a:r>
            <a:r>
              <a:rPr sz="1200" b="0" i="0">
                <a:solidFill>
                  <a:srgbClr val="383838"/>
                </a:solidFill>
                <a:latin typeface="Calibri"/>
              </a:rPr>
              <a:t>Agency for Healthcare Research and Quality (AHRQ). Healthcare Cost and Utilization Project (HCUP): State Emergency Department Database (SEDD) and State Inpatient Database (SID). Rockville, MD. hcup-us.ahrq.gov</a:t>
            </a:r>
          </a:p>
          <a:p>
            <a:pPr algn="l">
              <a:lnSpc>
                <a:spcPts val="1600"/>
              </a:lnSpc>
            </a:pPr>
            <a:r>
              <a:rPr sz="1200" b="1" i="0">
                <a:solidFill>
                  <a:srgbClr val="1E4050"/>
                </a:solidFill>
                <a:latin typeface="Calibri"/>
              </a:rPr>
              <a:t>5. </a:t>
            </a:r>
            <a:r>
              <a:rPr sz="1200" b="0" i="0">
                <a:solidFill>
                  <a:srgbClr val="383838"/>
                </a:solidFill>
                <a:latin typeface="Calibri"/>
              </a:rPr>
              <a:t>American Hospital Association (AHA). AHA Annual Survey Database. Chicago, IL. [Hospital characteristics, CMS provider numbers, urbanicity, teaching status]</a:t>
            </a:r>
          </a:p>
          <a:p>
            <a:pPr algn="l">
              <a:lnSpc>
                <a:spcPts val="1600"/>
              </a:lnSpc>
            </a:pPr>
            <a:r>
              <a:rPr sz="1200" b="1" i="0">
                <a:solidFill>
                  <a:srgbClr val="1E4050"/>
                </a:solidFill>
                <a:latin typeface="Calibri"/>
              </a:rPr>
              <a:t>6. </a:t>
            </a:r>
            <a:r>
              <a:rPr sz="1200" b="0" i="0">
                <a:solidFill>
                  <a:srgbClr val="383838"/>
                </a:solidFill>
                <a:latin typeface="Calibri"/>
              </a:rPr>
              <a:t>Cohen et al. Emergency Department Dementia Algorithm (EDDA). 2025. [XGBoost model; AUC-ROC 0.85; AUC-PR 0.68; N=760,000 real EHR encounters; positive-unlabeled learning; 50 features via recursive selection]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TotalTime>
  <Words>4937</Words>
  <Application>Microsoft Office PowerPoint</Application>
  <PresentationFormat>Custom</PresentationFormat>
  <Paragraphs>556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yihan wang</dc:creator>
  <cp:keywords/>
  <dc:description>generated using python-pptx</dc:description>
  <cp:lastModifiedBy>Yihan Wang</cp:lastModifiedBy>
  <cp:revision>21</cp:revision>
  <dcterms:created xsi:type="dcterms:W3CDTF">2013-01-27T09:14:16Z</dcterms:created>
  <dcterms:modified xsi:type="dcterms:W3CDTF">2026-06-08T19:34:48Z</dcterms:modified>
  <cp:category/>
</cp:coreProperties>
</file>